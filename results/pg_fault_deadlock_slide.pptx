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91440"/>
            <a:ext cx="9692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8×6 NoC 容错路由：如何容错 + 如何解死锁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50292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C3CBD4"/>
                </a:solidFill>
                <a:latin typeface="Microsoft YaHei"/>
              </a:rPr>
              <a:t>预算故障目录 ≤4 router + ≤8 link（44 场景）· dispatch alltoall · 三条硬性质：避障可达 / 无死锁 / 保序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969264"/>
            <a:ext cx="5742432" cy="3035808"/>
          </a:xfrm>
          <a:prstGeom prst="roundRect">
            <a:avLst>
              <a:gd name="adj" fmla="val 1204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969264"/>
            <a:ext cx="5742432" cy="310896"/>
          </a:xfrm>
          <a:prstGeom prst="roundRect">
            <a:avLst>
              <a:gd name="adj" fmla="val 11764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50292" cy="310896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3" y="996696"/>
            <a:ext cx="54681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① 如何容错：残图重算路由，兜底才牺牲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4323" y="1516518"/>
            <a:ext cx="303314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4323" y="1516518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7637" y="1516518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7637" y="1516518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90950" y="1516518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90950" y="1516518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94263" y="1516518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94263" y="1516518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97576" y="1516518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97576" y="1516518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00889" y="1516518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00889" y="1516518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04202" y="1516518"/>
            <a:ext cx="303314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04202" y="1516518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07516" y="1516518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4323" y="1879507"/>
            <a:ext cx="303314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4323" y="1879507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7637" y="1879507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87637" y="1879507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90950" y="1879507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90950" y="1879507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94263" y="1879507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797576" y="1879507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00889" y="1879507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00889" y="1879507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404202" y="1879507"/>
            <a:ext cx="303314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04202" y="1879507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07516" y="1879507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84323" y="2242496"/>
            <a:ext cx="303314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84323" y="2242496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7637" y="2242496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7637" y="2242496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90950" y="2242496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100889" y="2242496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100889" y="2242496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404202" y="2242496"/>
            <a:ext cx="303314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404202" y="2242496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707516" y="2242496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84323" y="2605485"/>
            <a:ext cx="303314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84323" y="2605485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87637" y="2605485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87637" y="2605485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90950" y="2605485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90950" y="2605485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494263" y="2605485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494263" y="2605485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797576" y="2605485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797576" y="2605485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100889" y="2605485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100889" y="2605485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404202" y="2605485"/>
            <a:ext cx="303314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404202" y="2605485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707516" y="2605485"/>
            <a:ext cx="0" cy="362989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84323" y="2968474"/>
            <a:ext cx="303314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84323" y="2968474"/>
            <a:ext cx="0" cy="36299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87637" y="2968474"/>
            <a:ext cx="0" cy="36299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190950" y="2968474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90950" y="2968474"/>
            <a:ext cx="0" cy="36299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494263" y="2968474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494263" y="2968474"/>
            <a:ext cx="0" cy="36299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797576" y="2968474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797576" y="2968474"/>
            <a:ext cx="0" cy="36299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100889" y="2968474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100889" y="2968474"/>
            <a:ext cx="0" cy="36299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404202" y="2968474"/>
            <a:ext cx="303314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404202" y="2968474"/>
            <a:ext cx="0" cy="36299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707516" y="2968474"/>
            <a:ext cx="0" cy="36299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84323" y="3331464"/>
            <a:ext cx="303314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87637" y="3331464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90950" y="3331464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494263" y="3331464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797576" y="3331464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100889" y="3331464"/>
            <a:ext cx="30331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404202" y="3331464"/>
            <a:ext cx="303314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87637" y="2968474"/>
            <a:ext cx="303313" cy="0"/>
          </a:xfrm>
          <a:prstGeom prst="line">
            <a:avLst/>
          </a:prstGeom>
          <a:ln w="13970">
            <a:solidFill>
              <a:srgbClr val="C700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05929" y="2935110"/>
            <a:ext cx="66729" cy="66729"/>
          </a:xfrm>
          <a:prstGeom prst="line">
            <a:avLst/>
          </a:prstGeom>
          <a:ln w="1524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05929" y="2935110"/>
            <a:ext cx="66729" cy="66729"/>
          </a:xfrm>
          <a:prstGeom prst="line">
            <a:avLst/>
          </a:prstGeom>
          <a:ln w="1524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87637" y="1879507"/>
            <a:ext cx="303313" cy="0"/>
          </a:xfrm>
          <a:prstGeom prst="line">
            <a:avLst/>
          </a:prstGeom>
          <a:ln w="26670">
            <a:solidFill>
              <a:srgbClr val="1E7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90950" y="1879507"/>
            <a:ext cx="303313" cy="0"/>
          </a:xfrm>
          <a:prstGeom prst="line">
            <a:avLst/>
          </a:prstGeom>
          <a:ln w="26670">
            <a:solidFill>
              <a:srgbClr val="1E7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494263" y="1879507"/>
            <a:ext cx="303313" cy="0"/>
          </a:xfrm>
          <a:prstGeom prst="line">
            <a:avLst/>
          </a:prstGeom>
          <a:ln w="26670">
            <a:solidFill>
              <a:srgbClr val="1E7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797576" y="1879507"/>
            <a:ext cx="303313" cy="0"/>
          </a:xfrm>
          <a:prstGeom prst="line">
            <a:avLst/>
          </a:prstGeom>
          <a:ln w="26670">
            <a:solidFill>
              <a:srgbClr val="1E7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100889" y="1879507"/>
            <a:ext cx="0" cy="362989"/>
          </a:xfrm>
          <a:prstGeom prst="line">
            <a:avLst/>
          </a:prstGeom>
          <a:ln w="26670">
            <a:solidFill>
              <a:srgbClr val="1E7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100889" y="2242496"/>
            <a:ext cx="0" cy="362989"/>
          </a:xfrm>
          <a:prstGeom prst="line">
            <a:avLst/>
          </a:prstGeom>
          <a:ln w="26670">
            <a:solidFill>
              <a:srgbClr val="1E7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100889" y="2605485"/>
            <a:ext cx="303313" cy="0"/>
          </a:xfrm>
          <a:prstGeom prst="line">
            <a:avLst/>
          </a:prstGeom>
          <a:ln w="26670">
            <a:solidFill>
              <a:srgbClr val="1E7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404202" y="2605485"/>
            <a:ext cx="0" cy="362989"/>
          </a:xfrm>
          <a:prstGeom prst="line">
            <a:avLst/>
          </a:prstGeom>
          <a:ln w="26670">
            <a:solidFill>
              <a:srgbClr val="1E7F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535793" y="1467988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39106" y="1467988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42420" y="1467988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445733" y="1467988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749046" y="1467988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052359" y="1467988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355672" y="1467988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2658985" y="1467988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5793" y="1830977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20908" y="1812778"/>
            <a:ext cx="133457" cy="133457"/>
          </a:xfrm>
          <a:prstGeom prst="ellipse">
            <a:avLst/>
          </a:prstGeom>
          <a:solidFill>
            <a:srgbClr val="1E7F4F"/>
          </a:solidFill>
          <a:ln w="10160">
            <a:solidFill>
              <a:srgbClr val="1E7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2420" y="1830977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445733" y="1830977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749046" y="1830977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2052359" y="1830977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355672" y="1830977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658985" y="1830977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35793" y="2193966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39106" y="2193966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42420" y="2193966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433600" y="2181834"/>
            <a:ext cx="121325" cy="121325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1456652" y="2204885"/>
            <a:ext cx="75222" cy="75222"/>
          </a:xfrm>
          <a:prstGeom prst="line">
            <a:avLst/>
          </a:prstGeom>
          <a:ln w="1651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456652" y="2204885"/>
            <a:ext cx="75222" cy="75222"/>
          </a:xfrm>
          <a:prstGeom prst="line">
            <a:avLst/>
          </a:prstGeom>
          <a:ln w="1651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1736913" y="2181834"/>
            <a:ext cx="121325" cy="121325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1759965" y="2204885"/>
            <a:ext cx="75222" cy="75222"/>
          </a:xfrm>
          <a:prstGeom prst="line">
            <a:avLst/>
          </a:prstGeom>
          <a:ln w="1651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759965" y="2204885"/>
            <a:ext cx="75222" cy="75222"/>
          </a:xfrm>
          <a:prstGeom prst="line">
            <a:avLst/>
          </a:prstGeom>
          <a:ln w="1651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2052359" y="2193966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355672" y="2193966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658985" y="2193966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35793" y="2556955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39106" y="2556955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42420" y="2556955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424501" y="2535723"/>
            <a:ext cx="139524" cy="1395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72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749046" y="2556955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2052359" y="2556955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2355672" y="2556955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658985" y="2556955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35793" y="2919944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39106" y="2919944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42420" y="2919944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445733" y="2919944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749046" y="2919944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052359" y="2919944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2337474" y="2901746"/>
            <a:ext cx="133457" cy="133457"/>
          </a:xfrm>
          <a:prstGeom prst="ellipse">
            <a:avLst/>
          </a:prstGeom>
          <a:solidFill>
            <a:srgbClr val="1E7F4F"/>
          </a:solidFill>
          <a:ln w="10160">
            <a:solidFill>
              <a:srgbClr val="1E7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2658985" y="2919944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35793" y="3282933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839106" y="3282933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142420" y="3282933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445733" y="3282933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749046" y="3282933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052359" y="3282933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2355672" y="3282933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658985" y="3282933"/>
            <a:ext cx="97060" cy="97060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13317" y="1568611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50" b="1">
                <a:solidFill>
                  <a:srgbClr val="1E7F4F"/>
                </a:solidFill>
                <a:latin typeface="Microsoft YaHei"/>
              </a:rPr>
              <a:t>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129882" y="305991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50" b="1">
                <a:solidFill>
                  <a:srgbClr val="1E7F4F"/>
                </a:solidFill>
                <a:latin typeface="Microsoft YaHei"/>
              </a:rPr>
              <a:t>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02336" y="3547872"/>
            <a:ext cx="2487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19" b="0">
                <a:solidFill>
                  <a:srgbClr val="5A6673"/>
                </a:solidFill>
                <a:latin typeface="Microsoft YaHei"/>
              </a:rPr>
              <a:t>× 故障　○ 牺牲　→ 残图上的绕行路径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999232" y="1353312"/>
            <a:ext cx="288950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>
                <a:solidFill>
                  <a:srgbClr val="1F2933"/>
                </a:solidFill>
                <a:latin typeface="Microsoft YaHei"/>
              </a:rPr>
              <a:t>故障模型：dead＝router 与链路同死；transit＝PE 退出计算、router 仍替别人转发。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60" b="1">
                <a:solidFill>
                  <a:srgbClr val="1E7F4F"/>
                </a:solidFill>
                <a:latin typeface="Microsoft YaHei"/>
              </a:rPr>
              <a:t>① 删点删边 → 残图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80" b="0">
                <a:solidFill>
                  <a:srgbClr val="5A6673"/>
                </a:solidFill>
                <a:latin typeface="Microsoft YaHei"/>
              </a:rPr>
              <a:t>故障不进邻接表，约束 BFS / Dijkstra 只在存活图上搜，路径不穿洞。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60" b="1">
                <a:solidFill>
                  <a:srgbClr val="1E7F4F"/>
                </a:solidFill>
                <a:latin typeface="Microsoft YaHei"/>
              </a:rPr>
              <a:t>② 整表校验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80" b="0">
                <a:solidFill>
                  <a:srgbClr val="5A6673"/>
                </a:solidFill>
                <a:latin typeface="Microsoft YaHei"/>
              </a:rPr>
              <a:t>每对唯一 · 每跳合法 · CDG 无环，三条全过才可用。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60" b="1">
                <a:solidFill>
                  <a:srgbClr val="1E7F4F"/>
                </a:solidFill>
                <a:latin typeface="Microsoft YaHei"/>
              </a:rPr>
              <a:t>③ 建不出表才牺牲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80" b="0">
                <a:solidFill>
                  <a:srgbClr val="5A6673"/>
                </a:solidFill>
                <a:latin typeface="Microsoft YaHei"/>
              </a:rPr>
              <a:t>最小基数逐级放宽：孤立点 → 单点 → 点对 → 整行列 → 健康矩形。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60" b="1">
                <a:solidFill>
                  <a:srgbClr val="C87209"/>
                </a:solidFill>
                <a:latin typeface="Microsoft YaHei"/>
              </a:rPr>
              <a:t>④ 牺牲不免费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80" b="0">
                <a:solidFill>
                  <a:srgbClr val="C87209"/>
                </a:solidFill>
                <a:latin typeface="Microsoft YaHei"/>
              </a:rPr>
              <a:t>A 变小后按 m_eff = ⌈m0·(48/A)²⌉ 重标定，强扩展惩罚重牺牲。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163056" y="969264"/>
            <a:ext cx="5754319" cy="3035808"/>
          </a:xfrm>
          <a:prstGeom prst="roundRect">
            <a:avLst>
              <a:gd name="adj" fmla="val 1204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6163056" y="969264"/>
            <a:ext cx="5754319" cy="310896"/>
          </a:xfrm>
          <a:prstGeom prst="roundRect">
            <a:avLst>
              <a:gd name="adj" fmla="val 11764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63056" y="969264"/>
            <a:ext cx="50292" cy="3108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309360" y="996696"/>
            <a:ext cx="54799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② 如何解死锁：让通道依赖图（CDG）无环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453103" y="1389888"/>
            <a:ext cx="718718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0B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453103" y="1417320"/>
            <a:ext cx="7187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B6BA8"/>
                </a:solidFill>
                <a:latin typeface="Microsoft YaHei"/>
              </a:rPr>
              <a:t>c1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842625" y="1389888"/>
            <a:ext cx="718718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0B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842625" y="1417320"/>
            <a:ext cx="7187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B6BA8"/>
                </a:solidFill>
                <a:latin typeface="Microsoft YaHei"/>
              </a:rPr>
              <a:t>c2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842625" y="3145536"/>
            <a:ext cx="718718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0B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842625" y="3172968"/>
            <a:ext cx="7187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B6BA8"/>
                </a:solidFill>
                <a:latin typeface="Microsoft YaHei"/>
              </a:rPr>
              <a:t>c3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453103" y="3145536"/>
            <a:ext cx="718718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0B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453103" y="3172968"/>
            <a:ext cx="7187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50" b="1">
                <a:solidFill>
                  <a:srgbClr val="0B6BA8"/>
                </a:solidFill>
                <a:latin typeface="Microsoft YaHei"/>
              </a:rPr>
              <a:t>c4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7171822" y="1527048"/>
            <a:ext cx="670803" cy="0"/>
          </a:xfrm>
          <a:prstGeom prst="line">
            <a:avLst/>
          </a:prstGeom>
          <a:ln w="20320">
            <a:solidFill>
              <a:srgbClr val="C700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201985" y="1664208"/>
            <a:ext cx="0" cy="1481328"/>
          </a:xfrm>
          <a:prstGeom prst="line">
            <a:avLst/>
          </a:prstGeom>
          <a:ln w="20320">
            <a:solidFill>
              <a:srgbClr val="C700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>
            <a:off x="7171822" y="3282696"/>
            <a:ext cx="670803" cy="0"/>
          </a:xfrm>
          <a:prstGeom prst="line">
            <a:avLst/>
          </a:prstGeom>
          <a:ln w="20320">
            <a:solidFill>
              <a:srgbClr val="C700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812462" y="1664208"/>
            <a:ext cx="0" cy="1481328"/>
          </a:xfrm>
          <a:prstGeom prst="line">
            <a:avLst/>
          </a:prstGeom>
          <a:ln w="17780">
            <a:solidFill>
              <a:srgbClr val="9AA5B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6721022" y="2313432"/>
            <a:ext cx="182880" cy="182880"/>
          </a:xfrm>
          <a:prstGeom prst="line">
            <a:avLst/>
          </a:prstGeom>
          <a:ln w="2413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721022" y="2313432"/>
            <a:ext cx="182880" cy="182880"/>
          </a:xfrm>
          <a:prstGeom prst="line">
            <a:avLst/>
          </a:prstGeom>
          <a:ln w="2413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6958766" y="2221992"/>
            <a:ext cx="14374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819" b="1">
                <a:solidFill>
                  <a:srgbClr val="C7000B"/>
                </a:solidFill>
                <a:latin typeface="Microsoft YaHei"/>
              </a:rPr>
              <a:t>A / B / C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C7000B"/>
                </a:solidFill>
                <a:latin typeface="Microsoft YaHei"/>
              </a:rPr>
              <a:t>断掉这一处依赖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309360" y="3511296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80" b="1">
                <a:solidFill>
                  <a:srgbClr val="1F2933"/>
                </a:solidFill>
                <a:latin typeface="Microsoft YaHei"/>
              </a:rPr>
              <a:t>有环 ⇒ 死锁　|　无环 ⇒ 安全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869680" y="1353312"/>
            <a:ext cx="2901391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>
                <a:solidFill>
                  <a:srgbClr val="1F2933"/>
                </a:solidFill>
                <a:latin typeface="Microsoft YaHei"/>
              </a:rPr>
              <a:t>死锁 = 几条路径各占一段、又互等对方的下一段，缓冲有限即永久卡住。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60" b="1">
                <a:solidFill>
                  <a:srgbClr val="C7000B"/>
                </a:solidFill>
                <a:latin typeface="Microsoft YaHei"/>
              </a:rPr>
              <a:t>判据（Dally–Seitz）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80" b="0">
                <a:solidFill>
                  <a:srgbClr val="5A6673"/>
                </a:solidFill>
                <a:latin typeface="Microsoft YaHei"/>
              </a:rPr>
              <a:t>以（有向通道, VC）为节点、路径相邻两跳为边建出 CDG；无环 ⇒ 不存在循环等待 ⇒ 任意注入都不死锁。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60" b="1">
                <a:solidFill>
                  <a:srgbClr val="C7000B"/>
                </a:solidFill>
                <a:latin typeface="Microsoft YaHei"/>
              </a:rPr>
              <a:t>三重保证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80" b="0">
                <a:solidFill>
                  <a:srgbClr val="5A6673"/>
                </a:solidFill>
                <a:latin typeface="Microsoft YaHei"/>
              </a:rPr>
              <a:t>① 构造时就断掉一类依赖（下方 A / B / C）；② 统一用 build_cdg + cdg_acyclic 事后校验；③ 负载均衡换路后整表重验，出环立即回退。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80" b="1">
                <a:solidFill>
                  <a:srgbClr val="1E7F4F"/>
                </a:solidFill>
                <a:latin typeface="Microsoft YaHei"/>
              </a:rPr>
              <a:t>→ 44 场景 × 全部方案：CDG 成环 0 例；M3 Up*/Down* 在 36/36 目录格零牺牲可行。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274320" y="4133087"/>
            <a:ext cx="3783482" cy="1572768"/>
          </a:xfrm>
          <a:prstGeom prst="roundRect">
            <a:avLst>
              <a:gd name="adj" fmla="val 2325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274320" y="4133087"/>
            <a:ext cx="3783482" cy="292608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74320" y="4133087"/>
            <a:ext cx="50292" cy="292608"/>
          </a:xfrm>
          <a:prstGeom prst="rect">
            <a:avLst/>
          </a:prstGeom>
          <a:solidFill>
            <a:srgbClr val="0B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420623" y="4160520"/>
            <a:ext cx="350916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A 转向禁令 · 1 VC</a:t>
            </a:r>
          </a:p>
        </p:txBody>
      </p:sp>
      <p:sp>
        <p:nvSpPr>
          <p:cNvPr id="177" name="Oval 176"/>
          <p:cNvSpPr/>
          <p:nvPr/>
        </p:nvSpPr>
        <p:spPr>
          <a:xfrm>
            <a:off x="688908" y="5001585"/>
            <a:ext cx="137160" cy="137160"/>
          </a:xfrm>
          <a:prstGeom prst="ellipse">
            <a:avLst/>
          </a:prstGeom>
          <a:solidFill>
            <a:srgbClr val="0B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8" name="Connector 177"/>
          <p:cNvCxnSpPr/>
          <p:nvPr/>
        </p:nvCxnSpPr>
        <p:spPr>
          <a:xfrm flipV="1">
            <a:off x="757488" y="5161605"/>
            <a:ext cx="0" cy="384779"/>
          </a:xfrm>
          <a:prstGeom prst="line">
            <a:avLst/>
          </a:prstGeom>
          <a:ln w="20320">
            <a:solidFill>
              <a:srgbClr val="0B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848928" y="5070165"/>
            <a:ext cx="402885" cy="0"/>
          </a:xfrm>
          <a:prstGeom prst="line">
            <a:avLst/>
          </a:prstGeom>
          <a:ln w="20320">
            <a:solidFill>
              <a:srgbClr val="1E7F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757488" y="4616622"/>
            <a:ext cx="0" cy="362103"/>
          </a:xfrm>
          <a:prstGeom prst="line">
            <a:avLst/>
          </a:prstGeom>
          <a:ln w="19050">
            <a:solidFill>
              <a:srgbClr val="9AA5B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88908" y="4706782"/>
            <a:ext cx="137160" cy="137160"/>
          </a:xfrm>
          <a:prstGeom prst="line">
            <a:avLst/>
          </a:prstGeom>
          <a:ln w="2159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88908" y="4706782"/>
            <a:ext cx="137160" cy="137160"/>
          </a:xfrm>
          <a:prstGeom prst="line">
            <a:avLst/>
          </a:prstGeom>
          <a:ln w="2159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336864" y="4683922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C7000B"/>
                </a:solidFill>
                <a:latin typeface="Microsoft YaHei"/>
              </a:rPr>
              <a:t>禁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371600" y="4480559"/>
            <a:ext cx="257647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860" b="0">
                <a:solidFill>
                  <a:srgbClr val="5A6673"/>
                </a:solidFill>
                <a:latin typeface="Microsoft YaHei"/>
              </a:rPr>
              <a:t>永久禁掉「会闭合环」的那类转弯，不花 VC。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860" b="0">
                <a:solidFill>
                  <a:srgbClr val="1F2933"/>
                </a:solidFill>
                <a:latin typeface="Microsoft YaHei"/>
              </a:rPr>
              <a:t>Up*/Down*：树高度标号，禁 down→up；XY：禁 Y→X；Glass–Ni：每层一个最小转向集。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19" b="0">
                <a:solidFill>
                  <a:srgbClr val="C87209"/>
                </a:solidFill>
                <a:latin typeface="Microsoft YaHei"/>
              </a:rPr>
              <a:t>代价：绕行方向变少，大洞时可能要牺牲。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4204106" y="4133087"/>
            <a:ext cx="3783482" cy="1572768"/>
          </a:xfrm>
          <a:prstGeom prst="roundRect">
            <a:avLst>
              <a:gd name="adj" fmla="val 2325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4204106" y="4133087"/>
            <a:ext cx="3783482" cy="292608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204106" y="4133087"/>
            <a:ext cx="50292" cy="292608"/>
          </a:xfrm>
          <a:prstGeom prst="rect">
            <a:avLst/>
          </a:prstGeom>
          <a:solidFill>
            <a:srgbClr val="C872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350410" y="4160520"/>
            <a:ext cx="350916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B VC 分层 · 2–3 VC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4426122" y="4661976"/>
            <a:ext cx="746150" cy="272125"/>
          </a:xfrm>
          <a:prstGeom prst="roundRect">
            <a:avLst>
              <a:gd name="adj" fmla="val 10080"/>
            </a:avLst>
          </a:prstGeom>
          <a:solidFill>
            <a:srgbClr val="FFFFFF"/>
          </a:solidFill>
          <a:ln w="12700">
            <a:solidFill>
              <a:srgbClr val="C872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>
            <a:off x="4500737" y="4798039"/>
            <a:ext cx="596921" cy="0"/>
          </a:xfrm>
          <a:prstGeom prst="line">
            <a:avLst/>
          </a:prstGeom>
          <a:ln w="17780">
            <a:solidFill>
              <a:srgbClr val="C872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4295546" y="4661976"/>
            <a:ext cx="121249" cy="272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1">
                <a:solidFill>
                  <a:srgbClr val="C87209"/>
                </a:solidFill>
                <a:latin typeface="Microsoft YaHei"/>
              </a:rPr>
              <a:t>VC1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4426122" y="5160873"/>
            <a:ext cx="746150" cy="272125"/>
          </a:xfrm>
          <a:prstGeom prst="roundRect">
            <a:avLst>
              <a:gd name="adj" fmla="val 10080"/>
            </a:avLst>
          </a:prstGeom>
          <a:solidFill>
            <a:srgbClr val="FFFFFF"/>
          </a:solidFill>
          <a:ln w="12700">
            <a:solidFill>
              <a:srgbClr val="0B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>
            <a:off x="4500737" y="5296936"/>
            <a:ext cx="596921" cy="0"/>
          </a:xfrm>
          <a:prstGeom prst="line">
            <a:avLst/>
          </a:prstGeom>
          <a:ln w="17780">
            <a:solidFill>
              <a:srgbClr val="0B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4295546" y="5160873"/>
            <a:ext cx="121249" cy="272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1">
                <a:solidFill>
                  <a:srgbClr val="0B6BA8"/>
                </a:solidFill>
                <a:latin typeface="Microsoft YaHei"/>
              </a:rPr>
              <a:t>VC0</a:t>
            </a:r>
          </a:p>
        </p:txBody>
      </p:sp>
      <p:cxnSp>
        <p:nvCxnSpPr>
          <p:cNvPr id="195" name="Connector 194"/>
          <p:cNvCxnSpPr/>
          <p:nvPr/>
        </p:nvCxnSpPr>
        <p:spPr>
          <a:xfrm flipV="1">
            <a:off x="4780544" y="4934102"/>
            <a:ext cx="0" cy="226771"/>
          </a:xfrm>
          <a:prstGeom prst="line">
            <a:avLst/>
          </a:prstGeom>
          <a:ln w="19050">
            <a:solidFill>
              <a:srgbClr val="1E7F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/>
          <p:cNvSpPr txBox="1"/>
          <p:nvPr/>
        </p:nvSpPr>
        <p:spPr>
          <a:xfrm>
            <a:off x="4817851" y="4979456"/>
            <a:ext cx="41970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20" b="1">
                <a:solidFill>
                  <a:srgbClr val="1E7F4F"/>
                </a:solidFill>
                <a:latin typeface="Microsoft YaHei"/>
              </a:rPr>
              <a:t>只升不降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301386" y="4480559"/>
            <a:ext cx="257647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860" b="0">
                <a:solidFill>
                  <a:srgbClr val="5A6673"/>
                </a:solidFill>
                <a:latin typeface="Microsoft YaHei"/>
              </a:rPr>
              <a:t>把会互锁的路径分到不同虚通道，层内各自无环。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860" b="0">
                <a:solidFill>
                  <a:srgbClr val="1F2933"/>
                </a:solidFill>
                <a:latin typeface="Microsoft YaHei"/>
              </a:rPr>
              <a:t>LASH：贪心装入最少无环层；Dual UD：VC0 走 UD、VC1 走 DU。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19" b="0">
                <a:solidFill>
                  <a:srgbClr val="1E7F4F"/>
                </a:solidFill>
                <a:latin typeface="Microsoft YaHei"/>
              </a:rPr>
              <a:t>整条路径锁一层、层号只升不降 ⇒ 并集无环。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8133892" y="4133087"/>
            <a:ext cx="3783482" cy="1572768"/>
          </a:xfrm>
          <a:prstGeom prst="roundRect">
            <a:avLst>
              <a:gd name="adj" fmla="val 2325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8133892" y="4133087"/>
            <a:ext cx="3783482" cy="292608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133892" y="4133087"/>
            <a:ext cx="50292" cy="292608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280196" y="4160520"/>
            <a:ext cx="350916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C 时间分批 + barrier · 1 VC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8281294" y="4820716"/>
            <a:ext cx="317113" cy="294802"/>
          </a:xfrm>
          <a:prstGeom prst="roundRect">
            <a:avLst>
              <a:gd name="adj" fmla="val 9305"/>
            </a:avLst>
          </a:prstGeom>
          <a:solidFill>
            <a:srgbClr val="FFFFFF"/>
          </a:solidFill>
          <a:ln w="12700">
            <a:solidFill>
              <a:srgbClr val="0B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8281294" y="4820716"/>
            <a:ext cx="317113" cy="2948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0B6BA8"/>
                </a:solidFill>
                <a:latin typeface="Microsoft YaHei"/>
              </a:rPr>
              <a:t>批 1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8710330" y="4820716"/>
            <a:ext cx="279806" cy="294802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0B6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710330" y="4820716"/>
            <a:ext cx="279806" cy="2948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0B6BA8"/>
                </a:solidFill>
                <a:latin typeface="Microsoft YaHei"/>
              </a:rPr>
              <a:t>批 2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8654369" y="4765852"/>
            <a:ext cx="0" cy="404531"/>
          </a:xfrm>
          <a:prstGeom prst="line">
            <a:avLst/>
          </a:prstGeom>
          <a:ln w="2286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8374562" y="5170383"/>
            <a:ext cx="55961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50" b="1">
                <a:solidFill>
                  <a:srgbClr val="C7000B"/>
                </a:solidFill>
                <a:latin typeface="Microsoft YaHei"/>
              </a:rPr>
              <a:t>barrier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8281294" y="5389839"/>
            <a:ext cx="820765" cy="0"/>
          </a:xfrm>
          <a:prstGeom prst="line">
            <a:avLst/>
          </a:prstGeom>
          <a:ln w="11430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TextBox 208"/>
          <p:cNvSpPr txBox="1"/>
          <p:nvPr/>
        </p:nvSpPr>
        <p:spPr>
          <a:xfrm>
            <a:off x="8225332" y="5408127"/>
            <a:ext cx="9326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50" b="0">
                <a:solidFill>
                  <a:srgbClr val="5A6673"/>
                </a:solidFill>
                <a:latin typeface="Microsoft YaHei"/>
              </a:rPr>
              <a:t>时间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231172" y="4480559"/>
            <a:ext cx="257647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860" b="0">
                <a:solidFill>
                  <a:srgbClr val="1F2933"/>
                </a:solidFill>
                <a:latin typeface="Microsoft YaHei"/>
              </a:rPr>
              <a:t>同一划分用时间代替 VC：按 OD 整层切开，逐批串行。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860" b="0">
                <a:solidFill>
                  <a:srgbClr val="5A6673"/>
                </a:solidFill>
                <a:latin typeface="Microsoft YaHei"/>
              </a:rPr>
              <a:t>批间取残图图中心 gather→broadcast，T_sync = 2·radius_wire（H=7 / V=9，同仿真口径）。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19" b="0">
                <a:solidFill>
                  <a:srgbClr val="1E7F4F"/>
                </a:solidFill>
                <a:latin typeface="Microsoft YaHei"/>
              </a:rPr>
              <a:t>批内 CDG 无环 ⇒ 面积按 1 VC 计。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274320" y="5852160"/>
            <a:ext cx="11643055" cy="822960"/>
          </a:xfrm>
          <a:prstGeom prst="roundRect">
            <a:avLst>
              <a:gd name="adj" fmla="val 4444"/>
            </a:avLst>
          </a:prstGeom>
          <a:solidFill>
            <a:srgbClr val="FBF0F0"/>
          </a:solidFill>
          <a:ln w="1143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274320" y="5852160"/>
            <a:ext cx="50292" cy="8229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438912" y="5943600"/>
            <a:ext cx="530352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50"/>
              </a:spcAft>
            </a:pPr>
            <a:r>
              <a:rPr sz="960" b="1">
                <a:solidFill>
                  <a:srgbClr val="C7000B"/>
                </a:solidFill>
                <a:latin typeface="Microsoft YaHei"/>
              </a:rPr>
              <a:t>第三条性质：保序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Microsoft YaHei"/>
              </a:rPr>
              <a:t>每对源宿只有一条离线定死的路径，运行时不自适应、不中途换 VC，flit 顺序天然保持；分批方案 = 批内唯一路径 + 批间屏障。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989320" y="5943600"/>
            <a:ext cx="5790895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50"/>
              </a:spcAft>
            </a:pPr>
            <a:r>
              <a:rPr sz="960" b="1">
                <a:solidFill>
                  <a:srgbClr val="C7000B"/>
                </a:solidFill>
                <a:latin typeface="Microsoft YaHei"/>
              </a:rPr>
              <a:t>端到端结论（44 场景最差值，已含牺牲后的强扩展重标定）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80" b="0">
                <a:solidFill>
                  <a:srgbClr val="1F2933"/>
                </a:solidFill>
                <a:latin typeface="Microsoft YaHei"/>
              </a:rPr>
              <a:t>轻载 m0=1：M3′ Up*/Down* 790 ns（1 VC，area 0.90）→ Super-turn 635 ns（2 VC，1.24）；重载 m0=13：分批屏障 BB UD policy 7061 ns（1 VC）最优。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