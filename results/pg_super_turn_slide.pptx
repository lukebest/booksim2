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841248"/>
          </a:xfrm>
          <a:prstGeom prst="rect">
            <a:avLst/>
          </a:prstGeom>
          <a:solidFill>
            <a:srgbClr val="7A3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82296"/>
            <a:ext cx="11521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Super-turn（M0s）2 VC 容错路由：路由示意 · 如何容错 · 为何无死锁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50292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60" b="0">
                <a:solidFill>
                  <a:srgbClr val="C3CBD4"/>
                </a:solidFill>
                <a:latin typeface="Microsoft YaHei"/>
              </a:rPr>
              <a:t>8×6 mesh（H=7 / V=9）· Glass–Ni 最小转向模型分层 · 硬顶 2 VC · 每对源宿离线定死一条路径、VC 在源端锁定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32688"/>
            <a:ext cx="4983480" cy="3017520"/>
          </a:xfrm>
          <a:prstGeom prst="roundRect">
            <a:avLst>
              <a:gd name="adj" fmla="val 1212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932688"/>
            <a:ext cx="4983480" cy="310896"/>
          </a:xfrm>
          <a:prstGeom prst="roundRect">
            <a:avLst>
              <a:gd name="adj" fmla="val 11764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32688"/>
            <a:ext cx="50292" cy="310896"/>
          </a:xfrm>
          <a:prstGeom prst="rect">
            <a:avLst/>
          </a:prstGeom>
          <a:solidFill>
            <a:srgbClr val="7A3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3" y="960120"/>
            <a:ext cx="4709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① 路由示意图：残图上的两层转向模型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1799" y="3236976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81799" y="2867558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77302" y="3236976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77302" y="2867558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72805" y="3236976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72805" y="2867558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68308" y="3236976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468308" y="2867558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63811" y="3236976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063811" y="2867558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59314" y="3236976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54817" y="3236976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254817" y="2867558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850320" y="2867558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1799" y="2867558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81799" y="2498140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77302" y="2867558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277302" y="2498140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72805" y="2867558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872805" y="2498140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468308" y="2867558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468308" y="2498140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063811" y="2498140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54817" y="2867558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254817" y="2498140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850320" y="2498140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81799" y="2498140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1799" y="2128723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277302" y="2498140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277302" y="2128723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872805" y="2498140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872805" y="2128723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468308" y="2498140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68308" y="2128723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063811" y="2498140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063811" y="2128723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659314" y="2498140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659314" y="2128723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254817" y="2498140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54817" y="2128723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50320" y="2128723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81799" y="2128723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81799" y="1759305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77302" y="2128723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277302" y="1759305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872805" y="2128723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872805" y="1759305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468308" y="2128723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468308" y="1759305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063811" y="2128723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063811" y="1759305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659314" y="2128723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659314" y="1759305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254817" y="2128723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254817" y="1759305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850320" y="1759305"/>
            <a:ext cx="0" cy="369418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81799" y="1759305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81799" y="1389888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277302" y="1759305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277302" y="1389888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872805" y="1759305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872805" y="1389888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468308" y="1759305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468308" y="1389888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063811" y="1759305"/>
            <a:ext cx="595503" cy="0"/>
          </a:xfrm>
          <a:prstGeom prst="line">
            <a:avLst/>
          </a:prstGeom>
          <a:ln w="13970">
            <a:solidFill>
              <a:srgbClr val="C700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324621" y="1722363"/>
            <a:ext cx="73883" cy="73884"/>
          </a:xfrm>
          <a:prstGeom prst="line">
            <a:avLst/>
          </a:prstGeom>
          <a:ln w="152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324621" y="1722363"/>
            <a:ext cx="73883" cy="73884"/>
          </a:xfrm>
          <a:prstGeom prst="line">
            <a:avLst/>
          </a:prstGeom>
          <a:ln w="152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063811" y="1389888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659314" y="1759305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659314" y="1389888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254817" y="1759305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254817" y="1389888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50320" y="1389888"/>
            <a:ext cx="0" cy="369417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81799" y="1389888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277302" y="1389888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872805" y="1389888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468308" y="1389888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063811" y="1389888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659314" y="1389888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254817" y="1389888"/>
            <a:ext cx="595503" cy="0"/>
          </a:xfrm>
          <a:prstGeom prst="line">
            <a:avLst/>
          </a:prstGeom>
          <a:ln w="8890">
            <a:solidFill>
              <a:srgbClr val="CBD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659314" y="3236976"/>
            <a:ext cx="595503" cy="0"/>
          </a:xfrm>
          <a:prstGeom prst="line">
            <a:avLst/>
          </a:prstGeom>
          <a:ln w="29209">
            <a:solidFill>
              <a:srgbClr val="0B6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254817" y="2867558"/>
            <a:ext cx="0" cy="369418"/>
          </a:xfrm>
          <a:prstGeom prst="line">
            <a:avLst/>
          </a:prstGeom>
          <a:ln w="29209">
            <a:solidFill>
              <a:srgbClr val="0B6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254817" y="2498140"/>
            <a:ext cx="0" cy="369418"/>
          </a:xfrm>
          <a:prstGeom prst="line">
            <a:avLst/>
          </a:prstGeom>
          <a:ln w="29209">
            <a:solidFill>
              <a:srgbClr val="0B6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3659314" y="2498140"/>
            <a:ext cx="595503" cy="0"/>
          </a:xfrm>
          <a:prstGeom prst="line">
            <a:avLst/>
          </a:prstGeom>
          <a:ln w="29209">
            <a:solidFill>
              <a:srgbClr val="0B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063811" y="2867558"/>
            <a:ext cx="0" cy="369418"/>
          </a:xfrm>
          <a:prstGeom prst="line">
            <a:avLst/>
          </a:prstGeom>
          <a:ln w="29209">
            <a:solidFill>
              <a:srgbClr val="C872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063811" y="2498140"/>
            <a:ext cx="0" cy="369418"/>
          </a:xfrm>
          <a:prstGeom prst="line">
            <a:avLst/>
          </a:prstGeom>
          <a:ln w="29209">
            <a:solidFill>
              <a:srgbClr val="C872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063811" y="2498140"/>
            <a:ext cx="595503" cy="0"/>
          </a:xfrm>
          <a:prstGeom prst="line">
            <a:avLst/>
          </a:prstGeom>
          <a:ln w="29209">
            <a:solidFill>
              <a:srgbClr val="C872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628603" y="318377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224106" y="318377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819609" y="318377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415112" y="318377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986233" y="3159398"/>
            <a:ext cx="155155" cy="15515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2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81736" y="3159398"/>
            <a:ext cx="155155" cy="15515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2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201621" y="318377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797124" y="318377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28603" y="2814362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224106" y="2814362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819609" y="2814362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2415112" y="2814362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010615" y="2814362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585430" y="2793674"/>
            <a:ext cx="147767" cy="14776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3613506" y="2821750"/>
            <a:ext cx="91616" cy="91616"/>
          </a:xfrm>
          <a:prstGeom prst="line">
            <a:avLst/>
          </a:prstGeom>
          <a:ln w="1778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613506" y="2821750"/>
            <a:ext cx="91616" cy="91616"/>
          </a:xfrm>
          <a:prstGeom prst="line">
            <a:avLst/>
          </a:prstGeom>
          <a:ln w="1778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4201621" y="2814362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797124" y="2814362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28603" y="2444944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224106" y="2444944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19609" y="2444944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415112" y="2444944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010615" y="2444944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581736" y="2420563"/>
            <a:ext cx="155155" cy="15515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2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201621" y="2444944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797124" y="2444944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28603" y="2075527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224106" y="2075527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819609" y="2075527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415112" y="2075527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010615" y="2075527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606118" y="2075527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201621" y="2075527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797124" y="2075527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28603" y="170610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224106" y="170610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819609" y="170610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415112" y="170610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010615" y="170610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606118" y="170610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4201621" y="170610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797124" y="1706109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28603" y="1336691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224106" y="1336691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819609" y="1336691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2415112" y="1336691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010615" y="1336691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606118" y="1336691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201621" y="1336691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797124" y="1336691"/>
            <a:ext cx="106392" cy="106392"/>
          </a:xfrm>
          <a:prstGeom prst="ellipse">
            <a:avLst/>
          </a:prstGeom>
          <a:solidFill>
            <a:srgbClr val="AEB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384994" y="341985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40" b="1">
                <a:solidFill>
                  <a:srgbClr val="0B6BA8"/>
                </a:solidFill>
                <a:latin typeface="Microsoft YaHei"/>
              </a:rPr>
              <a:t>S0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789491" y="341985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40" b="1">
                <a:solidFill>
                  <a:srgbClr val="C87209"/>
                </a:solidFill>
                <a:latin typeface="Microsoft YaHei"/>
              </a:rPr>
              <a:t>S1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384994" y="22238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840" b="1">
                <a:solidFill>
                  <a:srgbClr val="1F2933"/>
                </a:solidFill>
                <a:latin typeface="Microsoft YaHei"/>
              </a:rPr>
              <a:t>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232850" y="2785262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C7000B"/>
                </a:solidFill>
                <a:latin typeface="Microsoft YaHei"/>
              </a:rPr>
              <a:t>死 router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423731" y="222382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40" b="1">
                <a:solidFill>
                  <a:srgbClr val="C87209"/>
                </a:solidFill>
                <a:latin typeface="Microsoft YaHei"/>
              </a:rPr>
              <a:t>N→E 层0禁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475488" y="3675887"/>
            <a:ext cx="237744" cy="0"/>
          </a:xfrm>
          <a:prstGeom prst="line">
            <a:avLst/>
          </a:prstGeom>
          <a:ln w="29209">
            <a:solidFill>
              <a:srgbClr val="0B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768096" y="3607307"/>
            <a:ext cx="192481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0B6BA8"/>
                </a:solidFill>
                <a:latin typeface="Microsoft YaHei"/>
              </a:rPr>
              <a:t>VC0 east_first（绕行 2→4 跳）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2857500" y="3675887"/>
            <a:ext cx="237744" cy="0"/>
          </a:xfrm>
          <a:prstGeom prst="line">
            <a:avLst/>
          </a:prstGeom>
          <a:ln w="29209">
            <a:solidFill>
              <a:srgbClr val="C872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3150108" y="3607307"/>
            <a:ext cx="192481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40" b="0">
                <a:solidFill>
                  <a:srgbClr val="C87209"/>
                </a:solidFill>
                <a:latin typeface="Microsoft YaHei"/>
              </a:rPr>
              <a:t>VC1 west_first（层0 禁其转弯）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404104" y="932688"/>
            <a:ext cx="6513271" cy="3017520"/>
          </a:xfrm>
          <a:prstGeom prst="roundRect">
            <a:avLst>
              <a:gd name="adj" fmla="val 1212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5404104" y="932688"/>
            <a:ext cx="6513271" cy="310896"/>
          </a:xfrm>
          <a:prstGeom prst="roundRect">
            <a:avLst>
              <a:gd name="adj" fmla="val 11764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404104" y="932688"/>
            <a:ext cx="50292" cy="310896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550408" y="960120"/>
            <a:ext cx="623895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② 如何容错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550408" y="1298448"/>
            <a:ext cx="622066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860" b="0">
                <a:solidFill>
                  <a:srgbClr val="1F2933"/>
                </a:solidFill>
                <a:latin typeface="Microsoft YaHei"/>
              </a:rPr>
              <a:t>样例 b_r1_l1_0000：1 个死 router (5, 1) + 1 条死链路 (4, 4)–(5, 4) → 存活 A=47；求解得 dual «east_west» = east_first + west_first，2 VC，0 牺牲。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40" b="1">
                <a:solidFill>
                  <a:srgbClr val="1E7F4F"/>
                </a:solidFill>
                <a:latin typeface="Microsoft YaHei"/>
              </a:rPr>
              <a:t>① 故障不进邻接表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40" b="0">
                <a:solidFill>
                  <a:srgbClr val="5A6673"/>
                </a:solidFill>
                <a:latin typeface="Microsoft YaHei"/>
              </a:rPr>
              <a:t>死 router / 死链路先从残图删掉，所有搜索只在存活图上做，路径不可能穿洞。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40" b="1">
                <a:solidFill>
                  <a:srgbClr val="1E7F4F"/>
                </a:solidFill>
                <a:latin typeface="Microsoft YaHei"/>
              </a:rPr>
              <a:t>② 第一道：层内绕行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40" b="0">
                <a:solidFill>
                  <a:srgbClr val="1F2933"/>
                </a:solidFill>
                <a:latin typeface="Microsoft YaHei"/>
              </a:rPr>
              <a:t>XY 被挡就在同一转向模型下做受限 BFS。蓝色 S0(5, 0)→D(5, 2) 本是 2 跳，死点挡住后向东绕成 4 跳，转弯 E→N / N→N / N→W 在 east_first 下全部合法。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40" b="1">
                <a:solidFill>
                  <a:srgbClr val="C87209"/>
                </a:solidFill>
                <a:latin typeface="Microsoft YaHei"/>
              </a:rPr>
              <a:t>③ 第二道：换一层 —— 这就是第 2 条 VC 的用途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840" b="0">
                <a:solidFill>
                  <a:srgbClr val="1F2933"/>
                </a:solidFill>
                <a:latin typeface="Microsoft YaHei"/>
              </a:rPr>
              <a:t>有些对在层 0 里无论怎么绕都无解。橙色 S1(4, 0)→D(5, 2) 只要 3 跳（已是最短），但必须用 N→E——正是 east_first 禁掉的转弯，于是整条路锁到 west_first 层。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940" b="1">
                <a:solidFill>
                  <a:srgbClr val="C7000B"/>
                </a:solidFill>
                <a:latin typeface="Microsoft YaHei"/>
              </a:rPr>
              <a:t>④ 兜底才牺牲，绝不开第 3 条 VC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40" b="0">
                <a:solidFill>
                  <a:srgbClr val="5A6673"/>
                </a:solidFill>
                <a:latin typeface="Microsoft YaHei"/>
              </a:rPr>
              <a:t>两层都盖不住时，对阻塞的 OD 端点做最小顶点覆盖式牺牲。全目录 14 个场景合计只牺牲 4 个节点，其中 2 个场景 1 层就够、12 个要 2 层。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74320" y="4096512"/>
            <a:ext cx="6675120" cy="1627632"/>
          </a:xfrm>
          <a:prstGeom prst="roundRect">
            <a:avLst>
              <a:gd name="adj" fmla="val 2247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274320" y="4096512"/>
            <a:ext cx="6675120" cy="292608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74320" y="4096512"/>
            <a:ext cx="50292" cy="29260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20623" y="4123944"/>
            <a:ext cx="6400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③ 为什么无死锁</a:t>
            </a:r>
          </a:p>
        </p:txBody>
      </p:sp>
      <p:sp>
        <p:nvSpPr>
          <p:cNvPr id="166" name="Oval 165"/>
          <p:cNvSpPr/>
          <p:nvPr/>
        </p:nvSpPr>
        <p:spPr>
          <a:xfrm>
            <a:off x="502462" y="4565507"/>
            <a:ext cx="105155" cy="105155"/>
          </a:xfrm>
          <a:prstGeom prst="ellipse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5461" y="4565507"/>
            <a:ext cx="105155" cy="105155"/>
          </a:xfrm>
          <a:prstGeom prst="ellipse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5461" y="5238506"/>
            <a:ext cx="105155" cy="105155"/>
          </a:xfrm>
          <a:prstGeom prst="ellipse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02462" y="5238506"/>
            <a:ext cx="105155" cy="105155"/>
          </a:xfrm>
          <a:prstGeom prst="ellipse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 flipV="1">
            <a:off x="555040" y="4618085"/>
            <a:ext cx="0" cy="672999"/>
          </a:xfrm>
          <a:prstGeom prst="line">
            <a:avLst/>
          </a:prstGeom>
          <a:ln w="21590">
            <a:solidFill>
              <a:srgbClr val="C700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555040" y="4618085"/>
            <a:ext cx="672999" cy="0"/>
          </a:xfrm>
          <a:prstGeom prst="line">
            <a:avLst/>
          </a:prstGeom>
          <a:ln w="21590">
            <a:solidFill>
              <a:srgbClr val="0B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228039" y="4618085"/>
            <a:ext cx="0" cy="672999"/>
          </a:xfrm>
          <a:prstGeom prst="line">
            <a:avLst/>
          </a:prstGeom>
          <a:ln w="21590">
            <a:solidFill>
              <a:srgbClr val="0B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555040" y="5291084"/>
            <a:ext cx="672999" cy="0"/>
          </a:xfrm>
          <a:prstGeom prst="line">
            <a:avLst/>
          </a:prstGeom>
          <a:ln w="21590">
            <a:solidFill>
              <a:srgbClr val="0B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481431" y="4544476"/>
            <a:ext cx="147219" cy="147218"/>
          </a:xfrm>
          <a:prstGeom prst="line">
            <a:avLst/>
          </a:prstGeom>
          <a:ln w="2540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481431" y="4544476"/>
            <a:ext cx="147219" cy="147218"/>
          </a:xfrm>
          <a:prstGeom prst="line">
            <a:avLst/>
          </a:prstGeom>
          <a:ln w="2540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65760" y="5452018"/>
            <a:ext cx="1051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50"/>
              </a:spcAft>
            </a:pPr>
            <a:r>
              <a:rPr sz="760" b="1">
                <a:solidFill>
                  <a:srgbClr val="1F2933"/>
                </a:solidFill>
                <a:latin typeface="Microsoft YaHei"/>
              </a:rPr>
              <a:t>east_first</a:t>
            </a:r>
          </a:p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760" b="1">
                <a:solidFill>
                  <a:srgbClr val="C7000B"/>
                </a:solidFill>
                <a:latin typeface="Microsoft YaHei"/>
              </a:rPr>
              <a:t>禁 N→E ⇒ 此环断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517904" y="4443984"/>
            <a:ext cx="5303520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819" b="0">
                <a:solidFill>
                  <a:srgbClr val="5A6673"/>
                </a:solidFill>
                <a:latin typeface="Microsoft YaHei"/>
              </a:rPr>
              <a:t>死锁 ⇔ 通道依赖图 CDG 成环；mesh 成环必须凑满一圈 4 个转弯，且只有两种旋向。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819" b="0">
                <a:solidFill>
                  <a:srgbClr val="1F2933"/>
                </a:solidFill>
                <a:latin typeface="Microsoft YaHei"/>
              </a:rPr>
              <a:t>① 单层已无环：四个最小模型各禁 2 个转弯，恰好在两种旋向里各命中 1 个（右表）⇒ 单层 CDG 在任意子图上都无环，故障怎么变都不必重证。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819" b="0">
                <a:solidFill>
                  <a:srgbClr val="1F2933"/>
                </a:solidFill>
                <a:latin typeface="Microsoft YaHei"/>
              </a:rPr>
              <a:t>② 两层不共享通道：层 = VC，缓冲按 VC 分开，CDG 的节点是 (有向通道, VC)。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819" b="0">
                <a:solidFill>
                  <a:srgbClr val="1F2933"/>
                </a:solidFill>
                <a:latin typeface="Microsoft YaHei"/>
              </a:rPr>
              <a:t>③ VC 源端锁定、全程不换：vc_of 只看 (src,dst) ⇒ 无依赖边跨层 ⇒ 并集 = 两个无环图的不相交并 ⇒ 仍无环（Dally–Seitz）。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19" b="1">
                <a:solidFill>
                  <a:srgbClr val="1E7F4F"/>
                </a:solidFill>
                <a:latin typeface="Microsoft YaHei"/>
              </a:rPr>
              <a:t>④ 实测：build_cdg + DFS 查环，14/14 个场景全部无环，0 例成环。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095744" y="4096512"/>
            <a:ext cx="4821631" cy="1627632"/>
          </a:xfrm>
          <a:prstGeom prst="roundRect">
            <a:avLst>
              <a:gd name="adj" fmla="val 2247"/>
            </a:avLst>
          </a:prstGeom>
          <a:solidFill>
            <a:srgbClr val="F7F8FA"/>
          </a:solidFill>
          <a:ln w="952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7095744" y="4096512"/>
            <a:ext cx="4821631" cy="292608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095744" y="4096512"/>
            <a:ext cx="50292" cy="292608"/>
          </a:xfrm>
          <a:prstGeom prst="rect">
            <a:avLst/>
          </a:prstGeom>
          <a:solidFill>
            <a:srgbClr val="0B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242048" y="4123944"/>
            <a:ext cx="454731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1F2933"/>
                </a:solidFill>
                <a:latin typeface="Microsoft YaHei"/>
              </a:rPr>
              <a:t>四个最小转向模型：每层禁 2 个转弯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242048" y="4425696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5A6673"/>
                </a:solidFill>
                <a:latin typeface="Microsoft YaHei"/>
              </a:rPr>
              <a:t>模型（层）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321040" y="4425696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5A6673"/>
                </a:solidFill>
                <a:latin typeface="Microsoft YaHei"/>
              </a:rPr>
              <a:t>禁止的转弯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710928" y="4425696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5A6673"/>
                </a:solidFill>
                <a:latin typeface="Microsoft YaHei"/>
              </a:rPr>
              <a:t>两种旋向的断点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242048" y="4626864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0B6BA8"/>
                </a:solidFill>
                <a:latin typeface="Microsoft YaHei"/>
              </a:rPr>
              <a:t>east_first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321040" y="4626864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0">
                <a:solidFill>
                  <a:srgbClr val="1F2933"/>
                </a:solidFill>
                <a:latin typeface="Microsoft YaHei"/>
              </a:rPr>
              <a:t>N→E、S→E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10928" y="4626864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0">
                <a:solidFill>
                  <a:srgbClr val="1F2933"/>
                </a:solidFill>
                <a:latin typeface="Microsoft YaHei"/>
              </a:rPr>
              <a:t>S→E / N→E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242048" y="4814316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0B6BA8"/>
                </a:solidFill>
                <a:latin typeface="Microsoft YaHei"/>
              </a:rPr>
              <a:t>west_first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321040" y="4814316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0">
                <a:solidFill>
                  <a:srgbClr val="1F2933"/>
                </a:solidFill>
                <a:latin typeface="Microsoft YaHei"/>
              </a:rPr>
              <a:t>N→W、S→W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710928" y="4814316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0">
                <a:solidFill>
                  <a:srgbClr val="1F2933"/>
                </a:solidFill>
                <a:latin typeface="Microsoft YaHei"/>
              </a:rPr>
              <a:t>N→W / S→W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242048" y="5001768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0B6BA8"/>
                </a:solidFill>
                <a:latin typeface="Microsoft YaHei"/>
              </a:rPr>
              <a:t>north_last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321040" y="5001768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0">
                <a:solidFill>
                  <a:srgbClr val="1F2933"/>
                </a:solidFill>
                <a:latin typeface="Microsoft YaHei"/>
              </a:rPr>
              <a:t>E→N、W→N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10928" y="5001768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0">
                <a:solidFill>
                  <a:srgbClr val="1F2933"/>
                </a:solidFill>
                <a:latin typeface="Microsoft YaHei"/>
              </a:rPr>
              <a:t>E→N / W→N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242048" y="5189220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0B6BA8"/>
                </a:solidFill>
                <a:latin typeface="Microsoft YaHei"/>
              </a:rPr>
              <a:t>south_last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321040" y="5189220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0">
                <a:solidFill>
                  <a:srgbClr val="1F2933"/>
                </a:solidFill>
                <a:latin typeface="Microsoft YaHei"/>
              </a:rPr>
              <a:t>E→S、W→S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710928" y="5189220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0">
                <a:solidFill>
                  <a:srgbClr val="1F2933"/>
                </a:solidFill>
                <a:latin typeface="Microsoft YaHei"/>
              </a:rPr>
              <a:t>W→S / E→S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242048" y="5413248"/>
            <a:ext cx="45290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0">
                <a:solidFill>
                  <a:srgbClr val="5A6673"/>
                </a:solidFill>
                <a:latin typeface="Microsoft YaHei"/>
              </a:rPr>
              <a:t>任一 dual 的两个禁集互不相交 ⇒ 两层合起来 8 个转弯全可用，而每层各自仍无环。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274320" y="5870448"/>
            <a:ext cx="11643055" cy="786384"/>
          </a:xfrm>
          <a:prstGeom prst="roundRect">
            <a:avLst>
              <a:gd name="adj" fmla="val 4651"/>
            </a:avLst>
          </a:prstGeom>
          <a:solidFill>
            <a:srgbClr val="F4F0F8"/>
          </a:solidFill>
          <a:ln w="11430">
            <a:solidFill>
              <a:srgbClr val="7A3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74320" y="5870448"/>
            <a:ext cx="50292" cy="786384"/>
          </a:xfrm>
          <a:prstGeom prst="rect">
            <a:avLst/>
          </a:prstGeom>
          <a:solidFill>
            <a:srgbClr val="7A3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38912" y="5952744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"/>
              </a:spcAft>
            </a:pPr>
            <a:r>
              <a:rPr sz="919" b="1">
                <a:solidFill>
                  <a:srgbClr val="7A3E9D"/>
                </a:solidFill>
                <a:latin typeface="Microsoft YaHei"/>
              </a:rPr>
              <a:t>顺带保住的第三条性质：保序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40" b="0">
                <a:solidFill>
                  <a:srgbClr val="1F2933"/>
                </a:solidFill>
                <a:latin typeface="Microsoft YaHei"/>
              </a:rPr>
              <a:t>每对源宿一条离线定死的路径、VC 源端一次选定，运行时不自适应 ⇒ 同一对的 flit 不会互相超越。本例 2162 对中 1957 对在层 0、205 对在层 1，58 对为非最短绕行。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172200" y="5952744"/>
            <a:ext cx="56080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20"/>
              </a:spcAft>
            </a:pPr>
            <a:r>
              <a:rPr sz="919" b="1">
                <a:solidFill>
                  <a:srgbClr val="7A3E9D"/>
                </a:solidFill>
                <a:latin typeface="Microsoft YaHei"/>
              </a:rPr>
              <a:t>代价（硅上一律按 2 VC 计，即使某张残图 1 层就够）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40" b="0">
                <a:solidFill>
                  <a:srgbClr val="1F2933"/>
                </a:solidFill>
                <a:latin typeface="Microsoft YaHei"/>
              </a:rPr>
              <a:t>缓冲 158 flit/router = 2 VC ×（4 mesh 端口×19 + 1 ramp 端口×3）——ramp 端口不按 Q 计，旧「5 端口」口径会多算到 190；目的表 94 bit 或退源路由头 29 bit（= 4 + 2×12 + 1 VC）。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