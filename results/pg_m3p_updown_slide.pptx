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841248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91440"/>
            <a:ext cx="1042416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</a:rPr>
              <a:t>M3′ Up*/Down* best-root：怎么容错、怎么解死锁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502920"/>
            <a:ext cx="11521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C3CBD4"/>
                </a:solidFill>
                <a:latin typeface="Microsoft YaHei"/>
              </a:rPr>
              <a:t>单一机制：给每个 router 一个「到根的高度」，只禁一种转向 —— 物理 1 VC · 无需虚通道 · 8×6 预算故障 44 场景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969264"/>
            <a:ext cx="5742432" cy="3035808"/>
          </a:xfrm>
          <a:prstGeom prst="roundRect">
            <a:avLst>
              <a:gd name="adj" fmla="val 120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4320" y="969264"/>
            <a:ext cx="5742432" cy="310896"/>
          </a:xfrm>
          <a:prstGeom prst="roundRect">
            <a:avLst>
              <a:gd name="adj" fmla="val 11764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69264"/>
            <a:ext cx="50292" cy="310896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3" y="996696"/>
            <a:ext cx="54681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① 如何容错：高度重算，洞自动被绕开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9600" y="150610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9600" y="1506105"/>
            <a:ext cx="0" cy="342162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05691" y="150610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05691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201782" y="150610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201782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497874" y="150610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497874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793965" y="150610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793965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90057" y="150610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090057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386148" y="150610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86148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682240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9600" y="1848267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600" y="1848267"/>
            <a:ext cx="0" cy="342163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05691" y="1848267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05691" y="1848267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201782" y="1848267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201782" y="1848267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497874" y="1848267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793965" y="1848267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090057" y="1848267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090057" y="1848267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386148" y="1848267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386148" y="1848267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682240" y="1848267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09600" y="2190430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09600" y="2190430"/>
            <a:ext cx="0" cy="342163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05691" y="2190430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05691" y="2190430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201782" y="2190430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090057" y="2190430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090057" y="2190430"/>
            <a:ext cx="0" cy="342163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386148" y="2190430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386148" y="2190430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682240" y="2190430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09600" y="2532593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09600" y="2532593"/>
            <a:ext cx="0" cy="342162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905691" y="2532593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905691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201782" y="2532593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201782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497874" y="2532593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497874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793965" y="2532593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793965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090057" y="2532593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090057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386148" y="2532593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386148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682240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609600" y="287475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609600" y="2874755"/>
            <a:ext cx="0" cy="342163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905691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201782" y="287475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201782" y="2874755"/>
            <a:ext cx="0" cy="342163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497874" y="287475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497874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793965" y="287475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793965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090057" y="287475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090057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386148" y="287475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386148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682240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609600" y="3216918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905691" y="3216918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201782" y="3216918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497874" y="3216918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793965" y="3216918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090057" y="3216918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2386148" y="3216918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905691" y="2874755"/>
            <a:ext cx="296091" cy="0"/>
          </a:xfrm>
          <a:prstGeom prst="line">
            <a:avLst/>
          </a:prstGeom>
          <a:ln w="13970">
            <a:solidFill>
              <a:srgbClr val="C700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1019538" y="2840557"/>
            <a:ext cx="68397" cy="68397"/>
          </a:xfrm>
          <a:prstGeom prst="line">
            <a:avLst/>
          </a:prstGeom>
          <a:ln w="1524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1019538" y="2840557"/>
            <a:ext cx="68397" cy="68397"/>
          </a:xfrm>
          <a:prstGeom prst="line">
            <a:avLst/>
          </a:prstGeom>
          <a:ln w="1524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/>
          <p:cNvSpPr/>
          <p:nvPr/>
        </p:nvSpPr>
        <p:spPr>
          <a:xfrm>
            <a:off x="552395" y="144890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848486" y="144890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144577" y="144890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440669" y="1448900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736760" y="1448900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2032852" y="1448900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2328943" y="1448900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2625035" y="1448900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52395" y="1791063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848486" y="179106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144577" y="179106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440669" y="179106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736760" y="1791063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2032852" y="1791063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2328943" y="1791063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2625035" y="1791063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552395" y="2133225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48486" y="2133225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144577" y="2133225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435695" y="2128251"/>
            <a:ext cx="124358" cy="124358"/>
          </a:xfrm>
          <a:prstGeom prst="ellipse">
            <a:avLst/>
          </a:prstGeom>
          <a:solidFill>
            <a:srgbClr val="FFFFFF"/>
          </a:solidFill>
          <a:ln w="1397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>
            <a:off x="1459323" y="2151879"/>
            <a:ext cx="77102" cy="77102"/>
          </a:xfrm>
          <a:prstGeom prst="line">
            <a:avLst/>
          </a:prstGeom>
          <a:ln w="1651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1459323" y="2151879"/>
            <a:ext cx="77102" cy="77102"/>
          </a:xfrm>
          <a:prstGeom prst="line">
            <a:avLst/>
          </a:prstGeom>
          <a:ln w="1651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Oval 109"/>
          <p:cNvSpPr/>
          <p:nvPr/>
        </p:nvSpPr>
        <p:spPr>
          <a:xfrm>
            <a:off x="1731786" y="2128251"/>
            <a:ext cx="124358" cy="124358"/>
          </a:xfrm>
          <a:prstGeom prst="ellipse">
            <a:avLst/>
          </a:prstGeom>
          <a:solidFill>
            <a:srgbClr val="FFFFFF"/>
          </a:solidFill>
          <a:ln w="1397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1" name="Connector 110"/>
          <p:cNvCxnSpPr/>
          <p:nvPr/>
        </p:nvCxnSpPr>
        <p:spPr>
          <a:xfrm>
            <a:off x="1755414" y="2151879"/>
            <a:ext cx="77102" cy="77102"/>
          </a:xfrm>
          <a:prstGeom prst="line">
            <a:avLst/>
          </a:prstGeom>
          <a:ln w="1651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1755414" y="2151879"/>
            <a:ext cx="77102" cy="77102"/>
          </a:xfrm>
          <a:prstGeom prst="line">
            <a:avLst/>
          </a:prstGeom>
          <a:ln w="1651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Oval 112"/>
          <p:cNvSpPr/>
          <p:nvPr/>
        </p:nvSpPr>
        <p:spPr>
          <a:xfrm>
            <a:off x="2032852" y="2133225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2328943" y="2133225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2625035" y="2133225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552395" y="2475388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48486" y="2475388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144577" y="2475388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440669" y="2475388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736760" y="2475388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2032852" y="2475388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2328943" y="2475388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2625035" y="2475388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552395" y="2817550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48486" y="2817550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144577" y="2817550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440669" y="2817550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736760" y="281755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2032852" y="281755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2328943" y="281755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2625035" y="2817550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552395" y="3159713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848486" y="3159713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144577" y="3159713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440669" y="3159713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736760" y="3159713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2032852" y="315971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2328943" y="315971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2625035" y="315971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5-Point Star 139"/>
          <p:cNvSpPr/>
          <p:nvPr/>
        </p:nvSpPr>
        <p:spPr>
          <a:xfrm>
            <a:off x="531876" y="3139194"/>
            <a:ext cx="155448" cy="155448"/>
          </a:xfrm>
          <a:prstGeom prst="star5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709086" y="3125478"/>
            <a:ext cx="11887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60" b="1">
                <a:solidFill>
                  <a:srgbClr val="C7000B"/>
                </a:solidFill>
                <a:latin typeface="Microsoft YaHei"/>
              </a:rPr>
              <a:t>根 = BFS 源点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02336" y="3493008"/>
            <a:ext cx="24871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10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蓝边 = BFS 树（只给高度）　浅灰 = 其余存活链路（路径可用）</a:t>
            </a:r>
          </a:p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节点颜色由浅到深 = 高度 label 0 → 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999232" y="1353312"/>
            <a:ext cx="2889504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>
                <a:solidFill>
                  <a:srgbClr val="1E7F4F"/>
                </a:solidFill>
                <a:latin typeface="Microsoft YaHei"/>
              </a:rPr>
              <a:t>① 只在残图上做 BFS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死 router / 断链不进邻接表，label = 到根的跳数由残图算出，树自然从洞的两侧绕过去。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>
                <a:solidFill>
                  <a:srgbClr val="1E7F4F"/>
                </a:solidFill>
                <a:latin typeface="Microsoft YaHei"/>
              </a:rPr>
              <a:t>② 不依赖方向，所以能绕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XY / East-first 把某类方向写死，洞挡住即无解；Up*/Down* 只看高度差，四个方向都能走 ⇒ 残图连通就建得出表。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>
                <a:solidFill>
                  <a:srgbClr val="1E7F4F"/>
                </a:solidFill>
                <a:latin typeface="Microsoft YaHei"/>
              </a:rPr>
              <a:t>③ 路径不限于树边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树只用来定高度，任意存活链路都能走，不会退化成树上绕远。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>
                <a:solidFill>
                  <a:srgbClr val="C87209"/>
                </a:solidFill>
                <a:latin typeface="Microsoft YaHei"/>
              </a:rPr>
              <a:t>④ 只有残图断开才牺牲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0">
                <a:solidFill>
                  <a:srgbClr val="C87209"/>
                </a:solidFill>
                <a:latin typeface="Microsoft YaHei"/>
              </a:rPr>
              <a:t>44 场景牺牲中位 0 / 最差 4；36/36 目录格零牺牲。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163056" y="969264"/>
            <a:ext cx="5754319" cy="3035808"/>
          </a:xfrm>
          <a:prstGeom prst="roundRect">
            <a:avLst>
              <a:gd name="adj" fmla="val 120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6163056" y="969264"/>
            <a:ext cx="5754319" cy="310896"/>
          </a:xfrm>
          <a:prstGeom prst="roundRect">
            <a:avLst>
              <a:gd name="adj" fmla="val 11764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6163056" y="969264"/>
            <a:ext cx="50292" cy="31089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6309360" y="996696"/>
            <a:ext cx="547999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② 如何解死锁：禁 down→up，高度严格单调</a:t>
            </a:r>
          </a:p>
        </p:txBody>
      </p:sp>
      <p:cxnSp>
        <p:nvCxnSpPr>
          <p:cNvPr id="148" name="Connector 147"/>
          <p:cNvCxnSpPr/>
          <p:nvPr/>
        </p:nvCxnSpPr>
        <p:spPr>
          <a:xfrm>
            <a:off x="6696456" y="1737897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6696456" y="1737897"/>
            <a:ext cx="0" cy="575535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7236968" y="1737897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7236968" y="1737897"/>
            <a:ext cx="0" cy="575535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7777480" y="1737897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7777480" y="1737897"/>
            <a:ext cx="0" cy="575535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8317992" y="1737897"/>
            <a:ext cx="0" cy="575535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6696456" y="2313432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6696456" y="2313432"/>
            <a:ext cx="0" cy="575534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7236968" y="2313432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7236968" y="2313432"/>
            <a:ext cx="0" cy="575534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7777480" y="2313432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7777480" y="2313432"/>
            <a:ext cx="0" cy="575534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8317992" y="2313432"/>
            <a:ext cx="0" cy="575534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6696456" y="2888966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7236968" y="2888966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7777480" y="2888966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H="1">
            <a:off x="7928823" y="1737897"/>
            <a:ext cx="237825" cy="0"/>
          </a:xfrm>
          <a:prstGeom prst="line">
            <a:avLst/>
          </a:prstGeom>
          <a:ln w="27940">
            <a:solidFill>
              <a:srgbClr val="0B6B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H="1">
            <a:off x="7388311" y="1737897"/>
            <a:ext cx="237825" cy="0"/>
          </a:xfrm>
          <a:prstGeom prst="line">
            <a:avLst/>
          </a:prstGeom>
          <a:ln w="27940">
            <a:solidFill>
              <a:srgbClr val="0B6B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7236968" y="1889241"/>
            <a:ext cx="0" cy="272847"/>
          </a:xfrm>
          <a:prstGeom prst="line">
            <a:avLst/>
          </a:prstGeom>
          <a:ln w="2794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7236968" y="2464775"/>
            <a:ext cx="0" cy="272847"/>
          </a:xfrm>
          <a:prstGeom prst="line">
            <a:avLst/>
          </a:prstGeom>
          <a:ln w="2794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H="1">
            <a:off x="6847799" y="2313432"/>
            <a:ext cx="237825" cy="0"/>
          </a:xfrm>
          <a:prstGeom prst="line">
            <a:avLst/>
          </a:prstGeom>
          <a:ln w="20320">
            <a:solidFill>
              <a:srgbClr val="9AA5B1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6898132" y="2244852"/>
            <a:ext cx="137160" cy="13716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6898132" y="2244852"/>
            <a:ext cx="137160" cy="13716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Oval 171"/>
          <p:cNvSpPr/>
          <p:nvPr/>
        </p:nvSpPr>
        <p:spPr>
          <a:xfrm>
            <a:off x="6561328" y="1602769"/>
            <a:ext cx="270256" cy="270256"/>
          </a:xfrm>
          <a:prstGeom prst="ellipse">
            <a:avLst/>
          </a:prstGeom>
          <a:solidFill>
            <a:srgbClr val="DCE7F5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6561328" y="1654118"/>
            <a:ext cx="270256" cy="1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0</a:t>
            </a:r>
          </a:p>
        </p:txBody>
      </p:sp>
      <p:sp>
        <p:nvSpPr>
          <p:cNvPr id="174" name="Oval 173"/>
          <p:cNvSpPr/>
          <p:nvPr/>
        </p:nvSpPr>
        <p:spPr>
          <a:xfrm>
            <a:off x="7101840" y="1602769"/>
            <a:ext cx="270256" cy="270256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7101840" y="1654118"/>
            <a:ext cx="270256" cy="1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1</a:t>
            </a:r>
          </a:p>
        </p:txBody>
      </p:sp>
      <p:sp>
        <p:nvSpPr>
          <p:cNvPr id="176" name="Oval 175"/>
          <p:cNvSpPr/>
          <p:nvPr/>
        </p:nvSpPr>
        <p:spPr>
          <a:xfrm>
            <a:off x="7642352" y="1602769"/>
            <a:ext cx="270256" cy="270256"/>
          </a:xfrm>
          <a:prstGeom prst="ellipse">
            <a:avLst/>
          </a:prstGeom>
          <a:solidFill>
            <a:srgbClr val="7FB4D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7642352" y="1654118"/>
            <a:ext cx="270256" cy="1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2</a:t>
            </a:r>
          </a:p>
        </p:txBody>
      </p:sp>
      <p:sp>
        <p:nvSpPr>
          <p:cNvPr id="178" name="Oval 177"/>
          <p:cNvSpPr/>
          <p:nvPr/>
        </p:nvSpPr>
        <p:spPr>
          <a:xfrm>
            <a:off x="8182864" y="1602769"/>
            <a:ext cx="270256" cy="270256"/>
          </a:xfrm>
          <a:prstGeom prst="ellipse">
            <a:avLst/>
          </a:prstGeom>
          <a:solidFill>
            <a:srgbClr val="4E94CC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182864" y="1654118"/>
            <a:ext cx="270256" cy="1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80" name="Oval 179"/>
          <p:cNvSpPr/>
          <p:nvPr/>
        </p:nvSpPr>
        <p:spPr>
          <a:xfrm>
            <a:off x="6561328" y="2178304"/>
            <a:ext cx="270256" cy="270256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561328" y="2229652"/>
            <a:ext cx="270256" cy="1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1</a:t>
            </a:r>
          </a:p>
        </p:txBody>
      </p:sp>
      <p:sp>
        <p:nvSpPr>
          <p:cNvPr id="182" name="Oval 181"/>
          <p:cNvSpPr/>
          <p:nvPr/>
        </p:nvSpPr>
        <p:spPr>
          <a:xfrm>
            <a:off x="7101840" y="2178304"/>
            <a:ext cx="270256" cy="270256"/>
          </a:xfrm>
          <a:prstGeom prst="ellipse">
            <a:avLst/>
          </a:prstGeom>
          <a:solidFill>
            <a:srgbClr val="7FB4D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7101840" y="2229652"/>
            <a:ext cx="270256" cy="1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2</a:t>
            </a:r>
          </a:p>
        </p:txBody>
      </p:sp>
      <p:sp>
        <p:nvSpPr>
          <p:cNvPr id="184" name="Oval 183"/>
          <p:cNvSpPr/>
          <p:nvPr/>
        </p:nvSpPr>
        <p:spPr>
          <a:xfrm>
            <a:off x="7642352" y="2178304"/>
            <a:ext cx="270256" cy="270256"/>
          </a:xfrm>
          <a:prstGeom prst="ellipse">
            <a:avLst/>
          </a:prstGeom>
          <a:solidFill>
            <a:srgbClr val="4E94CC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7642352" y="2229652"/>
            <a:ext cx="270256" cy="1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86" name="Oval 185"/>
          <p:cNvSpPr/>
          <p:nvPr/>
        </p:nvSpPr>
        <p:spPr>
          <a:xfrm>
            <a:off x="8182864" y="2178304"/>
            <a:ext cx="270256" cy="270256"/>
          </a:xfrm>
          <a:prstGeom prst="ellipse">
            <a:avLst/>
          </a:prstGeom>
          <a:solidFill>
            <a:srgbClr val="2A6FA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8182864" y="2229652"/>
            <a:ext cx="270256" cy="1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88" name="Oval 187"/>
          <p:cNvSpPr/>
          <p:nvPr/>
        </p:nvSpPr>
        <p:spPr>
          <a:xfrm>
            <a:off x="6561328" y="2753838"/>
            <a:ext cx="270256" cy="270256"/>
          </a:xfrm>
          <a:prstGeom prst="ellipse">
            <a:avLst/>
          </a:prstGeom>
          <a:solidFill>
            <a:srgbClr val="7FB4D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561328" y="2805186"/>
            <a:ext cx="270256" cy="1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2</a:t>
            </a:r>
          </a:p>
        </p:txBody>
      </p:sp>
      <p:sp>
        <p:nvSpPr>
          <p:cNvPr id="190" name="Oval 189"/>
          <p:cNvSpPr/>
          <p:nvPr/>
        </p:nvSpPr>
        <p:spPr>
          <a:xfrm>
            <a:off x="7101840" y="2753838"/>
            <a:ext cx="270256" cy="270256"/>
          </a:xfrm>
          <a:prstGeom prst="ellipse">
            <a:avLst/>
          </a:prstGeom>
          <a:solidFill>
            <a:srgbClr val="4E94CC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7101840" y="2805186"/>
            <a:ext cx="270256" cy="1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2" name="Oval 191"/>
          <p:cNvSpPr/>
          <p:nvPr/>
        </p:nvSpPr>
        <p:spPr>
          <a:xfrm>
            <a:off x="7642352" y="2753838"/>
            <a:ext cx="270256" cy="270256"/>
          </a:xfrm>
          <a:prstGeom prst="ellipse">
            <a:avLst/>
          </a:prstGeom>
          <a:solidFill>
            <a:srgbClr val="2A6FA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7642352" y="2805186"/>
            <a:ext cx="270256" cy="1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94" name="Oval 193"/>
          <p:cNvSpPr/>
          <p:nvPr/>
        </p:nvSpPr>
        <p:spPr>
          <a:xfrm>
            <a:off x="8182864" y="2753838"/>
            <a:ext cx="270256" cy="270256"/>
          </a:xfrm>
          <a:prstGeom prst="ellipse">
            <a:avLst/>
          </a:prstGeom>
          <a:solidFill>
            <a:srgbClr val="2A6FA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8182864" y="2805186"/>
            <a:ext cx="270256" cy="1756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196" name="5-Point Star 195"/>
          <p:cNvSpPr/>
          <p:nvPr/>
        </p:nvSpPr>
        <p:spPr>
          <a:xfrm>
            <a:off x="6442415" y="1483857"/>
            <a:ext cx="156748" cy="156748"/>
          </a:xfrm>
          <a:prstGeom prst="star5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5994400" y="1412777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760" b="1">
                <a:solidFill>
                  <a:srgbClr val="C7000B"/>
                </a:solidFill>
                <a:latin typeface="Microsoft YaHei"/>
              </a:rPr>
              <a:t>根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8043672" y="1401601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0B6BA8"/>
                </a:solidFill>
                <a:latin typeface="Microsoft YaHei"/>
              </a:rPr>
              <a:t>S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962648" y="306067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C87209"/>
                </a:solidFill>
                <a:latin typeface="Microsoft YaHei"/>
              </a:rPr>
              <a:t>D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6734048" y="1401601"/>
            <a:ext cx="10058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60" b="1">
                <a:solidFill>
                  <a:srgbClr val="1E7F4F"/>
                </a:solidFill>
                <a:latin typeface="Microsoft YaHei"/>
              </a:rPr>
              <a:t>唯一拐点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6244295" y="2435047"/>
            <a:ext cx="11338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60" b="1">
                <a:solidFill>
                  <a:srgbClr val="C7000B"/>
                </a:solidFill>
                <a:latin typeface="Microsoft YaHei"/>
              </a:rPr>
              <a:t>禁 down→up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6291072" y="3364992"/>
            <a:ext cx="243230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10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蓝 = up（label 递减，朝根）　橙 = down（label 递增，离根）</a:t>
            </a:r>
          </a:p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1F2933"/>
                </a:solidFill>
                <a:latin typeface="Microsoft YaHei"/>
              </a:rPr>
              <a:t>合法路径形如 up* → down*，拐点最多一个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869680" y="1353312"/>
            <a:ext cx="2901391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>
                <a:solidFill>
                  <a:srgbClr val="C7000B"/>
                </a:solidFill>
                <a:latin typeface="Microsoft YaHei"/>
              </a:rPr>
              <a:t>唯一规则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先沿 label 递减方向走（up），一旦开始递增（down）就再也不许 up。实现是带相位的 BFS：相位 1 里禁掉所有 up 边。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>
                <a:solidFill>
                  <a:srgbClr val="C7000B"/>
                </a:solidFill>
                <a:latin typeface="Microsoft YaHei"/>
              </a:rPr>
              <a:t>为什么这样就无死锁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mesh 按 x+y 奇偶是二分图 ⇒ 相邻节点 label 必差 1，没有同层边，于是 up 通道 label 严格递减、down 严格递增。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CDG 只剩 up→up、up→down、down→down：段内 label 单调、跨段只能 up→down 单向 ⇒ 依赖链回不到起点，无环（构造性，1 VC）。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1">
                <a:solidFill>
                  <a:srgbClr val="1E7F4F"/>
                </a:solidFill>
                <a:latin typeface="Microsoft YaHei"/>
              </a:rPr>
              <a:t>→ 实测：48 个根 × 健康图与故障残图，同层边 0 条、CDG 成环 0 例。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274320" y="4133087"/>
            <a:ext cx="11643055" cy="1572768"/>
          </a:xfrm>
          <a:prstGeom prst="roundRect">
            <a:avLst>
              <a:gd name="adj" fmla="val 2325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5" name="Rounded Rectangle 204"/>
          <p:cNvSpPr/>
          <p:nvPr/>
        </p:nvSpPr>
        <p:spPr>
          <a:xfrm>
            <a:off x="274320" y="4133087"/>
            <a:ext cx="11643055" cy="292608"/>
          </a:xfrm>
          <a:prstGeom prst="roundRect">
            <a:avLst>
              <a:gd name="adj" fmla="val 125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274320" y="4133087"/>
            <a:ext cx="50292" cy="292608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420623" y="4160520"/>
            <a:ext cx="1136873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③ M3′ 相对 M3 的唯一增量：把「根」当自由参数搜一遍（可行性与无死锁完全不变）</a:t>
            </a:r>
          </a:p>
        </p:txBody>
      </p:sp>
      <p:cxnSp>
        <p:nvCxnSpPr>
          <p:cNvPr id="208" name="Connector 207"/>
          <p:cNvCxnSpPr/>
          <p:nvPr/>
        </p:nvCxnSpPr>
        <p:spPr>
          <a:xfrm>
            <a:off x="576834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576834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799991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799991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1023148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1023148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1246305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1246305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1469462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1469462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1692619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1692619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1915776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1915776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2138933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576834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576834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799991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799991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1023148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1692619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1692619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1915776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1915776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2138933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576834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576834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799991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>
            <a:off x="799991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1692619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>
            <a:off x="1692619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>
            <a:off x="1915776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>
            <a:off x="1915776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>
            <a:off x="2138933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576834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576834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>
            <a:off x="799991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>
            <a:off x="799991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>
            <a:off x="1023148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>
            <a:off x="1246305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>
            <a:off x="1246305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>
            <a:off x="1469462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>
            <a:off x="1469462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>
            <a:off x="1692619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>
            <a:off x="1692619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>
            <a:off x="1915776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>
            <a:off x="1915776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>
            <a:off x="2138933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>
            <a:off x="576834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>
            <a:off x="576834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>
            <a:off x="799991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>
            <a:off x="1023148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>
            <a:off x="1023148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>
            <a:off x="1246305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>
            <a:off x="1246305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>
            <a:off x="1469462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>
            <a:off x="1469462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>
            <a:off x="1692619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>
            <a:off x="1692619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>
            <a:off x="1915776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>
            <a:off x="1915776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>
            <a:off x="2138933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>
            <a:off x="576834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>
            <a:off x="799991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1023148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>
            <a:off x="1246305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>
            <a:off x="1469462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>
            <a:off x="1692619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>
            <a:off x="1915776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>
            <a:off x="1023148" y="4701444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>
            <a:off x="1246305" y="4701444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>
            <a:off x="1469462" y="4701444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1023148" y="4852892"/>
            <a:ext cx="0" cy="151447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>
            <a:off x="1023148" y="5004339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2" name="Oval 281"/>
          <p:cNvSpPr/>
          <p:nvPr/>
        </p:nvSpPr>
        <p:spPr>
          <a:xfrm>
            <a:off x="551087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774245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997402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220559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443716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1666873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1890030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2113187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551087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774245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997402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1220559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1443716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1666873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1890030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2113187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551087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774245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997402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1666873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1890030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113187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551087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774245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997402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1220559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1443716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1666873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1890030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2113187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551087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774245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997402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1220559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1443716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1666873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1890030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2113187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551087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774245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997402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1220559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1443716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1666873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1890030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2113187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8" name="Connector 327"/>
          <p:cNvCxnSpPr/>
          <p:nvPr/>
        </p:nvCxnSpPr>
        <p:spPr>
          <a:xfrm>
            <a:off x="1217984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 flipV="1">
            <a:off x="1217984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>
            <a:off x="1441141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 flipV="1">
            <a:off x="1441141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2" name="5-Point Star 331"/>
          <p:cNvSpPr/>
          <p:nvPr/>
        </p:nvSpPr>
        <p:spPr>
          <a:xfrm>
            <a:off x="740775" y="4642228"/>
            <a:ext cx="118431" cy="118431"/>
          </a:xfrm>
          <a:prstGeom prst="star5">
            <a:avLst/>
          </a:prstGeom>
          <a:solidFill>
            <a:srgbClr val="5A6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420624" y="5413248"/>
            <a:ext cx="1874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50"/>
              </a:spcAft>
            </a:pPr>
            <a:r>
              <a:rPr sz="800" b="1">
                <a:solidFill>
                  <a:srgbClr val="5A6673"/>
                </a:solidFill>
                <a:latin typeface="Microsoft YaHei"/>
              </a:rPr>
              <a:t>M3：根 = 度最大点</a:t>
            </a:r>
          </a:p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00" b="1">
                <a:solidFill>
                  <a:srgbClr val="5A6673"/>
                </a:solidFill>
                <a:latin typeface="Microsoft YaHei"/>
              </a:rPr>
              <a:t>峰值链路负载 258</a:t>
            </a:r>
          </a:p>
        </p:txBody>
      </p:sp>
      <p:cxnSp>
        <p:nvCxnSpPr>
          <p:cNvPr id="334" name="Connector 333"/>
          <p:cNvCxnSpPr/>
          <p:nvPr/>
        </p:nvCxnSpPr>
        <p:spPr>
          <a:xfrm>
            <a:off x="2551938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2551938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2775095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2775095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2998252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>
            <a:off x="2998252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>
            <a:off x="3221409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>
            <a:off x="3221409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>
            <a:off x="3444566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3444566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3667723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3667723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>
            <a:off x="3890880" y="4549997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>
            <a:off x="3890880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4114038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2551938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>
            <a:off x="2551938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>
            <a:off x="2775095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>
            <a:off x="2775095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2998252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>
            <a:off x="2998252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3221409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3444566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3667723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3667723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3890880" y="4701444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3890880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4114038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>
            <a:off x="2551938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>
            <a:off x="2551938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>
            <a:off x="2775095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>
            <a:off x="2775095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>
            <a:off x="3667723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>
            <a:off x="3890880" y="4852892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>
            <a:off x="3890880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>
            <a:off x="4114038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>
            <a:off x="2551938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>
            <a:off x="2551938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>
            <a:off x="2775095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>
            <a:off x="2775095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>
            <a:off x="2998252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>
            <a:off x="3221409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375"/>
          <p:cNvCxnSpPr/>
          <p:nvPr/>
        </p:nvCxnSpPr>
        <p:spPr>
          <a:xfrm>
            <a:off x="3444566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376"/>
          <p:cNvCxnSpPr/>
          <p:nvPr/>
        </p:nvCxnSpPr>
        <p:spPr>
          <a:xfrm>
            <a:off x="3667723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nector 377"/>
          <p:cNvCxnSpPr/>
          <p:nvPr/>
        </p:nvCxnSpPr>
        <p:spPr>
          <a:xfrm>
            <a:off x="3667723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>
            <a:off x="3890880" y="5004339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>
            <a:off x="3890880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>
            <a:off x="4114038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nector 381"/>
          <p:cNvCxnSpPr/>
          <p:nvPr/>
        </p:nvCxnSpPr>
        <p:spPr>
          <a:xfrm>
            <a:off x="2551938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Connector 382"/>
          <p:cNvCxnSpPr/>
          <p:nvPr/>
        </p:nvCxnSpPr>
        <p:spPr>
          <a:xfrm>
            <a:off x="2551938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>
            <a:off x="2775095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>
            <a:off x="2998252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>
            <a:off x="2998252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386"/>
          <p:cNvCxnSpPr/>
          <p:nvPr/>
        </p:nvCxnSpPr>
        <p:spPr>
          <a:xfrm>
            <a:off x="3221409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387"/>
          <p:cNvCxnSpPr/>
          <p:nvPr/>
        </p:nvCxnSpPr>
        <p:spPr>
          <a:xfrm>
            <a:off x="3221409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>
            <a:off x="3444566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>
            <a:off x="3444566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>
            <a:off x="3667723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>
            <a:off x="3667723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>
            <a:off x="3890880" y="5155787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>
            <a:off x="3890880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>
            <a:off x="4114038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>
            <a:off x="2551938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>
            <a:off x="2775095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>
            <a:off x="2998252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>
            <a:off x="3221409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>
            <a:off x="3444566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>
            <a:off x="3667723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>
            <a:off x="3890880" y="5307234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>
            <a:off x="2998252" y="4852892"/>
            <a:ext cx="0" cy="151447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>
            <a:off x="3667723" y="4852892"/>
            <a:ext cx="0" cy="151447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>
            <a:off x="2998252" y="5004339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>
            <a:off x="3221409" y="5004339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>
            <a:off x="3444566" y="5004339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8" name="Oval 407"/>
          <p:cNvSpPr/>
          <p:nvPr/>
        </p:nvSpPr>
        <p:spPr>
          <a:xfrm>
            <a:off x="2526191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2749349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2972506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3195663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3418820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3641977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3865134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4088291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2526191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2749349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2972506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3195663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3418820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3641977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3865134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4088291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2526191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2749349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2972506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3641977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3865134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4088291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2526191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2749349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2972506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3195663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418820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3641977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3865134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4088291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2526191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2749349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2972506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3195663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3418820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3641977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3865134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4088291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2526191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2749349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2972506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3195663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3418820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3641977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3865134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4088291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4" name="Connector 453"/>
          <p:cNvCxnSpPr/>
          <p:nvPr/>
        </p:nvCxnSpPr>
        <p:spPr>
          <a:xfrm>
            <a:off x="3193088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nector 454"/>
          <p:cNvCxnSpPr/>
          <p:nvPr/>
        </p:nvCxnSpPr>
        <p:spPr>
          <a:xfrm flipV="1">
            <a:off x="3193088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Connector 455"/>
          <p:cNvCxnSpPr/>
          <p:nvPr/>
        </p:nvCxnSpPr>
        <p:spPr>
          <a:xfrm>
            <a:off x="3416245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Connector 456"/>
          <p:cNvCxnSpPr/>
          <p:nvPr/>
        </p:nvCxnSpPr>
        <p:spPr>
          <a:xfrm flipV="1">
            <a:off x="3416245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8" name="5-Point Star 457"/>
          <p:cNvSpPr/>
          <p:nvPr/>
        </p:nvSpPr>
        <p:spPr>
          <a:xfrm>
            <a:off x="2492722" y="5248018"/>
            <a:ext cx="118431" cy="118431"/>
          </a:xfrm>
          <a:prstGeom prst="star5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TextBox 458"/>
          <p:cNvSpPr txBox="1"/>
          <p:nvPr/>
        </p:nvSpPr>
        <p:spPr>
          <a:xfrm>
            <a:off x="2395728" y="5413248"/>
            <a:ext cx="1874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50"/>
              </a:spcAft>
            </a:pPr>
            <a:r>
              <a:rPr sz="800" b="1">
                <a:solidFill>
                  <a:srgbClr val="0B6BA8"/>
                </a:solidFill>
                <a:latin typeface="Microsoft YaHei"/>
              </a:rPr>
              <a:t>M3′：根 = 负载最优</a:t>
            </a:r>
          </a:p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00" b="1">
                <a:solidFill>
                  <a:srgbClr val="0B6BA8"/>
                </a:solidFill>
                <a:latin typeface="Microsoft YaHei"/>
              </a:rPr>
              <a:t>峰值链路负载 204</a:t>
            </a:r>
          </a:p>
        </p:txBody>
      </p:sp>
      <p:sp>
        <p:nvSpPr>
          <p:cNvPr id="460" name="TextBox 459"/>
          <p:cNvSpPr txBox="1"/>
          <p:nvPr/>
        </p:nvSpPr>
        <p:spPr>
          <a:xfrm>
            <a:off x="4480560" y="4480559"/>
            <a:ext cx="3703320" cy="1152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40" b="1">
                <a:solidFill>
                  <a:srgbClr val="0B6BA8"/>
                </a:solidFill>
                <a:latin typeface="Microsoft YaHei"/>
              </a:rPr>
              <a:t>搜索方式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枚举残图上每个存活 router 当根 → 各建一张完整表 → 全表校验 → 按 (max_link_load, 总跳数, root id) 取最小。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0">
                <a:solidFill>
                  <a:srgbClr val="1F2933"/>
                </a:solidFill>
                <a:latin typeface="Microsoft YaHei"/>
              </a:rPr>
              <a:t>离线一次算完，运行时仍是一张静态表，不增加任何硬件。</a:t>
            </a:r>
          </a:p>
        </p:txBody>
      </p:sp>
      <p:sp>
        <p:nvSpPr>
          <p:cNvPr id="461" name="TextBox 460"/>
          <p:cNvSpPr txBox="1"/>
          <p:nvPr/>
        </p:nvSpPr>
        <p:spPr>
          <a:xfrm>
            <a:off x="8321040" y="4480559"/>
            <a:ext cx="3450031" cy="1152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40" b="1">
                <a:solidFill>
                  <a:srgbClr val="0B6BA8"/>
                </a:solidFill>
                <a:latin typeface="Microsoft YaHei"/>
              </a:rPr>
              <a:t>为什么换根有效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根附近的链路要承担所有跨区流量。根放在度最大的中心点时，全阵流量挤过中心「脊」；把根挪到边角，高度层沿对角展开，峰值链路负载显著下降。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1">
                <a:solidFill>
                  <a:srgbClr val="1E7F4F"/>
                </a:solidFill>
                <a:latin typeface="Microsoft YaHei"/>
              </a:rPr>
              <a:t>本例（2 洞 + 1 断链）：峰值 258 → 204，低 21%。</a:t>
            </a:r>
          </a:p>
        </p:txBody>
      </p:sp>
      <p:sp>
        <p:nvSpPr>
          <p:cNvPr id="462" name="Rounded Rectangle 461"/>
          <p:cNvSpPr/>
          <p:nvPr/>
        </p:nvSpPr>
        <p:spPr>
          <a:xfrm>
            <a:off x="274320" y="5852160"/>
            <a:ext cx="11643055" cy="822960"/>
          </a:xfrm>
          <a:prstGeom prst="roundRect">
            <a:avLst>
              <a:gd name="adj" fmla="val 4444"/>
            </a:avLst>
          </a:prstGeom>
          <a:solidFill>
            <a:srgbClr val="FBF0F0"/>
          </a:solidFill>
          <a:ln w="1143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3" name="Rectangle 462"/>
          <p:cNvSpPr/>
          <p:nvPr/>
        </p:nvSpPr>
        <p:spPr>
          <a:xfrm>
            <a:off x="274320" y="5852160"/>
            <a:ext cx="50292" cy="82296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4" name="TextBox 463"/>
          <p:cNvSpPr txBox="1"/>
          <p:nvPr/>
        </p:nvSpPr>
        <p:spPr>
          <a:xfrm>
            <a:off x="438912" y="5943600"/>
            <a:ext cx="530352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50"/>
              </a:spcAft>
            </a:pPr>
            <a:r>
              <a:rPr sz="960" b="1">
                <a:solidFill>
                  <a:srgbClr val="C7000B"/>
                </a:solidFill>
                <a:latin typeface="Microsoft YaHei"/>
              </a:rPr>
              <a:t>第三条性质：保序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0">
                <a:solidFill>
                  <a:srgbClr val="1F2933"/>
                </a:solidFill>
                <a:latin typeface="Microsoft YaHei"/>
              </a:rPr>
              <a:t>每对源宿的路径由离线 BFS 唯一确定，运行时不自适应、单 VC 不换道 ⇒ 同一对的 flit 天然按序到达。</a:t>
            </a:r>
          </a:p>
        </p:txBody>
      </p:sp>
      <p:sp>
        <p:nvSpPr>
          <p:cNvPr id="465" name="TextBox 464"/>
          <p:cNvSpPr txBox="1"/>
          <p:nvPr/>
        </p:nvSpPr>
        <p:spPr>
          <a:xfrm>
            <a:off x="5989320" y="5943600"/>
            <a:ext cx="5790895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50"/>
              </a:spcAft>
            </a:pPr>
            <a:r>
              <a:rPr sz="960" b="1">
                <a:solidFill>
                  <a:srgbClr val="C7000B"/>
                </a:solidFill>
                <a:latin typeface="Microsoft YaHei"/>
              </a:rPr>
              <a:t>端到端收益（44 场景，物理 1 VC，area 0.897，与 M3 同硬件）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0">
                <a:solidFill>
                  <a:srgbClr val="1F2933"/>
                </a:solidFill>
                <a:latin typeface="Microsoft YaHei"/>
              </a:rPr>
              <a:t>最差 T_e2e：M3 893 ns → M3′ 790 ns（−11.5%）；中位 621 → 574 ns。轻载 m0=1 时 M3′ 是 1 VC 方案里的 Pareto 前沿点。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841248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91440"/>
            <a:ext cx="11521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</a:rPr>
              <a:t>M3′ Up*/Down*：容错的严格证明 · 同一残图上的负载热点对比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502920"/>
            <a:ext cx="11521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C3CBD4"/>
                </a:solidFill>
                <a:latin typeface="Microsoft YaHei"/>
              </a:rPr>
              <a:t>同一 partial good 下：XY 须牺牲 22/46 好节点才可路由；M3′ 零牺牲，代价是峰值 1.93× 割界，min-max 选路降到 1.45×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914400"/>
            <a:ext cx="11643055" cy="2779776"/>
          </a:xfrm>
          <a:prstGeom prst="roundRect">
            <a:avLst>
              <a:gd name="adj" fmla="val 1315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4320" y="914400"/>
            <a:ext cx="11643055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14400"/>
            <a:ext cx="50292" cy="2743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3" y="941832"/>
            <a:ext cx="1136873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① all-to-all 链路负载热点（物理 1 VC）：后三幅为同一 partial good 场景，四幅各按自身割界归一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453895"/>
            <a:ext cx="2697480" cy="1389888"/>
          </a:xfrm>
          <a:prstGeom prst="rect">
            <a:avLst/>
          </a:prstGeom>
          <a:solidFill>
            <a:srgbClr val="FDFDFE"/>
          </a:solidFill>
          <a:ln w="6350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" y="1261872"/>
            <a:ext cx="2697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5A6673"/>
                </a:solidFill>
                <a:latin typeface="Microsoft YaHei"/>
              </a:rPr>
              <a:t>参照：XY，无故障 48 节点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3584" y="1420803"/>
            <a:ext cx="0" cy="211909"/>
          </a:xfrm>
          <a:prstGeom prst="line">
            <a:avLst/>
          </a:prstGeom>
          <a:ln w="16774">
            <a:solidFill>
              <a:srgbClr val="B9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38582" y="1420803"/>
            <a:ext cx="0" cy="211909"/>
          </a:xfrm>
          <a:prstGeom prst="line">
            <a:avLst/>
          </a:prstGeom>
          <a:ln w="16774">
            <a:solidFill>
              <a:srgbClr val="B9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263579" y="1420803"/>
            <a:ext cx="0" cy="211909"/>
          </a:xfrm>
          <a:prstGeom prst="line">
            <a:avLst/>
          </a:prstGeom>
          <a:ln w="16774">
            <a:solidFill>
              <a:srgbClr val="B9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588577" y="1420803"/>
            <a:ext cx="0" cy="211909"/>
          </a:xfrm>
          <a:prstGeom prst="line">
            <a:avLst/>
          </a:prstGeom>
          <a:ln w="16774">
            <a:solidFill>
              <a:srgbClr val="B9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913574" y="1420803"/>
            <a:ext cx="0" cy="211909"/>
          </a:xfrm>
          <a:prstGeom prst="line">
            <a:avLst/>
          </a:prstGeom>
          <a:ln w="16774">
            <a:solidFill>
              <a:srgbClr val="B9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238572" y="1420803"/>
            <a:ext cx="0" cy="211909"/>
          </a:xfrm>
          <a:prstGeom prst="line">
            <a:avLst/>
          </a:prstGeom>
          <a:ln w="16774">
            <a:solidFill>
              <a:srgbClr val="B9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563569" y="1420803"/>
            <a:ext cx="0" cy="211909"/>
          </a:xfrm>
          <a:prstGeom prst="line">
            <a:avLst/>
          </a:prstGeom>
          <a:ln w="16774">
            <a:solidFill>
              <a:srgbClr val="B9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888567" y="1420803"/>
            <a:ext cx="0" cy="211909"/>
          </a:xfrm>
          <a:prstGeom prst="line">
            <a:avLst/>
          </a:prstGeom>
          <a:ln w="16774">
            <a:solidFill>
              <a:srgbClr val="B9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13584" y="2268437"/>
            <a:ext cx="0" cy="211909"/>
          </a:xfrm>
          <a:prstGeom prst="line">
            <a:avLst/>
          </a:prstGeom>
          <a:ln w="16774">
            <a:solidFill>
              <a:srgbClr val="B9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38582" y="2268437"/>
            <a:ext cx="0" cy="211909"/>
          </a:xfrm>
          <a:prstGeom prst="line">
            <a:avLst/>
          </a:prstGeom>
          <a:ln w="16774">
            <a:solidFill>
              <a:srgbClr val="B9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263579" y="2268437"/>
            <a:ext cx="0" cy="211909"/>
          </a:xfrm>
          <a:prstGeom prst="line">
            <a:avLst/>
          </a:prstGeom>
          <a:ln w="16774">
            <a:solidFill>
              <a:srgbClr val="B9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588577" y="2268437"/>
            <a:ext cx="0" cy="211909"/>
          </a:xfrm>
          <a:prstGeom prst="line">
            <a:avLst/>
          </a:prstGeom>
          <a:ln w="16774">
            <a:solidFill>
              <a:srgbClr val="B9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913574" y="2268437"/>
            <a:ext cx="0" cy="211909"/>
          </a:xfrm>
          <a:prstGeom prst="line">
            <a:avLst/>
          </a:prstGeom>
          <a:ln w="16774">
            <a:solidFill>
              <a:srgbClr val="B9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238572" y="2268437"/>
            <a:ext cx="0" cy="211909"/>
          </a:xfrm>
          <a:prstGeom prst="line">
            <a:avLst/>
          </a:prstGeom>
          <a:ln w="16774">
            <a:solidFill>
              <a:srgbClr val="B9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563569" y="2268437"/>
            <a:ext cx="0" cy="211909"/>
          </a:xfrm>
          <a:prstGeom prst="line">
            <a:avLst/>
          </a:prstGeom>
          <a:ln w="16774">
            <a:solidFill>
              <a:srgbClr val="B9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888567" y="2268437"/>
            <a:ext cx="0" cy="211909"/>
          </a:xfrm>
          <a:prstGeom prst="line">
            <a:avLst/>
          </a:prstGeom>
          <a:ln w="16774">
            <a:solidFill>
              <a:srgbClr val="B9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13584" y="1420803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563569" y="1420803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13584" y="1632712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563569" y="1632712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13584" y="1844620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563569" y="1844620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13584" y="2056529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563569" y="2056529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13584" y="2268437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563569" y="2268437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13584" y="2480346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563569" y="2480346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13584" y="1632712"/>
            <a:ext cx="0" cy="211908"/>
          </a:xfrm>
          <a:prstGeom prst="line">
            <a:avLst/>
          </a:prstGeom>
          <a:ln w="20743">
            <a:solidFill>
              <a:srgbClr val="B9CA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38582" y="1632712"/>
            <a:ext cx="0" cy="211908"/>
          </a:xfrm>
          <a:prstGeom prst="line">
            <a:avLst/>
          </a:prstGeom>
          <a:ln w="20743">
            <a:solidFill>
              <a:srgbClr val="B9CA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263579" y="1632712"/>
            <a:ext cx="0" cy="211908"/>
          </a:xfrm>
          <a:prstGeom prst="line">
            <a:avLst/>
          </a:prstGeom>
          <a:ln w="20743">
            <a:solidFill>
              <a:srgbClr val="B9CA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588577" y="1632712"/>
            <a:ext cx="0" cy="211908"/>
          </a:xfrm>
          <a:prstGeom prst="line">
            <a:avLst/>
          </a:prstGeom>
          <a:ln w="20743">
            <a:solidFill>
              <a:srgbClr val="B9CA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913574" y="1632712"/>
            <a:ext cx="0" cy="211908"/>
          </a:xfrm>
          <a:prstGeom prst="line">
            <a:avLst/>
          </a:prstGeom>
          <a:ln w="20743">
            <a:solidFill>
              <a:srgbClr val="B9CA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238572" y="1632712"/>
            <a:ext cx="0" cy="211908"/>
          </a:xfrm>
          <a:prstGeom prst="line">
            <a:avLst/>
          </a:prstGeom>
          <a:ln w="20743">
            <a:solidFill>
              <a:srgbClr val="B9CA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563569" y="1632712"/>
            <a:ext cx="0" cy="211908"/>
          </a:xfrm>
          <a:prstGeom prst="line">
            <a:avLst/>
          </a:prstGeom>
          <a:ln w="20743">
            <a:solidFill>
              <a:srgbClr val="B9CA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888567" y="1632712"/>
            <a:ext cx="0" cy="211908"/>
          </a:xfrm>
          <a:prstGeom prst="line">
            <a:avLst/>
          </a:prstGeom>
          <a:ln w="20743">
            <a:solidFill>
              <a:srgbClr val="B9CA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13584" y="2056529"/>
            <a:ext cx="0" cy="211908"/>
          </a:xfrm>
          <a:prstGeom prst="line">
            <a:avLst/>
          </a:prstGeom>
          <a:ln w="20743">
            <a:solidFill>
              <a:srgbClr val="B9CA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38582" y="2056529"/>
            <a:ext cx="0" cy="211908"/>
          </a:xfrm>
          <a:prstGeom prst="line">
            <a:avLst/>
          </a:prstGeom>
          <a:ln w="20743">
            <a:solidFill>
              <a:srgbClr val="B9CA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263579" y="2056529"/>
            <a:ext cx="0" cy="211908"/>
          </a:xfrm>
          <a:prstGeom prst="line">
            <a:avLst/>
          </a:prstGeom>
          <a:ln w="20743">
            <a:solidFill>
              <a:srgbClr val="B9CA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588577" y="2056529"/>
            <a:ext cx="0" cy="211908"/>
          </a:xfrm>
          <a:prstGeom prst="line">
            <a:avLst/>
          </a:prstGeom>
          <a:ln w="20743">
            <a:solidFill>
              <a:srgbClr val="B9CA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913574" y="2056529"/>
            <a:ext cx="0" cy="211908"/>
          </a:xfrm>
          <a:prstGeom prst="line">
            <a:avLst/>
          </a:prstGeom>
          <a:ln w="20743">
            <a:solidFill>
              <a:srgbClr val="B9CA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238572" y="2056529"/>
            <a:ext cx="0" cy="211908"/>
          </a:xfrm>
          <a:prstGeom prst="line">
            <a:avLst/>
          </a:prstGeom>
          <a:ln w="20743">
            <a:solidFill>
              <a:srgbClr val="B9CA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563569" y="2056529"/>
            <a:ext cx="0" cy="211908"/>
          </a:xfrm>
          <a:prstGeom prst="line">
            <a:avLst/>
          </a:prstGeom>
          <a:ln w="20743">
            <a:solidFill>
              <a:srgbClr val="B9CA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888567" y="2056529"/>
            <a:ext cx="0" cy="211908"/>
          </a:xfrm>
          <a:prstGeom prst="line">
            <a:avLst/>
          </a:prstGeom>
          <a:ln w="20743">
            <a:solidFill>
              <a:srgbClr val="B9CA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38582" y="1420803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238572" y="1420803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38582" y="1632712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238572" y="1632712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613584" y="1844620"/>
            <a:ext cx="0" cy="211909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938582" y="1844620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938582" y="1844620"/>
            <a:ext cx="0" cy="211909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263579" y="1844620"/>
            <a:ext cx="0" cy="211909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588577" y="1844620"/>
            <a:ext cx="0" cy="211909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913574" y="1844620"/>
            <a:ext cx="0" cy="211909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238572" y="1844620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238572" y="1844620"/>
            <a:ext cx="0" cy="211909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563569" y="1844620"/>
            <a:ext cx="0" cy="211909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888567" y="1844620"/>
            <a:ext cx="0" cy="211909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938582" y="2056529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238572" y="2056529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938582" y="2268437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238572" y="2268437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938582" y="2480346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238572" y="2480346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1263579" y="1420803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1913574" y="1420803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263579" y="1632712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913574" y="1632712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263579" y="1844620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913574" y="1844620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1263579" y="2056529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1913574" y="2056529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1263579" y="2268437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1913574" y="2268437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263579" y="2480346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913574" y="2480346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588577" y="1420803"/>
            <a:ext cx="324997" cy="0"/>
          </a:xfrm>
          <a:prstGeom prst="line">
            <a:avLst/>
          </a:prstGeom>
          <a:ln w="26034">
            <a:solidFill>
              <a:srgbClr val="ECC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588577" y="1632712"/>
            <a:ext cx="324997" cy="0"/>
          </a:xfrm>
          <a:prstGeom prst="line">
            <a:avLst/>
          </a:prstGeom>
          <a:ln w="26034">
            <a:solidFill>
              <a:srgbClr val="ECC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588577" y="1844620"/>
            <a:ext cx="324997" cy="0"/>
          </a:xfrm>
          <a:prstGeom prst="line">
            <a:avLst/>
          </a:prstGeom>
          <a:ln w="26034">
            <a:solidFill>
              <a:srgbClr val="ECC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1588577" y="2056529"/>
            <a:ext cx="324997" cy="0"/>
          </a:xfrm>
          <a:prstGeom prst="line">
            <a:avLst/>
          </a:prstGeom>
          <a:ln w="26034">
            <a:solidFill>
              <a:srgbClr val="ECC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588577" y="2268437"/>
            <a:ext cx="324997" cy="0"/>
          </a:xfrm>
          <a:prstGeom prst="line">
            <a:avLst/>
          </a:prstGeom>
          <a:ln w="26034">
            <a:solidFill>
              <a:srgbClr val="ECC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588577" y="2480346"/>
            <a:ext cx="324997" cy="0"/>
          </a:xfrm>
          <a:prstGeom prst="line">
            <a:avLst/>
          </a:prstGeom>
          <a:ln w="26034">
            <a:solidFill>
              <a:srgbClr val="ECC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Oval 94"/>
          <p:cNvSpPr/>
          <p:nvPr/>
        </p:nvSpPr>
        <p:spPr>
          <a:xfrm>
            <a:off x="581798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906795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231793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556790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881788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2206786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2531783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2856781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581798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906795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231793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556790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881788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206786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2531783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2856781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581798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906795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231793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556790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881788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2206786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2531783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2856781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581798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906795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231793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556790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881788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2206786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2531783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2856781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581798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906795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231793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556790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881788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2206786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2531783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2856781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581798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06795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1231793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556790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881788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2206786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2531783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2856781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402336" y="2798064"/>
            <a:ext cx="2697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0">
                <a:solidFill>
                  <a:srgbClr val="5A6673"/>
                </a:solidFill>
                <a:latin typeface="Microsoft YaHei"/>
              </a:rPr>
              <a:t>峰值 96 = 1.00× 割界（最均衡）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02336" y="2999232"/>
            <a:ext cx="2697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1">
                <a:solidFill>
                  <a:srgbClr val="5A6673"/>
                </a:solidFill>
                <a:latin typeface="Microsoft YaHei"/>
              </a:rPr>
              <a:t>但零容错：44 场景 0 次零牺牲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3300984" y="1453895"/>
            <a:ext cx="2697480" cy="1389888"/>
          </a:xfrm>
          <a:prstGeom prst="rect">
            <a:avLst/>
          </a:prstGeom>
          <a:solidFill>
            <a:srgbClr val="FDFDFE"/>
          </a:solidFill>
          <a:ln w="6350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3300984" y="1261872"/>
            <a:ext cx="2697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0B6BA8"/>
                </a:solidFill>
                <a:latin typeface="Microsoft YaHei"/>
              </a:rPr>
              <a:t>XY，同一残图（牺牲后）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4487225" y="1420803"/>
            <a:ext cx="0" cy="211909"/>
          </a:xfrm>
          <a:prstGeom prst="line">
            <a:avLst/>
          </a:prstGeom>
          <a:ln w="10160">
            <a:solidFill>
              <a:srgbClr val="DDE3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4812222" y="1420803"/>
            <a:ext cx="0" cy="211909"/>
          </a:xfrm>
          <a:prstGeom prst="line">
            <a:avLst/>
          </a:prstGeom>
          <a:ln w="10160">
            <a:solidFill>
              <a:srgbClr val="DDE3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3512232" y="1844620"/>
            <a:ext cx="324998" cy="0"/>
          </a:xfrm>
          <a:prstGeom prst="line">
            <a:avLst/>
          </a:prstGeom>
          <a:ln w="10160">
            <a:solidFill>
              <a:srgbClr val="DDE3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3837230" y="1844620"/>
            <a:ext cx="324997" cy="0"/>
          </a:xfrm>
          <a:prstGeom prst="line">
            <a:avLst/>
          </a:prstGeom>
          <a:ln w="10160">
            <a:solidFill>
              <a:srgbClr val="DDE3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5137220" y="1844620"/>
            <a:ext cx="324997" cy="0"/>
          </a:xfrm>
          <a:prstGeom prst="line">
            <a:avLst/>
          </a:prstGeom>
          <a:ln w="10160">
            <a:solidFill>
              <a:srgbClr val="DDE3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5462217" y="1844620"/>
            <a:ext cx="324998" cy="0"/>
          </a:xfrm>
          <a:prstGeom prst="line">
            <a:avLst/>
          </a:prstGeom>
          <a:ln w="10160">
            <a:solidFill>
              <a:srgbClr val="DDE3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4487225" y="2056529"/>
            <a:ext cx="0" cy="211908"/>
          </a:xfrm>
          <a:prstGeom prst="line">
            <a:avLst/>
          </a:prstGeom>
          <a:ln w="10160">
            <a:solidFill>
              <a:srgbClr val="DDE3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4812222" y="2056529"/>
            <a:ext cx="0" cy="211908"/>
          </a:xfrm>
          <a:prstGeom prst="line">
            <a:avLst/>
          </a:prstGeom>
          <a:ln w="10160">
            <a:solidFill>
              <a:srgbClr val="DDE3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3512232" y="2268437"/>
            <a:ext cx="324998" cy="0"/>
          </a:xfrm>
          <a:prstGeom prst="line">
            <a:avLst/>
          </a:prstGeom>
          <a:ln w="10160">
            <a:solidFill>
              <a:srgbClr val="DDE3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4162227" y="2268437"/>
            <a:ext cx="324998" cy="0"/>
          </a:xfrm>
          <a:prstGeom prst="line">
            <a:avLst/>
          </a:prstGeom>
          <a:ln w="10160">
            <a:solidFill>
              <a:srgbClr val="DDE3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4487225" y="2268437"/>
            <a:ext cx="324997" cy="0"/>
          </a:xfrm>
          <a:prstGeom prst="line">
            <a:avLst/>
          </a:prstGeom>
          <a:ln w="10160">
            <a:solidFill>
              <a:srgbClr val="DDE3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4487225" y="2268437"/>
            <a:ext cx="0" cy="211909"/>
          </a:xfrm>
          <a:prstGeom prst="line">
            <a:avLst/>
          </a:prstGeom>
          <a:ln w="10160">
            <a:solidFill>
              <a:srgbClr val="DDE3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4812222" y="2268437"/>
            <a:ext cx="324998" cy="0"/>
          </a:xfrm>
          <a:prstGeom prst="line">
            <a:avLst/>
          </a:prstGeom>
          <a:ln w="10160">
            <a:solidFill>
              <a:srgbClr val="DDE3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4812222" y="2268437"/>
            <a:ext cx="0" cy="211909"/>
          </a:xfrm>
          <a:prstGeom prst="line">
            <a:avLst/>
          </a:prstGeom>
          <a:ln w="10160">
            <a:solidFill>
              <a:srgbClr val="DDE3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5137220" y="2268437"/>
            <a:ext cx="324997" cy="0"/>
          </a:xfrm>
          <a:prstGeom prst="line">
            <a:avLst/>
          </a:prstGeom>
          <a:ln w="10160">
            <a:solidFill>
              <a:srgbClr val="DDE3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5462217" y="2268437"/>
            <a:ext cx="324998" cy="0"/>
          </a:xfrm>
          <a:prstGeom prst="line">
            <a:avLst/>
          </a:prstGeom>
          <a:ln w="10160">
            <a:solidFill>
              <a:srgbClr val="DDE3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3512232" y="1420803"/>
            <a:ext cx="0" cy="211909"/>
          </a:xfrm>
          <a:prstGeom prst="line">
            <a:avLst/>
          </a:prstGeom>
          <a:ln w="20013">
            <a:solidFill>
              <a:srgbClr val="B2CA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3837230" y="1420803"/>
            <a:ext cx="0" cy="211909"/>
          </a:xfrm>
          <a:prstGeom prst="line">
            <a:avLst/>
          </a:prstGeom>
          <a:ln w="20013">
            <a:solidFill>
              <a:srgbClr val="B2CA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4162227" y="1420803"/>
            <a:ext cx="0" cy="211909"/>
          </a:xfrm>
          <a:prstGeom prst="line">
            <a:avLst/>
          </a:prstGeom>
          <a:ln w="20013">
            <a:solidFill>
              <a:srgbClr val="B2CA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5137220" y="1420803"/>
            <a:ext cx="0" cy="211909"/>
          </a:xfrm>
          <a:prstGeom prst="line">
            <a:avLst/>
          </a:prstGeom>
          <a:ln w="20013">
            <a:solidFill>
              <a:srgbClr val="B2CA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5462217" y="1420803"/>
            <a:ext cx="0" cy="211909"/>
          </a:xfrm>
          <a:prstGeom prst="line">
            <a:avLst/>
          </a:prstGeom>
          <a:ln w="20013">
            <a:solidFill>
              <a:srgbClr val="B2CA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5787215" y="1420803"/>
            <a:ext cx="0" cy="211909"/>
          </a:xfrm>
          <a:prstGeom prst="line">
            <a:avLst/>
          </a:prstGeom>
          <a:ln w="20013">
            <a:solidFill>
              <a:srgbClr val="B2CA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3512232" y="2056529"/>
            <a:ext cx="0" cy="211908"/>
          </a:xfrm>
          <a:prstGeom prst="line">
            <a:avLst/>
          </a:prstGeom>
          <a:ln w="20013">
            <a:solidFill>
              <a:srgbClr val="B2CA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3837230" y="2056529"/>
            <a:ext cx="0" cy="211908"/>
          </a:xfrm>
          <a:prstGeom prst="line">
            <a:avLst/>
          </a:prstGeom>
          <a:ln w="20013">
            <a:solidFill>
              <a:srgbClr val="B2CA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4162227" y="2056529"/>
            <a:ext cx="0" cy="211908"/>
          </a:xfrm>
          <a:prstGeom prst="line">
            <a:avLst/>
          </a:prstGeom>
          <a:ln w="20013">
            <a:solidFill>
              <a:srgbClr val="B2CA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>
            <a:off x="5137220" y="2056529"/>
            <a:ext cx="0" cy="211908"/>
          </a:xfrm>
          <a:prstGeom prst="line">
            <a:avLst/>
          </a:prstGeom>
          <a:ln w="20013">
            <a:solidFill>
              <a:srgbClr val="B2CA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>
            <a:off x="5462217" y="2056529"/>
            <a:ext cx="0" cy="211908"/>
          </a:xfrm>
          <a:prstGeom prst="line">
            <a:avLst/>
          </a:prstGeom>
          <a:ln w="20013">
            <a:solidFill>
              <a:srgbClr val="B2CA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>
            <a:off x="5787215" y="2056529"/>
            <a:ext cx="0" cy="211908"/>
          </a:xfrm>
          <a:prstGeom prst="line">
            <a:avLst/>
          </a:prstGeom>
          <a:ln w="20013">
            <a:solidFill>
              <a:srgbClr val="B2CA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>
            <a:off x="3512232" y="2268437"/>
            <a:ext cx="0" cy="211909"/>
          </a:xfrm>
          <a:prstGeom prst="line">
            <a:avLst/>
          </a:prstGeom>
          <a:ln w="20013">
            <a:solidFill>
              <a:srgbClr val="B2CA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>
            <a:off x="3837230" y="2268437"/>
            <a:ext cx="0" cy="211909"/>
          </a:xfrm>
          <a:prstGeom prst="line">
            <a:avLst/>
          </a:prstGeom>
          <a:ln w="20013">
            <a:solidFill>
              <a:srgbClr val="B2CA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>
            <a:off x="4162227" y="2268437"/>
            <a:ext cx="0" cy="211909"/>
          </a:xfrm>
          <a:prstGeom prst="line">
            <a:avLst/>
          </a:prstGeom>
          <a:ln w="20013">
            <a:solidFill>
              <a:srgbClr val="B2CA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5137220" y="2268437"/>
            <a:ext cx="0" cy="211909"/>
          </a:xfrm>
          <a:prstGeom prst="line">
            <a:avLst/>
          </a:prstGeom>
          <a:ln w="20013">
            <a:solidFill>
              <a:srgbClr val="B2CA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5462217" y="2268437"/>
            <a:ext cx="0" cy="211909"/>
          </a:xfrm>
          <a:prstGeom prst="line">
            <a:avLst/>
          </a:prstGeom>
          <a:ln w="20013">
            <a:solidFill>
              <a:srgbClr val="B2CA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>
            <a:off x="5787215" y="2268437"/>
            <a:ext cx="0" cy="211909"/>
          </a:xfrm>
          <a:prstGeom prst="line">
            <a:avLst/>
          </a:prstGeom>
          <a:ln w="20013">
            <a:solidFill>
              <a:srgbClr val="B2CA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>
            <a:off x="3512232" y="1420803"/>
            <a:ext cx="324998" cy="0"/>
          </a:xfrm>
          <a:prstGeom prst="line">
            <a:avLst/>
          </a:prstGeom>
          <a:ln w="21108">
            <a:solidFill>
              <a:srgbClr val="BDCB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5462217" y="1420803"/>
            <a:ext cx="324998" cy="0"/>
          </a:xfrm>
          <a:prstGeom prst="line">
            <a:avLst/>
          </a:prstGeom>
          <a:ln w="21108">
            <a:solidFill>
              <a:srgbClr val="BDCB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3512232" y="1632712"/>
            <a:ext cx="324998" cy="0"/>
          </a:xfrm>
          <a:prstGeom prst="line">
            <a:avLst/>
          </a:prstGeom>
          <a:ln w="21108">
            <a:solidFill>
              <a:srgbClr val="BDCB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5462217" y="1632712"/>
            <a:ext cx="324998" cy="0"/>
          </a:xfrm>
          <a:prstGeom prst="line">
            <a:avLst/>
          </a:prstGeom>
          <a:ln w="21108">
            <a:solidFill>
              <a:srgbClr val="BDCB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3512232" y="2056529"/>
            <a:ext cx="324998" cy="0"/>
          </a:xfrm>
          <a:prstGeom prst="line">
            <a:avLst/>
          </a:prstGeom>
          <a:ln w="21108">
            <a:solidFill>
              <a:srgbClr val="BDCB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5462217" y="2056529"/>
            <a:ext cx="324998" cy="0"/>
          </a:xfrm>
          <a:prstGeom prst="line">
            <a:avLst/>
          </a:prstGeom>
          <a:ln w="21108">
            <a:solidFill>
              <a:srgbClr val="BDCB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3512232" y="2480346"/>
            <a:ext cx="324998" cy="0"/>
          </a:xfrm>
          <a:prstGeom prst="line">
            <a:avLst/>
          </a:prstGeom>
          <a:ln w="21108">
            <a:solidFill>
              <a:srgbClr val="BDCB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5462217" y="2480346"/>
            <a:ext cx="324998" cy="0"/>
          </a:xfrm>
          <a:prstGeom prst="line">
            <a:avLst/>
          </a:prstGeom>
          <a:ln w="21108">
            <a:solidFill>
              <a:srgbClr val="BDCB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3512232" y="1632712"/>
            <a:ext cx="0" cy="211908"/>
          </a:xfrm>
          <a:prstGeom prst="line">
            <a:avLst/>
          </a:prstGeom>
          <a:ln w="23297">
            <a:solidFill>
              <a:srgbClr val="D2CC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3837230" y="1632712"/>
            <a:ext cx="0" cy="211908"/>
          </a:xfrm>
          <a:prstGeom prst="line">
            <a:avLst/>
          </a:prstGeom>
          <a:ln w="23297">
            <a:solidFill>
              <a:srgbClr val="D2CC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4162227" y="1632712"/>
            <a:ext cx="0" cy="211908"/>
          </a:xfrm>
          <a:prstGeom prst="line">
            <a:avLst/>
          </a:prstGeom>
          <a:ln w="23297">
            <a:solidFill>
              <a:srgbClr val="D2CC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5137220" y="1632712"/>
            <a:ext cx="0" cy="211908"/>
          </a:xfrm>
          <a:prstGeom prst="line">
            <a:avLst/>
          </a:prstGeom>
          <a:ln w="23297">
            <a:solidFill>
              <a:srgbClr val="D2CC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5462217" y="1632712"/>
            <a:ext cx="0" cy="211908"/>
          </a:xfrm>
          <a:prstGeom prst="line">
            <a:avLst/>
          </a:prstGeom>
          <a:ln w="23297">
            <a:solidFill>
              <a:srgbClr val="D2CC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5787215" y="1632712"/>
            <a:ext cx="0" cy="211908"/>
          </a:xfrm>
          <a:prstGeom prst="line">
            <a:avLst/>
          </a:prstGeom>
          <a:ln w="23297">
            <a:solidFill>
              <a:srgbClr val="D2CC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3512232" y="1844620"/>
            <a:ext cx="0" cy="211909"/>
          </a:xfrm>
          <a:prstGeom prst="line">
            <a:avLst/>
          </a:prstGeom>
          <a:ln w="23297">
            <a:solidFill>
              <a:srgbClr val="D2CC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3837230" y="1844620"/>
            <a:ext cx="0" cy="211909"/>
          </a:xfrm>
          <a:prstGeom prst="line">
            <a:avLst/>
          </a:prstGeom>
          <a:ln w="23297">
            <a:solidFill>
              <a:srgbClr val="D2CC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4162227" y="1844620"/>
            <a:ext cx="0" cy="211909"/>
          </a:xfrm>
          <a:prstGeom prst="line">
            <a:avLst/>
          </a:prstGeom>
          <a:ln w="23297">
            <a:solidFill>
              <a:srgbClr val="D2CC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5137220" y="1844620"/>
            <a:ext cx="0" cy="211909"/>
          </a:xfrm>
          <a:prstGeom prst="line">
            <a:avLst/>
          </a:prstGeom>
          <a:ln w="23297">
            <a:solidFill>
              <a:srgbClr val="D2CC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5462217" y="1844620"/>
            <a:ext cx="0" cy="211909"/>
          </a:xfrm>
          <a:prstGeom prst="line">
            <a:avLst/>
          </a:prstGeom>
          <a:ln w="23297">
            <a:solidFill>
              <a:srgbClr val="D2CC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>
            <a:off x="5787215" y="1844620"/>
            <a:ext cx="0" cy="211909"/>
          </a:xfrm>
          <a:prstGeom prst="line">
            <a:avLst/>
          </a:prstGeom>
          <a:ln w="23297">
            <a:solidFill>
              <a:srgbClr val="D2CC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>
            <a:off x="3837230" y="1420803"/>
            <a:ext cx="324997" cy="0"/>
          </a:xfrm>
          <a:prstGeom prst="line">
            <a:avLst/>
          </a:prstGeom>
          <a:ln w="27677">
            <a:solidFill>
              <a:srgbClr val="F0C5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>
            <a:off x="5137220" y="1420803"/>
            <a:ext cx="324997" cy="0"/>
          </a:xfrm>
          <a:prstGeom prst="line">
            <a:avLst/>
          </a:prstGeom>
          <a:ln w="27677">
            <a:solidFill>
              <a:srgbClr val="F0C5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>
            <a:off x="3837230" y="1632712"/>
            <a:ext cx="324997" cy="0"/>
          </a:xfrm>
          <a:prstGeom prst="line">
            <a:avLst/>
          </a:prstGeom>
          <a:ln w="27677">
            <a:solidFill>
              <a:srgbClr val="F0C5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>
            <a:off x="5137220" y="1632712"/>
            <a:ext cx="324997" cy="0"/>
          </a:xfrm>
          <a:prstGeom prst="line">
            <a:avLst/>
          </a:prstGeom>
          <a:ln w="27677">
            <a:solidFill>
              <a:srgbClr val="F0C5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>
            <a:off x="3837230" y="2056529"/>
            <a:ext cx="324997" cy="0"/>
          </a:xfrm>
          <a:prstGeom prst="line">
            <a:avLst/>
          </a:prstGeom>
          <a:ln w="27677">
            <a:solidFill>
              <a:srgbClr val="F0C5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>
            <a:off x="5137220" y="2056529"/>
            <a:ext cx="324997" cy="0"/>
          </a:xfrm>
          <a:prstGeom prst="line">
            <a:avLst/>
          </a:prstGeom>
          <a:ln w="27677">
            <a:solidFill>
              <a:srgbClr val="F0C5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>
            <a:off x="3837230" y="2480346"/>
            <a:ext cx="324997" cy="0"/>
          </a:xfrm>
          <a:prstGeom prst="line">
            <a:avLst/>
          </a:prstGeom>
          <a:ln w="27677">
            <a:solidFill>
              <a:srgbClr val="F0C5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>
            <a:off x="5137220" y="2480346"/>
            <a:ext cx="324997" cy="0"/>
          </a:xfrm>
          <a:prstGeom prst="line">
            <a:avLst/>
          </a:prstGeom>
          <a:ln w="27677">
            <a:solidFill>
              <a:srgbClr val="F0C5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4162227" y="1420803"/>
            <a:ext cx="324998" cy="0"/>
          </a:xfrm>
          <a:prstGeom prst="line">
            <a:avLst/>
          </a:prstGeom>
          <a:ln w="29866">
            <a:solidFill>
              <a:srgbClr val="EDAF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4487225" y="1420803"/>
            <a:ext cx="324997" cy="0"/>
          </a:xfrm>
          <a:prstGeom prst="line">
            <a:avLst/>
          </a:prstGeom>
          <a:ln w="29866">
            <a:solidFill>
              <a:srgbClr val="EDAF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4812222" y="1420803"/>
            <a:ext cx="324998" cy="0"/>
          </a:xfrm>
          <a:prstGeom prst="line">
            <a:avLst/>
          </a:prstGeom>
          <a:ln w="29866">
            <a:solidFill>
              <a:srgbClr val="EDAF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4162227" y="1632712"/>
            <a:ext cx="324998" cy="0"/>
          </a:xfrm>
          <a:prstGeom prst="line">
            <a:avLst/>
          </a:prstGeom>
          <a:ln w="29866">
            <a:solidFill>
              <a:srgbClr val="EDAF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4487225" y="1632712"/>
            <a:ext cx="324997" cy="0"/>
          </a:xfrm>
          <a:prstGeom prst="line">
            <a:avLst/>
          </a:prstGeom>
          <a:ln w="29866">
            <a:solidFill>
              <a:srgbClr val="EDAF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4812222" y="1632712"/>
            <a:ext cx="324998" cy="0"/>
          </a:xfrm>
          <a:prstGeom prst="line">
            <a:avLst/>
          </a:prstGeom>
          <a:ln w="29866">
            <a:solidFill>
              <a:srgbClr val="EDAF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4162227" y="2056529"/>
            <a:ext cx="324998" cy="0"/>
          </a:xfrm>
          <a:prstGeom prst="line">
            <a:avLst/>
          </a:prstGeom>
          <a:ln w="29866">
            <a:solidFill>
              <a:srgbClr val="EDAF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4487225" y="2056529"/>
            <a:ext cx="324997" cy="0"/>
          </a:xfrm>
          <a:prstGeom prst="line">
            <a:avLst/>
          </a:prstGeom>
          <a:ln w="29866">
            <a:solidFill>
              <a:srgbClr val="EDAF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4812222" y="2056529"/>
            <a:ext cx="324998" cy="0"/>
          </a:xfrm>
          <a:prstGeom prst="line">
            <a:avLst/>
          </a:prstGeom>
          <a:ln w="29866">
            <a:solidFill>
              <a:srgbClr val="EDAF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4162227" y="2480346"/>
            <a:ext cx="324998" cy="0"/>
          </a:xfrm>
          <a:prstGeom prst="line">
            <a:avLst/>
          </a:prstGeom>
          <a:ln w="29866">
            <a:solidFill>
              <a:srgbClr val="EDAF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4487225" y="2480346"/>
            <a:ext cx="324997" cy="0"/>
          </a:xfrm>
          <a:prstGeom prst="line">
            <a:avLst/>
          </a:prstGeom>
          <a:ln w="29866">
            <a:solidFill>
              <a:srgbClr val="EDAF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4812222" y="2480346"/>
            <a:ext cx="324998" cy="0"/>
          </a:xfrm>
          <a:prstGeom prst="line">
            <a:avLst/>
          </a:prstGeom>
          <a:ln w="29866">
            <a:solidFill>
              <a:srgbClr val="EDAF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3837230" y="2268437"/>
            <a:ext cx="324997" cy="0"/>
          </a:xfrm>
          <a:prstGeom prst="line">
            <a:avLst/>
          </a:prstGeom>
          <a:ln w="11430">
            <a:solidFill>
              <a:srgbClr val="9AA5B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3977478" y="2246187"/>
            <a:ext cx="44501" cy="44501"/>
          </a:xfrm>
          <a:prstGeom prst="line">
            <a:avLst/>
          </a:prstGeom>
          <a:ln w="114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 flipV="1">
            <a:off x="3977478" y="2246187"/>
            <a:ext cx="44501" cy="44501"/>
          </a:xfrm>
          <a:prstGeom prst="line">
            <a:avLst/>
          </a:prstGeom>
          <a:ln w="114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4" name="Oval 223"/>
          <p:cNvSpPr/>
          <p:nvPr/>
        </p:nvSpPr>
        <p:spPr>
          <a:xfrm>
            <a:off x="3480446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3805443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4130441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4457981" y="1391560"/>
            <a:ext cx="58486" cy="58486"/>
          </a:xfrm>
          <a:prstGeom prst="ellipse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4782979" y="1391560"/>
            <a:ext cx="58486" cy="58486"/>
          </a:xfrm>
          <a:prstGeom prst="ellipse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5105434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5430431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5755429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3480446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3805443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4130441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4457981" y="1603468"/>
            <a:ext cx="58486" cy="58486"/>
          </a:xfrm>
          <a:prstGeom prst="ellipse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4782979" y="1603468"/>
            <a:ext cx="58486" cy="58486"/>
          </a:xfrm>
          <a:prstGeom prst="ellipse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5105434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5430431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5755429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3482989" y="1815377"/>
            <a:ext cx="58486" cy="58486"/>
          </a:xfrm>
          <a:prstGeom prst="ellipse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3807986" y="1815377"/>
            <a:ext cx="58486" cy="58486"/>
          </a:xfrm>
          <a:prstGeom prst="ellipse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4132984" y="1815377"/>
            <a:ext cx="58486" cy="58486"/>
          </a:xfrm>
          <a:prstGeom prst="ellipse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5107977" y="1815377"/>
            <a:ext cx="58486" cy="58486"/>
          </a:xfrm>
          <a:prstGeom prst="ellipse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5432974" y="1815377"/>
            <a:ext cx="58486" cy="58486"/>
          </a:xfrm>
          <a:prstGeom prst="ellipse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5757972" y="1815377"/>
            <a:ext cx="58486" cy="58486"/>
          </a:xfrm>
          <a:prstGeom prst="ellipse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3480446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3805443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4130441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4457981" y="2027285"/>
            <a:ext cx="58486" cy="58486"/>
          </a:xfrm>
          <a:prstGeom prst="ellipse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4782979" y="2027285"/>
            <a:ext cx="58486" cy="58486"/>
          </a:xfrm>
          <a:prstGeom prst="ellipse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5105434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5430431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5755429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3482989" y="2239194"/>
            <a:ext cx="58486" cy="58486"/>
          </a:xfrm>
          <a:prstGeom prst="ellipse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3807986" y="2239194"/>
            <a:ext cx="58486" cy="58486"/>
          </a:xfrm>
          <a:prstGeom prst="ellipse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4132984" y="2239194"/>
            <a:ext cx="58486" cy="58486"/>
          </a:xfrm>
          <a:prstGeom prst="ellipse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4457981" y="2239194"/>
            <a:ext cx="58486" cy="58486"/>
          </a:xfrm>
          <a:prstGeom prst="ellipse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4782979" y="2239194"/>
            <a:ext cx="58486" cy="58486"/>
          </a:xfrm>
          <a:prstGeom prst="ellipse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5107977" y="2239194"/>
            <a:ext cx="58486" cy="58486"/>
          </a:xfrm>
          <a:prstGeom prst="ellipse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5432974" y="2239194"/>
            <a:ext cx="58486" cy="58486"/>
          </a:xfrm>
          <a:prstGeom prst="ellipse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5757972" y="2239194"/>
            <a:ext cx="58486" cy="58486"/>
          </a:xfrm>
          <a:prstGeom prst="ellipse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3480446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3805443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4130441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4457981" y="2451102"/>
            <a:ext cx="58486" cy="58486"/>
          </a:xfrm>
          <a:prstGeom prst="ellipse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4782979" y="2451102"/>
            <a:ext cx="58486" cy="58486"/>
          </a:xfrm>
          <a:prstGeom prst="ellipse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5105434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5430431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5755429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0" name="Connector 269"/>
          <p:cNvCxnSpPr/>
          <p:nvPr/>
        </p:nvCxnSpPr>
        <p:spPr>
          <a:xfrm>
            <a:off x="4455438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V="1">
            <a:off x="4455438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4780436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 flipV="1">
            <a:off x="4780436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4" name="TextBox 273"/>
          <p:cNvSpPr txBox="1"/>
          <p:nvPr/>
        </p:nvSpPr>
        <p:spPr>
          <a:xfrm>
            <a:off x="3300984" y="2798064"/>
            <a:ext cx="2697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0">
                <a:solidFill>
                  <a:srgbClr val="5A6673"/>
                </a:solidFill>
                <a:latin typeface="Microsoft YaHei"/>
              </a:rPr>
              <a:t>空心 = 被牺牲的好节点，仅 24/46 参与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3300984" y="2999232"/>
            <a:ext cx="2697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1">
                <a:solidFill>
                  <a:srgbClr val="0B6BA8"/>
                </a:solidFill>
                <a:latin typeface="Microsoft YaHei"/>
              </a:rPr>
              <a:t>峰值 36 = 1.24× 子网割界 29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6199632" y="1453895"/>
            <a:ext cx="2697480" cy="1389888"/>
          </a:xfrm>
          <a:prstGeom prst="rect">
            <a:avLst/>
          </a:prstGeom>
          <a:solidFill>
            <a:srgbClr val="FDFDFE"/>
          </a:solidFill>
          <a:ln w="6350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6199632" y="1261872"/>
            <a:ext cx="2697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C7000B"/>
                </a:solidFill>
                <a:latin typeface="Microsoft YaHei"/>
              </a:rPr>
              <a:t>M3′ best-root，同一残图</a:t>
            </a:r>
          </a:p>
        </p:txBody>
      </p:sp>
      <p:cxnSp>
        <p:nvCxnSpPr>
          <p:cNvPr id="278" name="Connector 277"/>
          <p:cNvCxnSpPr/>
          <p:nvPr/>
        </p:nvCxnSpPr>
        <p:spPr>
          <a:xfrm>
            <a:off x="6410880" y="1420803"/>
            <a:ext cx="0" cy="211909"/>
          </a:xfrm>
          <a:prstGeom prst="line">
            <a:avLst/>
          </a:prstGeom>
          <a:ln w="10908">
            <a:solidFill>
              <a:srgbClr val="E4EB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>
            <a:off x="6410880" y="2268437"/>
            <a:ext cx="0" cy="211909"/>
          </a:xfrm>
          <a:prstGeom prst="line">
            <a:avLst/>
          </a:prstGeom>
          <a:ln w="10908">
            <a:solidFill>
              <a:srgbClr val="E4EB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7385873" y="1420803"/>
            <a:ext cx="0" cy="211909"/>
          </a:xfrm>
          <a:prstGeom prst="line">
            <a:avLst/>
          </a:prstGeom>
          <a:ln w="11208">
            <a:solidFill>
              <a:srgbClr val="E1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>
            <a:off x="6410880" y="1632712"/>
            <a:ext cx="0" cy="211908"/>
          </a:xfrm>
          <a:prstGeom prst="line">
            <a:avLst/>
          </a:prstGeom>
          <a:ln w="11358">
            <a:solidFill>
              <a:srgbClr val="E0E9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>
            <a:off x="6410880" y="2056529"/>
            <a:ext cx="0" cy="211908"/>
          </a:xfrm>
          <a:prstGeom prst="line">
            <a:avLst/>
          </a:prstGeom>
          <a:ln w="11358">
            <a:solidFill>
              <a:srgbClr val="E0E9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>
            <a:off x="7710870" y="1420803"/>
            <a:ext cx="0" cy="211909"/>
          </a:xfrm>
          <a:prstGeom prst="line">
            <a:avLst/>
          </a:prstGeom>
          <a:ln w="11507">
            <a:solidFill>
              <a:srgbClr val="DFE8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>
            <a:off x="6410880" y="1844620"/>
            <a:ext cx="0" cy="211909"/>
          </a:xfrm>
          <a:prstGeom prst="line">
            <a:avLst/>
          </a:prstGeom>
          <a:ln w="11507">
            <a:solidFill>
              <a:srgbClr val="DFE8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>
            <a:off x="8035868" y="1844620"/>
            <a:ext cx="324997" cy="0"/>
          </a:xfrm>
          <a:prstGeom prst="line">
            <a:avLst/>
          </a:prstGeom>
          <a:ln w="11957">
            <a:solidFill>
              <a:srgbClr val="DCE7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>
            <a:off x="8360865" y="1844620"/>
            <a:ext cx="324998" cy="0"/>
          </a:xfrm>
          <a:prstGeom prst="line">
            <a:avLst/>
          </a:prstGeom>
          <a:ln w="11957">
            <a:solidFill>
              <a:srgbClr val="DCE7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>
            <a:off x="6735878" y="1420803"/>
            <a:ext cx="0" cy="211909"/>
          </a:xfrm>
          <a:prstGeom prst="line">
            <a:avLst/>
          </a:prstGeom>
          <a:ln w="12406">
            <a:solidFill>
              <a:srgbClr val="D9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>
            <a:off x="6735878" y="1632712"/>
            <a:ext cx="0" cy="211908"/>
          </a:xfrm>
          <a:prstGeom prst="line">
            <a:avLst/>
          </a:prstGeom>
          <a:ln w="13754">
            <a:solidFill>
              <a:srgbClr val="CFDF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>
            <a:off x="6735878" y="2056529"/>
            <a:ext cx="0" cy="211908"/>
          </a:xfrm>
          <a:prstGeom prst="line">
            <a:avLst/>
          </a:prstGeom>
          <a:ln w="13754">
            <a:solidFill>
              <a:srgbClr val="CFDF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7385873" y="2268437"/>
            <a:ext cx="0" cy="211909"/>
          </a:xfrm>
          <a:prstGeom prst="line">
            <a:avLst/>
          </a:prstGeom>
          <a:ln w="13904">
            <a:solidFill>
              <a:srgbClr val="CEDE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>
            <a:off x="6735878" y="1844620"/>
            <a:ext cx="0" cy="211909"/>
          </a:xfrm>
          <a:prstGeom prst="line">
            <a:avLst/>
          </a:prstGeom>
          <a:ln w="14203">
            <a:solidFill>
              <a:srgbClr val="CCDD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>
            <a:off x="7060875" y="2268437"/>
            <a:ext cx="324998" cy="0"/>
          </a:xfrm>
          <a:prstGeom prst="line">
            <a:avLst/>
          </a:prstGeom>
          <a:ln w="14353">
            <a:solidFill>
              <a:srgbClr val="CBDD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>
            <a:off x="7710870" y="2268437"/>
            <a:ext cx="0" cy="211909"/>
          </a:xfrm>
          <a:prstGeom prst="line">
            <a:avLst/>
          </a:prstGeom>
          <a:ln w="14503">
            <a:solidFill>
              <a:srgbClr val="CAD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>
            <a:off x="8360865" y="2268437"/>
            <a:ext cx="324998" cy="0"/>
          </a:xfrm>
          <a:prstGeom prst="line">
            <a:avLst/>
          </a:prstGeom>
          <a:ln w="14652">
            <a:solidFill>
              <a:srgbClr val="C9DB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>
            <a:off x="7385873" y="2056529"/>
            <a:ext cx="0" cy="211908"/>
          </a:xfrm>
          <a:prstGeom prst="line">
            <a:avLst/>
          </a:prstGeom>
          <a:ln w="14952">
            <a:solidFill>
              <a:srgbClr val="C6DA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>
            <a:off x="7060875" y="2268437"/>
            <a:ext cx="0" cy="211909"/>
          </a:xfrm>
          <a:prstGeom prst="line">
            <a:avLst/>
          </a:prstGeom>
          <a:ln w="15102">
            <a:solidFill>
              <a:srgbClr val="C5D9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>
            <a:off x="7710870" y="2056529"/>
            <a:ext cx="0" cy="211908"/>
          </a:xfrm>
          <a:prstGeom prst="line">
            <a:avLst/>
          </a:prstGeom>
          <a:ln w="15551">
            <a:solidFill>
              <a:srgbClr val="C2D8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>
            <a:off x="6410880" y="1420803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>
            <a:off x="6410880" y="1632712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>
            <a:off x="6410880" y="1844620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6410880" y="2056529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>
            <a:off x="7060875" y="2056529"/>
            <a:ext cx="0" cy="211908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6410880" y="2268437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>
            <a:off x="6410880" y="2480346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>
            <a:off x="8360865" y="1420803"/>
            <a:ext cx="324998" cy="0"/>
          </a:xfrm>
          <a:prstGeom prst="line">
            <a:avLst/>
          </a:prstGeom>
          <a:ln w="16450">
            <a:solidFill>
              <a:srgbClr val="BCD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8360865" y="1632712"/>
            <a:ext cx="324998" cy="0"/>
          </a:xfrm>
          <a:prstGeom prst="line">
            <a:avLst/>
          </a:prstGeom>
          <a:ln w="16450">
            <a:solidFill>
              <a:srgbClr val="BCD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>
            <a:off x="7060875" y="1420803"/>
            <a:ext cx="0" cy="211909"/>
          </a:xfrm>
          <a:prstGeom prst="line">
            <a:avLst/>
          </a:prstGeom>
          <a:ln w="16599">
            <a:solidFill>
              <a:srgbClr val="BBD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>
            <a:off x="8035868" y="2268437"/>
            <a:ext cx="324997" cy="0"/>
          </a:xfrm>
          <a:prstGeom prst="line">
            <a:avLst/>
          </a:prstGeom>
          <a:ln w="17348">
            <a:solidFill>
              <a:srgbClr val="B5D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>
            <a:off x="7385873" y="2268437"/>
            <a:ext cx="324997" cy="0"/>
          </a:xfrm>
          <a:prstGeom prst="line">
            <a:avLst/>
          </a:prstGeom>
          <a:ln w="17648">
            <a:solidFill>
              <a:srgbClr val="B3CF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>
            <a:off x="8360865" y="2480346"/>
            <a:ext cx="324998" cy="0"/>
          </a:xfrm>
          <a:prstGeom prst="line">
            <a:avLst/>
          </a:prstGeom>
          <a:ln w="18247">
            <a:solidFill>
              <a:srgbClr val="AFC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8360865" y="2056529"/>
            <a:ext cx="324998" cy="0"/>
          </a:xfrm>
          <a:prstGeom prst="line">
            <a:avLst/>
          </a:prstGeom>
          <a:ln w="19145">
            <a:solidFill>
              <a:srgbClr val="AAC9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8360865" y="1420803"/>
            <a:ext cx="0" cy="211909"/>
          </a:xfrm>
          <a:prstGeom prst="line">
            <a:avLst/>
          </a:prstGeom>
          <a:ln w="19595">
            <a:solidFill>
              <a:srgbClr val="AEC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7060875" y="1420803"/>
            <a:ext cx="324998" cy="0"/>
          </a:xfrm>
          <a:prstGeom prst="line">
            <a:avLst/>
          </a:prstGeom>
          <a:ln w="20044">
            <a:solidFill>
              <a:srgbClr val="B3CA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7060875" y="1632712"/>
            <a:ext cx="324998" cy="0"/>
          </a:xfrm>
          <a:prstGeom prst="line">
            <a:avLst/>
          </a:prstGeom>
          <a:ln w="20044">
            <a:solidFill>
              <a:srgbClr val="B3CA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7710870" y="2268437"/>
            <a:ext cx="324998" cy="0"/>
          </a:xfrm>
          <a:prstGeom prst="line">
            <a:avLst/>
          </a:prstGeom>
          <a:ln w="20044">
            <a:solidFill>
              <a:srgbClr val="B3CA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>
            <a:off x="6735878" y="1420803"/>
            <a:ext cx="324997" cy="0"/>
          </a:xfrm>
          <a:prstGeom prst="line">
            <a:avLst/>
          </a:prstGeom>
          <a:ln w="20343">
            <a:solidFill>
              <a:srgbClr val="B5CA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>
            <a:off x="6735878" y="1632712"/>
            <a:ext cx="324997" cy="0"/>
          </a:xfrm>
          <a:prstGeom prst="line">
            <a:avLst/>
          </a:prstGeom>
          <a:ln w="20343">
            <a:solidFill>
              <a:srgbClr val="B5CA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>
            <a:off x="6735878" y="1844620"/>
            <a:ext cx="324997" cy="0"/>
          </a:xfrm>
          <a:prstGeom prst="line">
            <a:avLst/>
          </a:prstGeom>
          <a:ln w="20343">
            <a:solidFill>
              <a:srgbClr val="B5CA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>
            <a:off x="6735878" y="2056529"/>
            <a:ext cx="324997" cy="0"/>
          </a:xfrm>
          <a:prstGeom prst="line">
            <a:avLst/>
          </a:prstGeom>
          <a:ln w="20343">
            <a:solidFill>
              <a:srgbClr val="B5CA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>
            <a:off x="8360865" y="2268437"/>
            <a:ext cx="0" cy="211909"/>
          </a:xfrm>
          <a:prstGeom prst="line">
            <a:avLst/>
          </a:prstGeom>
          <a:ln w="20793">
            <a:solidFill>
              <a:srgbClr val="BACA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>
            <a:off x="8035868" y="1420803"/>
            <a:ext cx="324997" cy="0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>
            <a:off x="8035868" y="1632712"/>
            <a:ext cx="324997" cy="0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8685863" y="1420803"/>
            <a:ext cx="0" cy="211909"/>
          </a:xfrm>
          <a:prstGeom prst="line">
            <a:avLst/>
          </a:prstGeom>
          <a:ln w="21092">
            <a:solidFill>
              <a:srgbClr val="BDC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>
            <a:off x="7060875" y="1632712"/>
            <a:ext cx="0" cy="211908"/>
          </a:xfrm>
          <a:prstGeom prst="line">
            <a:avLst/>
          </a:prstGeom>
          <a:ln w="21542">
            <a:solidFill>
              <a:srgbClr val="C1CB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>
            <a:off x="8685863" y="2268437"/>
            <a:ext cx="0" cy="211909"/>
          </a:xfrm>
          <a:prstGeom prst="line">
            <a:avLst/>
          </a:prstGeom>
          <a:ln w="22290">
            <a:solidFill>
              <a:srgbClr val="C8CC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>
            <a:off x="6735878" y="2268437"/>
            <a:ext cx="0" cy="211909"/>
          </a:xfrm>
          <a:prstGeom prst="line">
            <a:avLst/>
          </a:prstGeom>
          <a:ln w="22590">
            <a:solidFill>
              <a:srgbClr val="CBCC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>
            <a:off x="8035868" y="1420803"/>
            <a:ext cx="0" cy="211909"/>
          </a:xfrm>
          <a:prstGeom prst="line">
            <a:avLst/>
          </a:prstGeom>
          <a:ln w="23489">
            <a:solidFill>
              <a:srgbClr val="D4CC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>
            <a:off x="8035868" y="2268437"/>
            <a:ext cx="0" cy="211909"/>
          </a:xfrm>
          <a:prstGeom prst="line">
            <a:avLst/>
          </a:prstGeom>
          <a:ln w="23489">
            <a:solidFill>
              <a:srgbClr val="D4CC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>
            <a:off x="8035868" y="2480346"/>
            <a:ext cx="324997" cy="0"/>
          </a:xfrm>
          <a:prstGeom prst="line">
            <a:avLst/>
          </a:prstGeom>
          <a:ln w="24537">
            <a:solidFill>
              <a:srgbClr val="DEC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>
            <a:off x="7385873" y="1420803"/>
            <a:ext cx="324997" cy="0"/>
          </a:xfrm>
          <a:prstGeom prst="line">
            <a:avLst/>
          </a:prstGeom>
          <a:ln w="24836">
            <a:solidFill>
              <a:srgbClr val="E0CE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>
            <a:off x="7385873" y="1632712"/>
            <a:ext cx="324997" cy="0"/>
          </a:xfrm>
          <a:prstGeom prst="line">
            <a:avLst/>
          </a:prstGeom>
          <a:ln w="24836">
            <a:solidFill>
              <a:srgbClr val="E0CE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>
            <a:off x="8360865" y="1632712"/>
            <a:ext cx="0" cy="211908"/>
          </a:xfrm>
          <a:prstGeom prst="line">
            <a:avLst/>
          </a:prstGeom>
          <a:ln w="25136">
            <a:solidFill>
              <a:srgbClr val="E3CE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>
            <a:off x="8360865" y="2056529"/>
            <a:ext cx="0" cy="211908"/>
          </a:xfrm>
          <a:prstGeom prst="line">
            <a:avLst/>
          </a:prstGeom>
          <a:ln w="25136">
            <a:solidFill>
              <a:srgbClr val="E3CE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8035868" y="2056529"/>
            <a:ext cx="324997" cy="0"/>
          </a:xfrm>
          <a:prstGeom prst="line">
            <a:avLst/>
          </a:prstGeom>
          <a:ln w="26334">
            <a:solidFill>
              <a:srgbClr val="EFC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8360865" y="1844620"/>
            <a:ext cx="0" cy="211909"/>
          </a:xfrm>
          <a:prstGeom prst="line">
            <a:avLst/>
          </a:prstGeom>
          <a:ln w="26783">
            <a:solidFill>
              <a:srgbClr val="F2CE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8685863" y="1632712"/>
            <a:ext cx="0" cy="211908"/>
          </a:xfrm>
          <a:prstGeom prst="line">
            <a:avLst/>
          </a:prstGeom>
          <a:ln w="27532">
            <a:solidFill>
              <a:srgbClr val="F1C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8685863" y="2056529"/>
            <a:ext cx="0" cy="211908"/>
          </a:xfrm>
          <a:prstGeom prst="line">
            <a:avLst/>
          </a:prstGeom>
          <a:ln w="27532">
            <a:solidFill>
              <a:srgbClr val="F1C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8035868" y="2056529"/>
            <a:ext cx="0" cy="211908"/>
          </a:xfrm>
          <a:prstGeom prst="line">
            <a:avLst/>
          </a:prstGeom>
          <a:ln w="28730">
            <a:solidFill>
              <a:srgbClr val="EEBA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>
            <a:off x="7710870" y="1420803"/>
            <a:ext cx="324998" cy="0"/>
          </a:xfrm>
          <a:prstGeom prst="line">
            <a:avLst/>
          </a:prstGeom>
          <a:ln w="29030">
            <a:solidFill>
              <a:srgbClr val="EEB7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>
            <a:off x="7710870" y="1632712"/>
            <a:ext cx="324998" cy="0"/>
          </a:xfrm>
          <a:prstGeom prst="line">
            <a:avLst/>
          </a:prstGeom>
          <a:ln w="29030">
            <a:solidFill>
              <a:srgbClr val="EEB7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>
            <a:off x="8685863" y="1844620"/>
            <a:ext cx="0" cy="211909"/>
          </a:xfrm>
          <a:prstGeom prst="line">
            <a:avLst/>
          </a:prstGeom>
          <a:ln w="29479">
            <a:solidFill>
              <a:srgbClr val="EDB3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>
            <a:off x="6735878" y="2480346"/>
            <a:ext cx="324997" cy="0"/>
          </a:xfrm>
          <a:prstGeom prst="line">
            <a:avLst/>
          </a:prstGeom>
          <a:ln w="30527">
            <a:solidFill>
              <a:srgbClr val="EBA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7060875" y="2480346"/>
            <a:ext cx="324998" cy="0"/>
          </a:xfrm>
          <a:prstGeom prst="line">
            <a:avLst/>
          </a:prstGeom>
          <a:ln w="31126">
            <a:solidFill>
              <a:srgbClr val="EAA2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7385873" y="2480346"/>
            <a:ext cx="324997" cy="0"/>
          </a:xfrm>
          <a:prstGeom prst="line">
            <a:avLst/>
          </a:prstGeom>
          <a:ln w="32624">
            <a:solidFill>
              <a:srgbClr val="E893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7710870" y="2480346"/>
            <a:ext cx="324998" cy="0"/>
          </a:xfrm>
          <a:prstGeom prst="line">
            <a:avLst/>
          </a:prstGeom>
          <a:ln w="33223">
            <a:solidFill>
              <a:srgbClr val="E78D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>
            <a:off x="8035868" y="1632712"/>
            <a:ext cx="0" cy="211908"/>
          </a:xfrm>
          <a:prstGeom prst="line">
            <a:avLst/>
          </a:prstGeom>
          <a:ln w="33523">
            <a:solidFill>
              <a:srgbClr val="E68A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>
            <a:off x="7060875" y="1844620"/>
            <a:ext cx="0" cy="211909"/>
          </a:xfrm>
          <a:prstGeom prst="line">
            <a:avLst/>
          </a:prstGeom>
          <a:ln w="34871">
            <a:solidFill>
              <a:srgbClr val="E17B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8035868" y="1844620"/>
            <a:ext cx="0" cy="211909"/>
          </a:xfrm>
          <a:prstGeom prst="line">
            <a:avLst/>
          </a:prstGeom>
          <a:ln w="34871">
            <a:solidFill>
              <a:srgbClr val="E17B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7710870" y="2056529"/>
            <a:ext cx="324998" cy="0"/>
          </a:xfrm>
          <a:prstGeom prst="line">
            <a:avLst/>
          </a:prstGeom>
          <a:ln w="36518">
            <a:solidFill>
              <a:srgbClr val="D566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>
            <a:off x="7385873" y="2056529"/>
            <a:ext cx="324997" cy="0"/>
          </a:xfrm>
          <a:prstGeom prst="line">
            <a:avLst/>
          </a:prstGeom>
          <a:ln w="39064">
            <a:solidFill>
              <a:srgbClr val="C346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>
            <a:off x="7060875" y="2056529"/>
            <a:ext cx="324998" cy="0"/>
          </a:xfrm>
          <a:prstGeom prst="line">
            <a:avLst/>
          </a:prstGeom>
          <a:ln w="40711">
            <a:solidFill>
              <a:srgbClr val="B7321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>
            <a:off x="6735878" y="2268437"/>
            <a:ext cx="324997" cy="0"/>
          </a:xfrm>
          <a:prstGeom prst="line">
            <a:avLst/>
          </a:prstGeom>
          <a:ln w="11430">
            <a:solidFill>
              <a:srgbClr val="9AA5B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6876126" y="2246187"/>
            <a:ext cx="44501" cy="44501"/>
          </a:xfrm>
          <a:prstGeom prst="line">
            <a:avLst/>
          </a:prstGeom>
          <a:ln w="114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 flipV="1">
            <a:off x="6876126" y="2246187"/>
            <a:ext cx="44501" cy="44501"/>
          </a:xfrm>
          <a:prstGeom prst="line">
            <a:avLst/>
          </a:prstGeom>
          <a:ln w="114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5" name="Oval 354"/>
          <p:cNvSpPr/>
          <p:nvPr/>
        </p:nvSpPr>
        <p:spPr>
          <a:xfrm>
            <a:off x="6379094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6704091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7029089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7354086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7679084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8004082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8329079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8654077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6379094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6704091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7029089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7354086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7679084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8004082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8329079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8654077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6379094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6704091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7029089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8004082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8329079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8654077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6379094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6704091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7029089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7354086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7679084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8004082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8329079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8654077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6379094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6704091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7029089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7354086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7679084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8004082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8329079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8654077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6379094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6704091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7029089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7354086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7679084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8004082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8329079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8654077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1" name="Connector 400"/>
          <p:cNvCxnSpPr/>
          <p:nvPr/>
        </p:nvCxnSpPr>
        <p:spPr>
          <a:xfrm>
            <a:off x="7354086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 flipV="1">
            <a:off x="7354086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>
            <a:off x="7679084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 flipV="1">
            <a:off x="7679084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5" name="5-Point Star 404"/>
          <p:cNvSpPr/>
          <p:nvPr/>
        </p:nvSpPr>
        <p:spPr>
          <a:xfrm>
            <a:off x="8606397" y="2400880"/>
            <a:ext cx="158931" cy="158931"/>
          </a:xfrm>
          <a:prstGeom prst="star5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TextBox 405"/>
          <p:cNvSpPr txBox="1"/>
          <p:nvPr/>
        </p:nvSpPr>
        <p:spPr>
          <a:xfrm>
            <a:off x="6199632" y="2798064"/>
            <a:ext cx="2697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0">
                <a:solidFill>
                  <a:srgbClr val="5A6673"/>
                </a:solidFill>
                <a:latin typeface="Microsoft YaHei"/>
              </a:rPr>
              <a:t>★ = 根 (7,5)；46 个好节点全参与、牺牲 0</a:t>
            </a:r>
          </a:p>
        </p:txBody>
      </p:sp>
      <p:sp>
        <p:nvSpPr>
          <p:cNvPr id="407" name="TextBox 406"/>
          <p:cNvSpPr txBox="1"/>
          <p:nvPr/>
        </p:nvSpPr>
        <p:spPr>
          <a:xfrm>
            <a:off x="6199632" y="2999232"/>
            <a:ext cx="2697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1">
                <a:solidFill>
                  <a:srgbClr val="C7000B"/>
                </a:solidFill>
                <a:latin typeface="Microsoft YaHei"/>
              </a:rPr>
              <a:t>峰值 204 = 1.93× 割界 106（向根聚拢）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9098280" y="1453895"/>
            <a:ext cx="2697480" cy="1389888"/>
          </a:xfrm>
          <a:prstGeom prst="rect">
            <a:avLst/>
          </a:prstGeom>
          <a:solidFill>
            <a:srgbClr val="FDFDFE"/>
          </a:solidFill>
          <a:ln w="6350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9098280" y="1261872"/>
            <a:ext cx="2697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1E7F4F"/>
                </a:solidFill>
                <a:latin typeface="Microsoft YaHei"/>
              </a:rPr>
              <a:t>M3′ + min-max 选路，同一残图</a:t>
            </a:r>
          </a:p>
        </p:txBody>
      </p:sp>
      <p:cxnSp>
        <p:nvCxnSpPr>
          <p:cNvPr id="410" name="Connector 409"/>
          <p:cNvCxnSpPr/>
          <p:nvPr/>
        </p:nvCxnSpPr>
        <p:spPr>
          <a:xfrm>
            <a:off x="10284521" y="1420803"/>
            <a:ext cx="0" cy="211909"/>
          </a:xfrm>
          <a:prstGeom prst="line">
            <a:avLst/>
          </a:prstGeom>
          <a:ln w="11358">
            <a:solidFill>
              <a:srgbClr val="E0E9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>
            <a:off x="10609518" y="1420803"/>
            <a:ext cx="0" cy="211909"/>
          </a:xfrm>
          <a:prstGeom prst="line">
            <a:avLst/>
          </a:prstGeom>
          <a:ln w="12106">
            <a:solidFill>
              <a:srgbClr val="DBE6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>
            <a:off x="11259513" y="1844620"/>
            <a:ext cx="324998" cy="0"/>
          </a:xfrm>
          <a:prstGeom prst="line">
            <a:avLst/>
          </a:prstGeom>
          <a:ln w="12406">
            <a:solidFill>
              <a:srgbClr val="D9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Connector 412"/>
          <p:cNvCxnSpPr/>
          <p:nvPr/>
        </p:nvCxnSpPr>
        <p:spPr>
          <a:xfrm>
            <a:off x="10934516" y="1844620"/>
            <a:ext cx="324997" cy="0"/>
          </a:xfrm>
          <a:prstGeom prst="line">
            <a:avLst/>
          </a:prstGeom>
          <a:ln w="12556">
            <a:solidFill>
              <a:srgbClr val="D8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Connector 413"/>
          <p:cNvCxnSpPr/>
          <p:nvPr/>
        </p:nvCxnSpPr>
        <p:spPr>
          <a:xfrm>
            <a:off x="9309528" y="1420803"/>
            <a:ext cx="0" cy="211909"/>
          </a:xfrm>
          <a:prstGeom prst="line">
            <a:avLst/>
          </a:prstGeom>
          <a:ln w="13005">
            <a:solidFill>
              <a:srgbClr val="D5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Connector 414"/>
          <p:cNvCxnSpPr/>
          <p:nvPr/>
        </p:nvCxnSpPr>
        <p:spPr>
          <a:xfrm>
            <a:off x="9634526" y="1420803"/>
            <a:ext cx="0" cy="211909"/>
          </a:xfrm>
          <a:prstGeom prst="line">
            <a:avLst/>
          </a:prstGeom>
          <a:ln w="13604">
            <a:solidFill>
              <a:srgbClr val="D0E0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Connector 415"/>
          <p:cNvCxnSpPr/>
          <p:nvPr/>
        </p:nvCxnSpPr>
        <p:spPr>
          <a:xfrm>
            <a:off x="9634526" y="2056529"/>
            <a:ext cx="0" cy="211908"/>
          </a:xfrm>
          <a:prstGeom prst="line">
            <a:avLst/>
          </a:prstGeom>
          <a:ln w="13604">
            <a:solidFill>
              <a:srgbClr val="D0E0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7" name="Connector 416"/>
          <p:cNvCxnSpPr/>
          <p:nvPr/>
        </p:nvCxnSpPr>
        <p:spPr>
          <a:xfrm>
            <a:off x="10284521" y="2268437"/>
            <a:ext cx="0" cy="211909"/>
          </a:xfrm>
          <a:prstGeom prst="line">
            <a:avLst/>
          </a:prstGeom>
          <a:ln w="13904">
            <a:solidFill>
              <a:srgbClr val="CEDE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Connector 417"/>
          <p:cNvCxnSpPr/>
          <p:nvPr/>
        </p:nvCxnSpPr>
        <p:spPr>
          <a:xfrm>
            <a:off x="9309528" y="1420803"/>
            <a:ext cx="324998" cy="0"/>
          </a:xfrm>
          <a:prstGeom prst="line">
            <a:avLst/>
          </a:prstGeom>
          <a:ln w="14053">
            <a:solidFill>
              <a:srgbClr val="CDDE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Connector 418"/>
          <p:cNvCxnSpPr/>
          <p:nvPr/>
        </p:nvCxnSpPr>
        <p:spPr>
          <a:xfrm>
            <a:off x="9959523" y="1420803"/>
            <a:ext cx="0" cy="211909"/>
          </a:xfrm>
          <a:prstGeom prst="line">
            <a:avLst/>
          </a:prstGeom>
          <a:ln w="14203">
            <a:solidFill>
              <a:srgbClr val="CCDD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Connector 419"/>
          <p:cNvCxnSpPr/>
          <p:nvPr/>
        </p:nvCxnSpPr>
        <p:spPr>
          <a:xfrm>
            <a:off x="9309528" y="1632712"/>
            <a:ext cx="324998" cy="0"/>
          </a:xfrm>
          <a:prstGeom prst="line">
            <a:avLst/>
          </a:prstGeom>
          <a:ln w="14353">
            <a:solidFill>
              <a:srgbClr val="CBDD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1" name="Connector 420"/>
          <p:cNvCxnSpPr/>
          <p:nvPr/>
        </p:nvCxnSpPr>
        <p:spPr>
          <a:xfrm>
            <a:off x="9309528" y="2056529"/>
            <a:ext cx="0" cy="211908"/>
          </a:xfrm>
          <a:prstGeom prst="line">
            <a:avLst/>
          </a:prstGeom>
          <a:ln w="14503">
            <a:solidFill>
              <a:srgbClr val="CAD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Connector 421"/>
          <p:cNvCxnSpPr/>
          <p:nvPr/>
        </p:nvCxnSpPr>
        <p:spPr>
          <a:xfrm>
            <a:off x="10609518" y="2268437"/>
            <a:ext cx="0" cy="211909"/>
          </a:xfrm>
          <a:prstGeom prst="line">
            <a:avLst/>
          </a:prstGeom>
          <a:ln w="14503">
            <a:solidFill>
              <a:srgbClr val="CAD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Connector 422"/>
          <p:cNvCxnSpPr/>
          <p:nvPr/>
        </p:nvCxnSpPr>
        <p:spPr>
          <a:xfrm>
            <a:off x="9309528" y="2268437"/>
            <a:ext cx="0" cy="211909"/>
          </a:xfrm>
          <a:prstGeom prst="line">
            <a:avLst/>
          </a:prstGeom>
          <a:ln w="14652">
            <a:solidFill>
              <a:srgbClr val="C9DB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Connector 423"/>
          <p:cNvCxnSpPr/>
          <p:nvPr/>
        </p:nvCxnSpPr>
        <p:spPr>
          <a:xfrm>
            <a:off x="9959523" y="2268437"/>
            <a:ext cx="0" cy="211909"/>
          </a:xfrm>
          <a:prstGeom prst="line">
            <a:avLst/>
          </a:prstGeom>
          <a:ln w="14802">
            <a:solidFill>
              <a:srgbClr val="C8DB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Connector 424"/>
          <p:cNvCxnSpPr/>
          <p:nvPr/>
        </p:nvCxnSpPr>
        <p:spPr>
          <a:xfrm>
            <a:off x="9309528" y="1632712"/>
            <a:ext cx="0" cy="211908"/>
          </a:xfrm>
          <a:prstGeom prst="line">
            <a:avLst/>
          </a:prstGeom>
          <a:ln w="15251">
            <a:solidFill>
              <a:srgbClr val="C4D9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Connector 425"/>
          <p:cNvCxnSpPr/>
          <p:nvPr/>
        </p:nvCxnSpPr>
        <p:spPr>
          <a:xfrm>
            <a:off x="9309528" y="1844620"/>
            <a:ext cx="324998" cy="0"/>
          </a:xfrm>
          <a:prstGeom prst="line">
            <a:avLst/>
          </a:prstGeom>
          <a:ln w="15551">
            <a:solidFill>
              <a:srgbClr val="C2D8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7" name="Connector 426"/>
          <p:cNvCxnSpPr/>
          <p:nvPr/>
        </p:nvCxnSpPr>
        <p:spPr>
          <a:xfrm>
            <a:off x="9309528" y="2268437"/>
            <a:ext cx="324998" cy="0"/>
          </a:xfrm>
          <a:prstGeom prst="line">
            <a:avLst/>
          </a:prstGeom>
          <a:ln w="15551">
            <a:solidFill>
              <a:srgbClr val="C2D8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Connector 427"/>
          <p:cNvCxnSpPr/>
          <p:nvPr/>
        </p:nvCxnSpPr>
        <p:spPr>
          <a:xfrm>
            <a:off x="9634526" y="1632712"/>
            <a:ext cx="0" cy="211908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Connector 428"/>
          <p:cNvCxnSpPr/>
          <p:nvPr/>
        </p:nvCxnSpPr>
        <p:spPr>
          <a:xfrm>
            <a:off x="9309528" y="1844620"/>
            <a:ext cx="0" cy="211909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429"/>
          <p:cNvCxnSpPr/>
          <p:nvPr/>
        </p:nvCxnSpPr>
        <p:spPr>
          <a:xfrm>
            <a:off x="11259513" y="2056529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Connector 430"/>
          <p:cNvCxnSpPr/>
          <p:nvPr/>
        </p:nvCxnSpPr>
        <p:spPr>
          <a:xfrm>
            <a:off x="11259513" y="1420803"/>
            <a:ext cx="324998" cy="0"/>
          </a:xfrm>
          <a:prstGeom prst="line">
            <a:avLst/>
          </a:prstGeom>
          <a:ln w="16300">
            <a:solidFill>
              <a:srgbClr val="BDD4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2" name="Connector 431"/>
          <p:cNvCxnSpPr/>
          <p:nvPr/>
        </p:nvCxnSpPr>
        <p:spPr>
          <a:xfrm>
            <a:off x="11259513" y="1632712"/>
            <a:ext cx="324998" cy="0"/>
          </a:xfrm>
          <a:prstGeom prst="line">
            <a:avLst/>
          </a:prstGeom>
          <a:ln w="16599">
            <a:solidFill>
              <a:srgbClr val="BBD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Connector 432"/>
          <p:cNvCxnSpPr/>
          <p:nvPr/>
        </p:nvCxnSpPr>
        <p:spPr>
          <a:xfrm>
            <a:off x="10609518" y="2056529"/>
            <a:ext cx="0" cy="211908"/>
          </a:xfrm>
          <a:prstGeom prst="line">
            <a:avLst/>
          </a:prstGeom>
          <a:ln w="16899">
            <a:solidFill>
              <a:srgbClr val="B8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4" name="Connector 433"/>
          <p:cNvCxnSpPr/>
          <p:nvPr/>
        </p:nvCxnSpPr>
        <p:spPr>
          <a:xfrm>
            <a:off x="9959523" y="1632712"/>
            <a:ext cx="0" cy="211908"/>
          </a:xfrm>
          <a:prstGeom prst="line">
            <a:avLst/>
          </a:prstGeom>
          <a:ln w="17049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Connector 434"/>
          <p:cNvCxnSpPr/>
          <p:nvPr/>
        </p:nvCxnSpPr>
        <p:spPr>
          <a:xfrm>
            <a:off x="10284521" y="2056529"/>
            <a:ext cx="0" cy="211908"/>
          </a:xfrm>
          <a:prstGeom prst="line">
            <a:avLst/>
          </a:prstGeom>
          <a:ln w="17049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6" name="Connector 435"/>
          <p:cNvCxnSpPr/>
          <p:nvPr/>
        </p:nvCxnSpPr>
        <p:spPr>
          <a:xfrm>
            <a:off x="9634526" y="1420803"/>
            <a:ext cx="324997" cy="0"/>
          </a:xfrm>
          <a:prstGeom prst="line">
            <a:avLst/>
          </a:prstGeom>
          <a:ln w="17198">
            <a:solidFill>
              <a:srgbClr val="B6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7" name="Connector 436"/>
          <p:cNvCxnSpPr/>
          <p:nvPr/>
        </p:nvCxnSpPr>
        <p:spPr>
          <a:xfrm>
            <a:off x="9634526" y="1632712"/>
            <a:ext cx="324997" cy="0"/>
          </a:xfrm>
          <a:prstGeom prst="line">
            <a:avLst/>
          </a:prstGeom>
          <a:ln w="17348">
            <a:solidFill>
              <a:srgbClr val="B5D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Connector 437"/>
          <p:cNvCxnSpPr/>
          <p:nvPr/>
        </p:nvCxnSpPr>
        <p:spPr>
          <a:xfrm>
            <a:off x="11259513" y="2268437"/>
            <a:ext cx="324998" cy="0"/>
          </a:xfrm>
          <a:prstGeom prst="line">
            <a:avLst/>
          </a:prstGeom>
          <a:ln w="17348">
            <a:solidFill>
              <a:srgbClr val="B5D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9" name="Connector 438"/>
          <p:cNvCxnSpPr/>
          <p:nvPr/>
        </p:nvCxnSpPr>
        <p:spPr>
          <a:xfrm>
            <a:off x="9309528" y="2056529"/>
            <a:ext cx="324998" cy="0"/>
          </a:xfrm>
          <a:prstGeom prst="line">
            <a:avLst/>
          </a:prstGeom>
          <a:ln w="17648">
            <a:solidFill>
              <a:srgbClr val="B3CF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0" name="Connector 439"/>
          <p:cNvCxnSpPr/>
          <p:nvPr/>
        </p:nvCxnSpPr>
        <p:spPr>
          <a:xfrm>
            <a:off x="9634526" y="1844620"/>
            <a:ext cx="324997" cy="0"/>
          </a:xfrm>
          <a:prstGeom prst="line">
            <a:avLst/>
          </a:prstGeom>
          <a:ln w="18097">
            <a:solidFill>
              <a:srgbClr val="B0CD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Connector 440"/>
          <p:cNvCxnSpPr/>
          <p:nvPr/>
        </p:nvCxnSpPr>
        <p:spPr>
          <a:xfrm>
            <a:off x="9634526" y="1844620"/>
            <a:ext cx="0" cy="211909"/>
          </a:xfrm>
          <a:prstGeom prst="line">
            <a:avLst/>
          </a:prstGeom>
          <a:ln w="18097">
            <a:solidFill>
              <a:srgbClr val="B0CD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2" name="Connector 441"/>
          <p:cNvCxnSpPr/>
          <p:nvPr/>
        </p:nvCxnSpPr>
        <p:spPr>
          <a:xfrm>
            <a:off x="11259513" y="2480346"/>
            <a:ext cx="324998" cy="0"/>
          </a:xfrm>
          <a:prstGeom prst="line">
            <a:avLst/>
          </a:prstGeom>
          <a:ln w="18696">
            <a:solidFill>
              <a:srgbClr val="ACCA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Connector 442"/>
          <p:cNvCxnSpPr/>
          <p:nvPr/>
        </p:nvCxnSpPr>
        <p:spPr>
          <a:xfrm>
            <a:off x="9959523" y="1632712"/>
            <a:ext cx="324998" cy="0"/>
          </a:xfrm>
          <a:prstGeom prst="line">
            <a:avLst/>
          </a:prstGeom>
          <a:ln w="19145">
            <a:solidFill>
              <a:srgbClr val="AAC9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4" name="Connector 443"/>
          <p:cNvCxnSpPr/>
          <p:nvPr/>
        </p:nvCxnSpPr>
        <p:spPr>
          <a:xfrm>
            <a:off x="9959523" y="1420803"/>
            <a:ext cx="324998" cy="0"/>
          </a:xfrm>
          <a:prstGeom prst="line">
            <a:avLst/>
          </a:prstGeom>
          <a:ln w="19445">
            <a:solidFill>
              <a:srgbClr val="ADC9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Connector 444"/>
          <p:cNvCxnSpPr/>
          <p:nvPr/>
        </p:nvCxnSpPr>
        <p:spPr>
          <a:xfrm>
            <a:off x="9634526" y="2268437"/>
            <a:ext cx="0" cy="211909"/>
          </a:xfrm>
          <a:prstGeom prst="line">
            <a:avLst/>
          </a:prstGeom>
          <a:ln w="19744">
            <a:solidFill>
              <a:srgbClr val="B0CA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6" name="Connector 445"/>
          <p:cNvCxnSpPr/>
          <p:nvPr/>
        </p:nvCxnSpPr>
        <p:spPr>
          <a:xfrm>
            <a:off x="9309528" y="2480346"/>
            <a:ext cx="324998" cy="0"/>
          </a:xfrm>
          <a:prstGeom prst="line">
            <a:avLst/>
          </a:prstGeom>
          <a:ln w="19894">
            <a:solidFill>
              <a:srgbClr val="B1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7" name="Connector 446"/>
          <p:cNvCxnSpPr/>
          <p:nvPr/>
        </p:nvCxnSpPr>
        <p:spPr>
          <a:xfrm>
            <a:off x="10934516" y="1420803"/>
            <a:ext cx="0" cy="211909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8" name="Connector 447"/>
          <p:cNvCxnSpPr/>
          <p:nvPr/>
        </p:nvCxnSpPr>
        <p:spPr>
          <a:xfrm>
            <a:off x="11259513" y="1420803"/>
            <a:ext cx="0" cy="211909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Connector 448"/>
          <p:cNvCxnSpPr/>
          <p:nvPr/>
        </p:nvCxnSpPr>
        <p:spPr>
          <a:xfrm>
            <a:off x="11584511" y="1420803"/>
            <a:ext cx="0" cy="211909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Connector 449"/>
          <p:cNvCxnSpPr/>
          <p:nvPr/>
        </p:nvCxnSpPr>
        <p:spPr>
          <a:xfrm>
            <a:off x="11259513" y="2268437"/>
            <a:ext cx="0" cy="211909"/>
          </a:xfrm>
          <a:prstGeom prst="line">
            <a:avLst/>
          </a:prstGeom>
          <a:ln w="21242">
            <a:solidFill>
              <a:srgbClr val="BECB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Connector 450"/>
          <p:cNvCxnSpPr/>
          <p:nvPr/>
        </p:nvCxnSpPr>
        <p:spPr>
          <a:xfrm>
            <a:off x="11584511" y="2268437"/>
            <a:ext cx="0" cy="211909"/>
          </a:xfrm>
          <a:prstGeom prst="line">
            <a:avLst/>
          </a:prstGeom>
          <a:ln w="21841">
            <a:solidFill>
              <a:srgbClr val="C4CB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2" name="Connector 451"/>
          <p:cNvCxnSpPr/>
          <p:nvPr/>
        </p:nvCxnSpPr>
        <p:spPr>
          <a:xfrm>
            <a:off x="10934516" y="1420803"/>
            <a:ext cx="324997" cy="0"/>
          </a:xfrm>
          <a:prstGeom prst="line">
            <a:avLst/>
          </a:prstGeom>
          <a:ln w="22141">
            <a:solidFill>
              <a:srgbClr val="C7CB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Connector 452"/>
          <p:cNvCxnSpPr/>
          <p:nvPr/>
        </p:nvCxnSpPr>
        <p:spPr>
          <a:xfrm>
            <a:off x="10934516" y="1632712"/>
            <a:ext cx="324997" cy="0"/>
          </a:xfrm>
          <a:prstGeom prst="line">
            <a:avLst/>
          </a:prstGeom>
          <a:ln w="22290">
            <a:solidFill>
              <a:srgbClr val="C8CC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4" name="Connector 453"/>
          <p:cNvCxnSpPr/>
          <p:nvPr/>
        </p:nvCxnSpPr>
        <p:spPr>
          <a:xfrm>
            <a:off x="10934516" y="2268437"/>
            <a:ext cx="324997" cy="0"/>
          </a:xfrm>
          <a:prstGeom prst="line">
            <a:avLst/>
          </a:prstGeom>
          <a:ln w="23189">
            <a:solidFill>
              <a:srgbClr val="D1CC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nector 454"/>
          <p:cNvCxnSpPr/>
          <p:nvPr/>
        </p:nvCxnSpPr>
        <p:spPr>
          <a:xfrm>
            <a:off x="10934516" y="2056529"/>
            <a:ext cx="324997" cy="0"/>
          </a:xfrm>
          <a:prstGeom prst="line">
            <a:avLst/>
          </a:prstGeom>
          <a:ln w="23339">
            <a:solidFill>
              <a:srgbClr val="D2CC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Connector 455"/>
          <p:cNvCxnSpPr/>
          <p:nvPr/>
        </p:nvCxnSpPr>
        <p:spPr>
          <a:xfrm>
            <a:off x="10934516" y="2268437"/>
            <a:ext cx="0" cy="211909"/>
          </a:xfrm>
          <a:prstGeom prst="line">
            <a:avLst/>
          </a:prstGeom>
          <a:ln w="23489">
            <a:solidFill>
              <a:srgbClr val="D4CC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Connector 456"/>
          <p:cNvCxnSpPr/>
          <p:nvPr/>
        </p:nvCxnSpPr>
        <p:spPr>
          <a:xfrm>
            <a:off x="10284521" y="1420803"/>
            <a:ext cx="324997" cy="0"/>
          </a:xfrm>
          <a:prstGeom prst="line">
            <a:avLst/>
          </a:prstGeom>
          <a:ln w="24088">
            <a:solidFill>
              <a:srgbClr val="D9C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Connector 457"/>
          <p:cNvCxnSpPr/>
          <p:nvPr/>
        </p:nvCxnSpPr>
        <p:spPr>
          <a:xfrm>
            <a:off x="10284521" y="1632712"/>
            <a:ext cx="324997" cy="0"/>
          </a:xfrm>
          <a:prstGeom prst="line">
            <a:avLst/>
          </a:prstGeom>
          <a:ln w="24088">
            <a:solidFill>
              <a:srgbClr val="D9C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Connector 458"/>
          <p:cNvCxnSpPr/>
          <p:nvPr/>
        </p:nvCxnSpPr>
        <p:spPr>
          <a:xfrm>
            <a:off x="10934516" y="2480346"/>
            <a:ext cx="324997" cy="0"/>
          </a:xfrm>
          <a:prstGeom prst="line">
            <a:avLst/>
          </a:prstGeom>
          <a:ln w="24537">
            <a:solidFill>
              <a:srgbClr val="DEC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Connector 459"/>
          <p:cNvCxnSpPr/>
          <p:nvPr/>
        </p:nvCxnSpPr>
        <p:spPr>
          <a:xfrm>
            <a:off x="11259513" y="2056529"/>
            <a:ext cx="0" cy="211908"/>
          </a:xfrm>
          <a:prstGeom prst="line">
            <a:avLst/>
          </a:prstGeom>
          <a:ln w="24986">
            <a:solidFill>
              <a:srgbClr val="E2CE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Connector 460"/>
          <p:cNvCxnSpPr/>
          <p:nvPr/>
        </p:nvCxnSpPr>
        <p:spPr>
          <a:xfrm>
            <a:off x="11584511" y="2056529"/>
            <a:ext cx="0" cy="211908"/>
          </a:xfrm>
          <a:prstGeom prst="line">
            <a:avLst/>
          </a:prstGeom>
          <a:ln w="25136">
            <a:solidFill>
              <a:srgbClr val="E3CE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Connector 461"/>
          <p:cNvCxnSpPr/>
          <p:nvPr/>
        </p:nvCxnSpPr>
        <p:spPr>
          <a:xfrm>
            <a:off x="10934516" y="2056529"/>
            <a:ext cx="0" cy="211908"/>
          </a:xfrm>
          <a:prstGeom prst="line">
            <a:avLst/>
          </a:prstGeom>
          <a:ln w="25435">
            <a:solidFill>
              <a:srgbClr val="E6CE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3" name="Connector 462"/>
          <p:cNvCxnSpPr/>
          <p:nvPr/>
        </p:nvCxnSpPr>
        <p:spPr>
          <a:xfrm>
            <a:off x="9959523" y="2268437"/>
            <a:ext cx="324998" cy="0"/>
          </a:xfrm>
          <a:prstGeom prst="line">
            <a:avLst/>
          </a:prstGeom>
          <a:ln w="25885">
            <a:solidFill>
              <a:srgbClr val="EACE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4" name="Connector 463"/>
          <p:cNvCxnSpPr/>
          <p:nvPr/>
        </p:nvCxnSpPr>
        <p:spPr>
          <a:xfrm>
            <a:off x="9959523" y="2056529"/>
            <a:ext cx="0" cy="211908"/>
          </a:xfrm>
          <a:prstGeom prst="line">
            <a:avLst/>
          </a:prstGeom>
          <a:ln w="26783">
            <a:solidFill>
              <a:srgbClr val="F2CE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5" name="Connector 464"/>
          <p:cNvCxnSpPr/>
          <p:nvPr/>
        </p:nvCxnSpPr>
        <p:spPr>
          <a:xfrm>
            <a:off x="11584511" y="1632712"/>
            <a:ext cx="0" cy="211908"/>
          </a:xfrm>
          <a:prstGeom prst="line">
            <a:avLst/>
          </a:prstGeom>
          <a:ln w="27532">
            <a:solidFill>
              <a:srgbClr val="F1C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6" name="Connector 465"/>
          <p:cNvCxnSpPr/>
          <p:nvPr/>
        </p:nvCxnSpPr>
        <p:spPr>
          <a:xfrm>
            <a:off x="10609518" y="1420803"/>
            <a:ext cx="324998" cy="0"/>
          </a:xfrm>
          <a:prstGeom prst="line">
            <a:avLst/>
          </a:prstGeom>
          <a:ln w="27682">
            <a:solidFill>
              <a:srgbClr val="F0C5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7" name="Connector 466"/>
          <p:cNvCxnSpPr/>
          <p:nvPr/>
        </p:nvCxnSpPr>
        <p:spPr>
          <a:xfrm>
            <a:off x="11259513" y="1632712"/>
            <a:ext cx="0" cy="211908"/>
          </a:xfrm>
          <a:prstGeom prst="line">
            <a:avLst/>
          </a:prstGeom>
          <a:ln w="27682">
            <a:solidFill>
              <a:srgbClr val="F0C5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8" name="Connector 467"/>
          <p:cNvCxnSpPr/>
          <p:nvPr/>
        </p:nvCxnSpPr>
        <p:spPr>
          <a:xfrm>
            <a:off x="9634526" y="2056529"/>
            <a:ext cx="324997" cy="0"/>
          </a:xfrm>
          <a:prstGeom prst="line">
            <a:avLst/>
          </a:prstGeom>
          <a:ln w="27981">
            <a:solidFill>
              <a:srgbClr val="F0C2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9" name="Connector 468"/>
          <p:cNvCxnSpPr/>
          <p:nvPr/>
        </p:nvCxnSpPr>
        <p:spPr>
          <a:xfrm>
            <a:off x="9959523" y="1844620"/>
            <a:ext cx="0" cy="211909"/>
          </a:xfrm>
          <a:prstGeom prst="line">
            <a:avLst/>
          </a:prstGeom>
          <a:ln w="28131">
            <a:solidFill>
              <a:srgbClr val="F0C0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0" name="Connector 469"/>
          <p:cNvCxnSpPr/>
          <p:nvPr/>
        </p:nvCxnSpPr>
        <p:spPr>
          <a:xfrm>
            <a:off x="10609518" y="1632712"/>
            <a:ext cx="324998" cy="0"/>
          </a:xfrm>
          <a:prstGeom prst="line">
            <a:avLst/>
          </a:prstGeom>
          <a:ln w="28880">
            <a:solidFill>
              <a:srgbClr val="EEB9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1" name="Connector 470"/>
          <p:cNvCxnSpPr/>
          <p:nvPr/>
        </p:nvCxnSpPr>
        <p:spPr>
          <a:xfrm>
            <a:off x="10284521" y="2268437"/>
            <a:ext cx="324997" cy="0"/>
          </a:xfrm>
          <a:prstGeom prst="line">
            <a:avLst/>
          </a:prstGeom>
          <a:ln w="29030">
            <a:solidFill>
              <a:srgbClr val="EEB7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2" name="Connector 471"/>
          <p:cNvCxnSpPr/>
          <p:nvPr/>
        </p:nvCxnSpPr>
        <p:spPr>
          <a:xfrm>
            <a:off x="11259513" y="1844620"/>
            <a:ext cx="0" cy="211909"/>
          </a:xfrm>
          <a:prstGeom prst="line">
            <a:avLst/>
          </a:prstGeom>
          <a:ln w="29329">
            <a:solidFill>
              <a:srgbClr val="EDB4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3" name="Connector 472"/>
          <p:cNvCxnSpPr/>
          <p:nvPr/>
        </p:nvCxnSpPr>
        <p:spPr>
          <a:xfrm>
            <a:off x="10609518" y="2056529"/>
            <a:ext cx="324998" cy="0"/>
          </a:xfrm>
          <a:prstGeom prst="line">
            <a:avLst/>
          </a:prstGeom>
          <a:ln w="29329">
            <a:solidFill>
              <a:srgbClr val="EDB4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4" name="Connector 473"/>
          <p:cNvCxnSpPr/>
          <p:nvPr/>
        </p:nvCxnSpPr>
        <p:spPr>
          <a:xfrm>
            <a:off x="10934516" y="1632712"/>
            <a:ext cx="0" cy="211908"/>
          </a:xfrm>
          <a:prstGeom prst="line">
            <a:avLst/>
          </a:prstGeom>
          <a:ln w="29479">
            <a:solidFill>
              <a:srgbClr val="EDB3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5" name="Connector 474"/>
          <p:cNvCxnSpPr/>
          <p:nvPr/>
        </p:nvCxnSpPr>
        <p:spPr>
          <a:xfrm>
            <a:off x="11584511" y="1844620"/>
            <a:ext cx="0" cy="211909"/>
          </a:xfrm>
          <a:prstGeom prst="line">
            <a:avLst/>
          </a:prstGeom>
          <a:ln w="29479">
            <a:solidFill>
              <a:srgbClr val="EDB3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6" name="Connector 475"/>
          <p:cNvCxnSpPr/>
          <p:nvPr/>
        </p:nvCxnSpPr>
        <p:spPr>
          <a:xfrm>
            <a:off x="10284521" y="2056529"/>
            <a:ext cx="324997" cy="0"/>
          </a:xfrm>
          <a:prstGeom prst="line">
            <a:avLst/>
          </a:prstGeom>
          <a:ln w="29779">
            <a:solidFill>
              <a:srgbClr val="EDB0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7" name="Connector 476"/>
          <p:cNvCxnSpPr/>
          <p:nvPr/>
        </p:nvCxnSpPr>
        <p:spPr>
          <a:xfrm>
            <a:off x="10609518" y="2268437"/>
            <a:ext cx="324998" cy="0"/>
          </a:xfrm>
          <a:prstGeom prst="line">
            <a:avLst/>
          </a:prstGeom>
          <a:ln w="29779">
            <a:solidFill>
              <a:srgbClr val="EDB0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8" name="Connector 477"/>
          <p:cNvCxnSpPr/>
          <p:nvPr/>
        </p:nvCxnSpPr>
        <p:spPr>
          <a:xfrm>
            <a:off x="10934516" y="1844620"/>
            <a:ext cx="0" cy="211909"/>
          </a:xfrm>
          <a:prstGeom prst="line">
            <a:avLst/>
          </a:prstGeom>
          <a:ln w="30977">
            <a:solidFill>
              <a:srgbClr val="EBA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9" name="Connector 478"/>
          <p:cNvCxnSpPr/>
          <p:nvPr/>
        </p:nvCxnSpPr>
        <p:spPr>
          <a:xfrm>
            <a:off x="9959523" y="2480346"/>
            <a:ext cx="324998" cy="0"/>
          </a:xfrm>
          <a:prstGeom prst="line">
            <a:avLst/>
          </a:prstGeom>
          <a:ln w="31126">
            <a:solidFill>
              <a:srgbClr val="EAA2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0" name="Connector 479"/>
          <p:cNvCxnSpPr/>
          <p:nvPr/>
        </p:nvCxnSpPr>
        <p:spPr>
          <a:xfrm>
            <a:off x="9634526" y="2480346"/>
            <a:ext cx="324997" cy="0"/>
          </a:xfrm>
          <a:prstGeom prst="line">
            <a:avLst/>
          </a:prstGeom>
          <a:ln w="31426">
            <a:solidFill>
              <a:srgbClr val="EA9F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1" name="Connector 480"/>
          <p:cNvCxnSpPr/>
          <p:nvPr/>
        </p:nvCxnSpPr>
        <p:spPr>
          <a:xfrm>
            <a:off x="9959523" y="2056529"/>
            <a:ext cx="324998" cy="0"/>
          </a:xfrm>
          <a:prstGeom prst="line">
            <a:avLst/>
          </a:prstGeom>
          <a:ln w="31576">
            <a:solidFill>
              <a:srgbClr val="EA9D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2" name="Connector 481"/>
          <p:cNvCxnSpPr/>
          <p:nvPr/>
        </p:nvCxnSpPr>
        <p:spPr>
          <a:xfrm>
            <a:off x="10284521" y="2480346"/>
            <a:ext cx="324997" cy="0"/>
          </a:xfrm>
          <a:prstGeom prst="line">
            <a:avLst/>
          </a:prstGeom>
          <a:ln w="32624">
            <a:solidFill>
              <a:srgbClr val="E893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3" name="Connector 482"/>
          <p:cNvCxnSpPr/>
          <p:nvPr/>
        </p:nvCxnSpPr>
        <p:spPr>
          <a:xfrm>
            <a:off x="10609518" y="2480346"/>
            <a:ext cx="324998" cy="0"/>
          </a:xfrm>
          <a:prstGeom prst="line">
            <a:avLst/>
          </a:prstGeom>
          <a:ln w="33223">
            <a:solidFill>
              <a:srgbClr val="E78D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4" name="Connector 483"/>
          <p:cNvCxnSpPr/>
          <p:nvPr/>
        </p:nvCxnSpPr>
        <p:spPr>
          <a:xfrm>
            <a:off x="9634526" y="2268437"/>
            <a:ext cx="324997" cy="0"/>
          </a:xfrm>
          <a:prstGeom prst="line">
            <a:avLst/>
          </a:prstGeom>
          <a:ln w="11430">
            <a:solidFill>
              <a:srgbClr val="9AA5B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5" name="Connector 484"/>
          <p:cNvCxnSpPr/>
          <p:nvPr/>
        </p:nvCxnSpPr>
        <p:spPr>
          <a:xfrm>
            <a:off x="9774774" y="2246187"/>
            <a:ext cx="44501" cy="44501"/>
          </a:xfrm>
          <a:prstGeom prst="line">
            <a:avLst/>
          </a:prstGeom>
          <a:ln w="114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6" name="Connector 485"/>
          <p:cNvCxnSpPr/>
          <p:nvPr/>
        </p:nvCxnSpPr>
        <p:spPr>
          <a:xfrm flipV="1">
            <a:off x="9774774" y="2246187"/>
            <a:ext cx="44501" cy="44501"/>
          </a:xfrm>
          <a:prstGeom prst="line">
            <a:avLst/>
          </a:prstGeom>
          <a:ln w="114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7" name="Oval 486"/>
          <p:cNvSpPr/>
          <p:nvPr/>
        </p:nvSpPr>
        <p:spPr>
          <a:xfrm>
            <a:off x="9277742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Oval 487"/>
          <p:cNvSpPr/>
          <p:nvPr/>
        </p:nvSpPr>
        <p:spPr>
          <a:xfrm>
            <a:off x="9602739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Oval 488"/>
          <p:cNvSpPr/>
          <p:nvPr/>
        </p:nvSpPr>
        <p:spPr>
          <a:xfrm>
            <a:off x="9927737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Oval 489"/>
          <p:cNvSpPr/>
          <p:nvPr/>
        </p:nvSpPr>
        <p:spPr>
          <a:xfrm>
            <a:off x="10252734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Oval 490"/>
          <p:cNvSpPr/>
          <p:nvPr/>
        </p:nvSpPr>
        <p:spPr>
          <a:xfrm>
            <a:off x="10577732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Oval 491"/>
          <p:cNvSpPr/>
          <p:nvPr/>
        </p:nvSpPr>
        <p:spPr>
          <a:xfrm>
            <a:off x="10902730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Oval 492"/>
          <p:cNvSpPr/>
          <p:nvPr/>
        </p:nvSpPr>
        <p:spPr>
          <a:xfrm>
            <a:off x="11227727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Oval 493"/>
          <p:cNvSpPr/>
          <p:nvPr/>
        </p:nvSpPr>
        <p:spPr>
          <a:xfrm>
            <a:off x="11552725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Oval 494"/>
          <p:cNvSpPr/>
          <p:nvPr/>
        </p:nvSpPr>
        <p:spPr>
          <a:xfrm>
            <a:off x="9277742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Oval 495"/>
          <p:cNvSpPr/>
          <p:nvPr/>
        </p:nvSpPr>
        <p:spPr>
          <a:xfrm>
            <a:off x="9602739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Oval 496"/>
          <p:cNvSpPr/>
          <p:nvPr/>
        </p:nvSpPr>
        <p:spPr>
          <a:xfrm>
            <a:off x="9927737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Oval 497"/>
          <p:cNvSpPr/>
          <p:nvPr/>
        </p:nvSpPr>
        <p:spPr>
          <a:xfrm>
            <a:off x="10252734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Oval 498"/>
          <p:cNvSpPr/>
          <p:nvPr/>
        </p:nvSpPr>
        <p:spPr>
          <a:xfrm>
            <a:off x="10577732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Oval 499"/>
          <p:cNvSpPr/>
          <p:nvPr/>
        </p:nvSpPr>
        <p:spPr>
          <a:xfrm>
            <a:off x="10902730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Oval 500"/>
          <p:cNvSpPr/>
          <p:nvPr/>
        </p:nvSpPr>
        <p:spPr>
          <a:xfrm>
            <a:off x="11227727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Oval 501"/>
          <p:cNvSpPr/>
          <p:nvPr/>
        </p:nvSpPr>
        <p:spPr>
          <a:xfrm>
            <a:off x="11552725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Oval 502"/>
          <p:cNvSpPr/>
          <p:nvPr/>
        </p:nvSpPr>
        <p:spPr>
          <a:xfrm>
            <a:off x="9277742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Oval 503"/>
          <p:cNvSpPr/>
          <p:nvPr/>
        </p:nvSpPr>
        <p:spPr>
          <a:xfrm>
            <a:off x="9602739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Oval 504"/>
          <p:cNvSpPr/>
          <p:nvPr/>
        </p:nvSpPr>
        <p:spPr>
          <a:xfrm>
            <a:off x="9927737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Oval 505"/>
          <p:cNvSpPr/>
          <p:nvPr/>
        </p:nvSpPr>
        <p:spPr>
          <a:xfrm>
            <a:off x="10902730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Oval 506"/>
          <p:cNvSpPr/>
          <p:nvPr/>
        </p:nvSpPr>
        <p:spPr>
          <a:xfrm>
            <a:off x="11227727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Oval 507"/>
          <p:cNvSpPr/>
          <p:nvPr/>
        </p:nvSpPr>
        <p:spPr>
          <a:xfrm>
            <a:off x="11552725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Oval 508"/>
          <p:cNvSpPr/>
          <p:nvPr/>
        </p:nvSpPr>
        <p:spPr>
          <a:xfrm>
            <a:off x="9277742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Oval 509"/>
          <p:cNvSpPr/>
          <p:nvPr/>
        </p:nvSpPr>
        <p:spPr>
          <a:xfrm>
            <a:off x="9602739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Oval 510"/>
          <p:cNvSpPr/>
          <p:nvPr/>
        </p:nvSpPr>
        <p:spPr>
          <a:xfrm>
            <a:off x="9927737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Oval 511"/>
          <p:cNvSpPr/>
          <p:nvPr/>
        </p:nvSpPr>
        <p:spPr>
          <a:xfrm>
            <a:off x="10252734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Oval 512"/>
          <p:cNvSpPr/>
          <p:nvPr/>
        </p:nvSpPr>
        <p:spPr>
          <a:xfrm>
            <a:off x="10577732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Oval 513"/>
          <p:cNvSpPr/>
          <p:nvPr/>
        </p:nvSpPr>
        <p:spPr>
          <a:xfrm>
            <a:off x="10902730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Oval 514"/>
          <p:cNvSpPr/>
          <p:nvPr/>
        </p:nvSpPr>
        <p:spPr>
          <a:xfrm>
            <a:off x="11227727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Oval 515"/>
          <p:cNvSpPr/>
          <p:nvPr/>
        </p:nvSpPr>
        <p:spPr>
          <a:xfrm>
            <a:off x="11552725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Oval 516"/>
          <p:cNvSpPr/>
          <p:nvPr/>
        </p:nvSpPr>
        <p:spPr>
          <a:xfrm>
            <a:off x="9277742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Oval 517"/>
          <p:cNvSpPr/>
          <p:nvPr/>
        </p:nvSpPr>
        <p:spPr>
          <a:xfrm>
            <a:off x="9602739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Oval 518"/>
          <p:cNvSpPr/>
          <p:nvPr/>
        </p:nvSpPr>
        <p:spPr>
          <a:xfrm>
            <a:off x="9927737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Oval 519"/>
          <p:cNvSpPr/>
          <p:nvPr/>
        </p:nvSpPr>
        <p:spPr>
          <a:xfrm>
            <a:off x="10252734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Oval 520"/>
          <p:cNvSpPr/>
          <p:nvPr/>
        </p:nvSpPr>
        <p:spPr>
          <a:xfrm>
            <a:off x="10577732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Oval 521"/>
          <p:cNvSpPr/>
          <p:nvPr/>
        </p:nvSpPr>
        <p:spPr>
          <a:xfrm>
            <a:off x="10902730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Oval 522"/>
          <p:cNvSpPr/>
          <p:nvPr/>
        </p:nvSpPr>
        <p:spPr>
          <a:xfrm>
            <a:off x="11227727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Oval 523"/>
          <p:cNvSpPr/>
          <p:nvPr/>
        </p:nvSpPr>
        <p:spPr>
          <a:xfrm>
            <a:off x="11552725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Oval 524"/>
          <p:cNvSpPr/>
          <p:nvPr/>
        </p:nvSpPr>
        <p:spPr>
          <a:xfrm>
            <a:off x="9277742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Oval 525"/>
          <p:cNvSpPr/>
          <p:nvPr/>
        </p:nvSpPr>
        <p:spPr>
          <a:xfrm>
            <a:off x="9602739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Oval 526"/>
          <p:cNvSpPr/>
          <p:nvPr/>
        </p:nvSpPr>
        <p:spPr>
          <a:xfrm>
            <a:off x="9927737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Oval 527"/>
          <p:cNvSpPr/>
          <p:nvPr/>
        </p:nvSpPr>
        <p:spPr>
          <a:xfrm>
            <a:off x="10252734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Oval 528"/>
          <p:cNvSpPr/>
          <p:nvPr/>
        </p:nvSpPr>
        <p:spPr>
          <a:xfrm>
            <a:off x="10577732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Oval 529"/>
          <p:cNvSpPr/>
          <p:nvPr/>
        </p:nvSpPr>
        <p:spPr>
          <a:xfrm>
            <a:off x="10902730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Oval 530"/>
          <p:cNvSpPr/>
          <p:nvPr/>
        </p:nvSpPr>
        <p:spPr>
          <a:xfrm>
            <a:off x="11227727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Oval 531"/>
          <p:cNvSpPr/>
          <p:nvPr/>
        </p:nvSpPr>
        <p:spPr>
          <a:xfrm>
            <a:off x="11552725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3" name="Connector 532"/>
          <p:cNvCxnSpPr/>
          <p:nvPr/>
        </p:nvCxnSpPr>
        <p:spPr>
          <a:xfrm>
            <a:off x="10252734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4" name="Connector 533"/>
          <p:cNvCxnSpPr/>
          <p:nvPr/>
        </p:nvCxnSpPr>
        <p:spPr>
          <a:xfrm flipV="1">
            <a:off x="10252734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5" name="Connector 534"/>
          <p:cNvCxnSpPr/>
          <p:nvPr/>
        </p:nvCxnSpPr>
        <p:spPr>
          <a:xfrm>
            <a:off x="10577732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6" name="Connector 535"/>
          <p:cNvCxnSpPr/>
          <p:nvPr/>
        </p:nvCxnSpPr>
        <p:spPr>
          <a:xfrm flipV="1">
            <a:off x="10577732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7" name="5-Point Star 536"/>
          <p:cNvSpPr/>
          <p:nvPr/>
        </p:nvSpPr>
        <p:spPr>
          <a:xfrm>
            <a:off x="11505045" y="2400880"/>
            <a:ext cx="158931" cy="158931"/>
          </a:xfrm>
          <a:prstGeom prst="star5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TextBox 537"/>
          <p:cNvSpPr txBox="1"/>
          <p:nvPr/>
        </p:nvSpPr>
        <p:spPr>
          <a:xfrm>
            <a:off x="9098280" y="2798064"/>
            <a:ext cx="2697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0">
                <a:solidFill>
                  <a:srgbClr val="5A6673"/>
                </a:solidFill>
                <a:latin typeface="Microsoft YaHei"/>
              </a:rPr>
              <a:t>同一转向集内换路径，牺牲仍为 0</a:t>
            </a:r>
          </a:p>
        </p:txBody>
      </p:sp>
      <p:sp>
        <p:nvSpPr>
          <p:cNvPr id="539" name="TextBox 538"/>
          <p:cNvSpPr txBox="1"/>
          <p:nvPr/>
        </p:nvSpPr>
        <p:spPr>
          <a:xfrm>
            <a:off x="9098280" y="2999232"/>
            <a:ext cx="2697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1">
                <a:solidFill>
                  <a:srgbClr val="1E7F4F"/>
                </a:solidFill>
                <a:latin typeface="Microsoft YaHei"/>
              </a:rPr>
              <a:t>峰值 154 = 1.45× 割界（−25%）</a:t>
            </a:r>
          </a:p>
        </p:txBody>
      </p:sp>
      <p:sp>
        <p:nvSpPr>
          <p:cNvPr id="540" name="Rectangle 539"/>
          <p:cNvSpPr/>
          <p:nvPr/>
        </p:nvSpPr>
        <p:spPr>
          <a:xfrm>
            <a:off x="603504" y="3273552"/>
            <a:ext cx="67619" cy="109728"/>
          </a:xfrm>
          <a:prstGeom prst="rect">
            <a:avLst/>
          </a:prstGeom>
          <a:solidFill>
            <a:srgbClr val="E9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1" name="Rectangle 540"/>
          <p:cNvSpPr/>
          <p:nvPr/>
        </p:nvSpPr>
        <p:spPr>
          <a:xfrm>
            <a:off x="669798" y="3273552"/>
            <a:ext cx="67619" cy="109728"/>
          </a:xfrm>
          <a:prstGeom prst="rect">
            <a:avLst/>
          </a:prstGeom>
          <a:solidFill>
            <a:srgbClr val="E3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2" name="Rectangle 541"/>
          <p:cNvSpPr/>
          <p:nvPr/>
        </p:nvSpPr>
        <p:spPr>
          <a:xfrm>
            <a:off x="736092" y="3273552"/>
            <a:ext cx="67619" cy="109728"/>
          </a:xfrm>
          <a:prstGeom prst="rect">
            <a:avLst/>
          </a:prstGeom>
          <a:solidFill>
            <a:srgbClr val="DDE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3" name="Rectangle 542"/>
          <p:cNvSpPr/>
          <p:nvPr/>
        </p:nvSpPr>
        <p:spPr>
          <a:xfrm>
            <a:off x="802386" y="3273552"/>
            <a:ext cx="67619" cy="109728"/>
          </a:xfrm>
          <a:prstGeom prst="rect">
            <a:avLst/>
          </a:prstGeom>
          <a:solidFill>
            <a:srgbClr val="D7E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4" name="Rectangle 543"/>
          <p:cNvSpPr/>
          <p:nvPr/>
        </p:nvSpPr>
        <p:spPr>
          <a:xfrm>
            <a:off x="868680" y="3273552"/>
            <a:ext cx="67619" cy="109728"/>
          </a:xfrm>
          <a:prstGeom prst="rect">
            <a:avLst/>
          </a:prstGeom>
          <a:solidFill>
            <a:srgbClr val="D2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5" name="Rectangle 544"/>
          <p:cNvSpPr/>
          <p:nvPr/>
        </p:nvSpPr>
        <p:spPr>
          <a:xfrm>
            <a:off x="934974" y="3273552"/>
            <a:ext cx="67619" cy="109728"/>
          </a:xfrm>
          <a:prstGeom prst="rect">
            <a:avLst/>
          </a:prstGeom>
          <a:solidFill>
            <a:srgbClr val="CCD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6" name="Rectangle 545"/>
          <p:cNvSpPr/>
          <p:nvPr/>
        </p:nvSpPr>
        <p:spPr>
          <a:xfrm>
            <a:off x="1001268" y="3273552"/>
            <a:ext cx="67619" cy="109728"/>
          </a:xfrm>
          <a:prstGeom prst="rect">
            <a:avLst/>
          </a:prstGeom>
          <a:solidFill>
            <a:srgbClr val="C6DA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7" name="Rectangle 546"/>
          <p:cNvSpPr/>
          <p:nvPr/>
        </p:nvSpPr>
        <p:spPr>
          <a:xfrm>
            <a:off x="1067562" y="3273552"/>
            <a:ext cx="67619" cy="109728"/>
          </a:xfrm>
          <a:prstGeom prst="rect">
            <a:avLst/>
          </a:prstGeom>
          <a:solidFill>
            <a:srgbClr val="C0D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8" name="Rectangle 547"/>
          <p:cNvSpPr/>
          <p:nvPr/>
        </p:nvSpPr>
        <p:spPr>
          <a:xfrm>
            <a:off x="1133856" y="3273552"/>
            <a:ext cx="67619" cy="109728"/>
          </a:xfrm>
          <a:prstGeom prst="rect">
            <a:avLst/>
          </a:prstGeom>
          <a:solidFill>
            <a:srgbClr val="BAD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9" name="Rectangle 548"/>
          <p:cNvSpPr/>
          <p:nvPr/>
        </p:nvSpPr>
        <p:spPr>
          <a:xfrm>
            <a:off x="1200150" y="3273552"/>
            <a:ext cx="67619" cy="109728"/>
          </a:xfrm>
          <a:prstGeom prst="rect">
            <a:avLst/>
          </a:prstGeom>
          <a:solidFill>
            <a:srgbClr val="B4D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0" name="Rectangle 549"/>
          <p:cNvSpPr/>
          <p:nvPr/>
        </p:nvSpPr>
        <p:spPr>
          <a:xfrm>
            <a:off x="1266444" y="3273552"/>
            <a:ext cx="67619" cy="109728"/>
          </a:xfrm>
          <a:prstGeom prst="rect">
            <a:avLst/>
          </a:prstGeom>
          <a:solidFill>
            <a:srgbClr val="AEC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1" name="Rectangle 550"/>
          <p:cNvSpPr/>
          <p:nvPr/>
        </p:nvSpPr>
        <p:spPr>
          <a:xfrm>
            <a:off x="1332738" y="3273552"/>
            <a:ext cx="67619" cy="109728"/>
          </a:xfrm>
          <a:prstGeom prst="rect">
            <a:avLst/>
          </a:prstGeom>
          <a:solidFill>
            <a:srgbClr val="AAC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2" name="Rectangle 551"/>
          <p:cNvSpPr/>
          <p:nvPr/>
        </p:nvSpPr>
        <p:spPr>
          <a:xfrm>
            <a:off x="1399031" y="3273552"/>
            <a:ext cx="67619" cy="109728"/>
          </a:xfrm>
          <a:prstGeom prst="rect">
            <a:avLst/>
          </a:prstGeom>
          <a:solidFill>
            <a:srgbClr val="B1CA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3" name="Rectangle 552"/>
          <p:cNvSpPr/>
          <p:nvPr/>
        </p:nvSpPr>
        <p:spPr>
          <a:xfrm>
            <a:off x="1465326" y="3273552"/>
            <a:ext cx="67619" cy="109728"/>
          </a:xfrm>
          <a:prstGeom prst="rect">
            <a:avLst/>
          </a:prstGeom>
          <a:solidFill>
            <a:srgbClr val="B9CA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4" name="Rectangle 553"/>
          <p:cNvSpPr/>
          <p:nvPr/>
        </p:nvSpPr>
        <p:spPr>
          <a:xfrm>
            <a:off x="1531620" y="3273552"/>
            <a:ext cx="67619" cy="109728"/>
          </a:xfrm>
          <a:prstGeom prst="rect">
            <a:avLst/>
          </a:prstGeom>
          <a:solidFill>
            <a:srgbClr val="C1CB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5" name="Rectangle 554"/>
          <p:cNvSpPr/>
          <p:nvPr/>
        </p:nvSpPr>
        <p:spPr>
          <a:xfrm>
            <a:off x="1597914" y="3273552"/>
            <a:ext cx="67619" cy="109728"/>
          </a:xfrm>
          <a:prstGeom prst="rect">
            <a:avLst/>
          </a:prstGeom>
          <a:solidFill>
            <a:srgbClr val="C9CC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6" name="Rectangle 555"/>
          <p:cNvSpPr/>
          <p:nvPr/>
        </p:nvSpPr>
        <p:spPr>
          <a:xfrm>
            <a:off x="1664207" y="3273552"/>
            <a:ext cx="67619" cy="109728"/>
          </a:xfrm>
          <a:prstGeom prst="rect">
            <a:avLst/>
          </a:prstGeom>
          <a:solidFill>
            <a:srgbClr val="D1C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7" name="Rectangle 556"/>
          <p:cNvSpPr/>
          <p:nvPr/>
        </p:nvSpPr>
        <p:spPr>
          <a:xfrm>
            <a:off x="1730502" y="3273552"/>
            <a:ext cx="67619" cy="109728"/>
          </a:xfrm>
          <a:prstGeom prst="rect">
            <a:avLst/>
          </a:prstGeom>
          <a:solidFill>
            <a:srgbClr val="D8CD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8" name="Rectangle 557"/>
          <p:cNvSpPr/>
          <p:nvPr/>
        </p:nvSpPr>
        <p:spPr>
          <a:xfrm>
            <a:off x="1796795" y="3273552"/>
            <a:ext cx="67619" cy="109728"/>
          </a:xfrm>
          <a:prstGeom prst="rect">
            <a:avLst/>
          </a:prstGeom>
          <a:solidFill>
            <a:srgbClr val="E0C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9" name="Rectangle 558"/>
          <p:cNvSpPr/>
          <p:nvPr/>
        </p:nvSpPr>
        <p:spPr>
          <a:xfrm>
            <a:off x="1863090" y="3273552"/>
            <a:ext cx="67619" cy="109728"/>
          </a:xfrm>
          <a:prstGeom prst="rect">
            <a:avLst/>
          </a:prstGeom>
          <a:solidFill>
            <a:srgbClr val="E8C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0" name="Rectangle 559"/>
          <p:cNvSpPr/>
          <p:nvPr/>
        </p:nvSpPr>
        <p:spPr>
          <a:xfrm>
            <a:off x="1929384" y="3273552"/>
            <a:ext cx="67619" cy="109728"/>
          </a:xfrm>
          <a:prstGeom prst="rect">
            <a:avLst/>
          </a:prstGeom>
          <a:solidFill>
            <a:srgbClr val="F0C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1" name="Rectangle 560"/>
          <p:cNvSpPr/>
          <p:nvPr/>
        </p:nvSpPr>
        <p:spPr>
          <a:xfrm>
            <a:off x="1995678" y="3273552"/>
            <a:ext cx="67619" cy="109728"/>
          </a:xfrm>
          <a:prstGeom prst="rect">
            <a:avLst/>
          </a:prstGeom>
          <a:solidFill>
            <a:srgbClr val="F1C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2" name="Rectangle 561"/>
          <p:cNvSpPr/>
          <p:nvPr/>
        </p:nvSpPr>
        <p:spPr>
          <a:xfrm>
            <a:off x="2061972" y="3273552"/>
            <a:ext cx="67619" cy="109728"/>
          </a:xfrm>
          <a:prstGeom prst="rect">
            <a:avLst/>
          </a:prstGeom>
          <a:solidFill>
            <a:srgbClr val="F0C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3" name="Rectangle 562"/>
          <p:cNvSpPr/>
          <p:nvPr/>
        </p:nvSpPr>
        <p:spPr>
          <a:xfrm>
            <a:off x="2128266" y="3273552"/>
            <a:ext cx="67619" cy="109728"/>
          </a:xfrm>
          <a:prstGeom prst="rect">
            <a:avLst/>
          </a:prstGeom>
          <a:solidFill>
            <a:srgbClr val="EEB9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4" name="Rectangle 563"/>
          <p:cNvSpPr/>
          <p:nvPr/>
        </p:nvSpPr>
        <p:spPr>
          <a:xfrm>
            <a:off x="2194560" y="3273552"/>
            <a:ext cx="67619" cy="109728"/>
          </a:xfrm>
          <a:prstGeom prst="rect">
            <a:avLst/>
          </a:prstGeom>
          <a:solidFill>
            <a:srgbClr val="EDB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5" name="Rectangle 564"/>
          <p:cNvSpPr/>
          <p:nvPr/>
        </p:nvSpPr>
        <p:spPr>
          <a:xfrm>
            <a:off x="2260854" y="3273552"/>
            <a:ext cx="67619" cy="109728"/>
          </a:xfrm>
          <a:prstGeom prst="rect">
            <a:avLst/>
          </a:prstGeom>
          <a:solidFill>
            <a:srgbClr val="EBA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6" name="Rectangle 565"/>
          <p:cNvSpPr/>
          <p:nvPr/>
        </p:nvSpPr>
        <p:spPr>
          <a:xfrm>
            <a:off x="2327148" y="3273552"/>
            <a:ext cx="67619" cy="109728"/>
          </a:xfrm>
          <a:prstGeom prst="rect">
            <a:avLst/>
          </a:prstGeom>
          <a:solidFill>
            <a:srgbClr val="EAA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7" name="Rectangle 566"/>
          <p:cNvSpPr/>
          <p:nvPr/>
        </p:nvSpPr>
        <p:spPr>
          <a:xfrm>
            <a:off x="2393442" y="3273552"/>
            <a:ext cx="67619" cy="109728"/>
          </a:xfrm>
          <a:prstGeom prst="rect">
            <a:avLst/>
          </a:prstGeom>
          <a:solidFill>
            <a:srgbClr val="E99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8" name="Rectangle 567"/>
          <p:cNvSpPr/>
          <p:nvPr/>
        </p:nvSpPr>
        <p:spPr>
          <a:xfrm>
            <a:off x="2459736" y="3273552"/>
            <a:ext cx="67619" cy="109728"/>
          </a:xfrm>
          <a:prstGeom prst="rect">
            <a:avLst/>
          </a:prstGeom>
          <a:solidFill>
            <a:srgbClr val="E78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9" name="Rectangle 568"/>
          <p:cNvSpPr/>
          <p:nvPr/>
        </p:nvSpPr>
        <p:spPr>
          <a:xfrm>
            <a:off x="2526030" y="3273552"/>
            <a:ext cx="67619" cy="109728"/>
          </a:xfrm>
          <a:prstGeom prst="rect">
            <a:avLst/>
          </a:prstGeom>
          <a:solidFill>
            <a:srgbClr val="E68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0" name="Rectangle 569"/>
          <p:cNvSpPr/>
          <p:nvPr/>
        </p:nvSpPr>
        <p:spPr>
          <a:xfrm>
            <a:off x="2592324" y="3273552"/>
            <a:ext cx="67619" cy="109728"/>
          </a:xfrm>
          <a:prstGeom prst="rect">
            <a:avLst/>
          </a:prstGeom>
          <a:solidFill>
            <a:srgbClr val="E37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1" name="Rectangle 570"/>
          <p:cNvSpPr/>
          <p:nvPr/>
        </p:nvSpPr>
        <p:spPr>
          <a:xfrm>
            <a:off x="2658618" y="3273552"/>
            <a:ext cx="67619" cy="109728"/>
          </a:xfrm>
          <a:prstGeom prst="rect">
            <a:avLst/>
          </a:prstGeom>
          <a:solidFill>
            <a:srgbClr val="DD74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2" name="Rectangle 571"/>
          <p:cNvSpPr/>
          <p:nvPr/>
        </p:nvSpPr>
        <p:spPr>
          <a:xfrm>
            <a:off x="2724912" y="3273552"/>
            <a:ext cx="67619" cy="109728"/>
          </a:xfrm>
          <a:prstGeom prst="rect">
            <a:avLst/>
          </a:prstGeom>
          <a:solidFill>
            <a:srgbClr val="D76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3" name="Rectangle 572"/>
          <p:cNvSpPr/>
          <p:nvPr/>
        </p:nvSpPr>
        <p:spPr>
          <a:xfrm>
            <a:off x="2791206" y="3273552"/>
            <a:ext cx="67619" cy="109728"/>
          </a:xfrm>
          <a:prstGeom prst="rect">
            <a:avLst/>
          </a:prstGeom>
          <a:solidFill>
            <a:srgbClr val="D16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4" name="Rectangle 573"/>
          <p:cNvSpPr/>
          <p:nvPr/>
        </p:nvSpPr>
        <p:spPr>
          <a:xfrm>
            <a:off x="2857500" y="3273552"/>
            <a:ext cx="67619" cy="109728"/>
          </a:xfrm>
          <a:prstGeom prst="rect">
            <a:avLst/>
          </a:prstGeom>
          <a:solidFill>
            <a:srgbClr val="CB5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5" name="Rectangle 574"/>
          <p:cNvSpPr/>
          <p:nvPr/>
        </p:nvSpPr>
        <p:spPr>
          <a:xfrm>
            <a:off x="2923794" y="3273552"/>
            <a:ext cx="67619" cy="109728"/>
          </a:xfrm>
          <a:prstGeom prst="rect">
            <a:avLst/>
          </a:prstGeom>
          <a:solidFill>
            <a:srgbClr val="C64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6" name="Rectangle 575"/>
          <p:cNvSpPr/>
          <p:nvPr/>
        </p:nvSpPr>
        <p:spPr>
          <a:xfrm>
            <a:off x="2990088" y="3273552"/>
            <a:ext cx="67619" cy="109728"/>
          </a:xfrm>
          <a:prstGeom prst="rect">
            <a:avLst/>
          </a:prstGeom>
          <a:solidFill>
            <a:srgbClr val="C04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7" name="Rectangle 576"/>
          <p:cNvSpPr/>
          <p:nvPr/>
        </p:nvSpPr>
        <p:spPr>
          <a:xfrm>
            <a:off x="3056382" y="3273552"/>
            <a:ext cx="67619" cy="109728"/>
          </a:xfrm>
          <a:prstGeom prst="rect">
            <a:avLst/>
          </a:prstGeom>
          <a:solidFill>
            <a:srgbClr val="BA3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8" name="Rectangle 577"/>
          <p:cNvSpPr/>
          <p:nvPr/>
        </p:nvSpPr>
        <p:spPr>
          <a:xfrm>
            <a:off x="3122676" y="3273552"/>
            <a:ext cx="67619" cy="109728"/>
          </a:xfrm>
          <a:prstGeom prst="rect">
            <a:avLst/>
          </a:prstGeom>
          <a:solidFill>
            <a:srgbClr val="B42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9" name="Rectangle 578"/>
          <p:cNvSpPr/>
          <p:nvPr/>
        </p:nvSpPr>
        <p:spPr>
          <a:xfrm>
            <a:off x="3188970" y="3273552"/>
            <a:ext cx="67619" cy="109728"/>
          </a:xfrm>
          <a:prstGeom prst="rect">
            <a:avLst/>
          </a:prstGeom>
          <a:solidFill>
            <a:srgbClr val="AE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0" name="Rectangle 579"/>
          <p:cNvSpPr/>
          <p:nvPr/>
        </p:nvSpPr>
        <p:spPr>
          <a:xfrm>
            <a:off x="603504" y="3273552"/>
            <a:ext cx="2651760" cy="109728"/>
          </a:xfrm>
          <a:prstGeom prst="rect">
            <a:avLst/>
          </a:prstGeom>
          <a:noFill/>
          <a:ln w="6350">
            <a:solidFill>
              <a:srgbClr val="9AA5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cxnSp>
        <p:nvCxnSpPr>
          <p:cNvPr id="581" name="Connector 580"/>
          <p:cNvCxnSpPr/>
          <p:nvPr/>
        </p:nvCxnSpPr>
        <p:spPr>
          <a:xfrm>
            <a:off x="603504" y="3383280"/>
            <a:ext cx="0" cy="45720"/>
          </a:xfrm>
          <a:prstGeom prst="line">
            <a:avLst/>
          </a:prstGeom>
          <a:ln w="7620">
            <a:solidFill>
              <a:srgbClr val="5A66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2" name="TextBox 581"/>
          <p:cNvSpPr txBox="1"/>
          <p:nvPr/>
        </p:nvSpPr>
        <p:spPr>
          <a:xfrm>
            <a:off x="219456" y="3429000"/>
            <a:ext cx="76809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cxnSp>
        <p:nvCxnSpPr>
          <p:cNvPr id="583" name="Connector 582"/>
          <p:cNvCxnSpPr/>
          <p:nvPr/>
        </p:nvCxnSpPr>
        <p:spPr>
          <a:xfrm>
            <a:off x="1266444" y="3383280"/>
            <a:ext cx="0" cy="45720"/>
          </a:xfrm>
          <a:prstGeom prst="line">
            <a:avLst/>
          </a:prstGeom>
          <a:ln w="7620">
            <a:solidFill>
              <a:srgbClr val="5A66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4" name="TextBox 583"/>
          <p:cNvSpPr txBox="1"/>
          <p:nvPr/>
        </p:nvSpPr>
        <p:spPr>
          <a:xfrm>
            <a:off x="882396" y="3429000"/>
            <a:ext cx="76809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0.5×</a:t>
            </a:r>
          </a:p>
        </p:txBody>
      </p:sp>
      <p:cxnSp>
        <p:nvCxnSpPr>
          <p:cNvPr id="585" name="Connector 584"/>
          <p:cNvCxnSpPr/>
          <p:nvPr/>
        </p:nvCxnSpPr>
        <p:spPr>
          <a:xfrm>
            <a:off x="1929384" y="3383280"/>
            <a:ext cx="0" cy="45720"/>
          </a:xfrm>
          <a:prstGeom prst="line">
            <a:avLst/>
          </a:prstGeom>
          <a:ln w="7620">
            <a:solidFill>
              <a:srgbClr val="5A66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6" name="TextBox 585"/>
          <p:cNvSpPr txBox="1"/>
          <p:nvPr/>
        </p:nvSpPr>
        <p:spPr>
          <a:xfrm>
            <a:off x="1545336" y="3429000"/>
            <a:ext cx="76809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1.0× 割界</a:t>
            </a:r>
          </a:p>
        </p:txBody>
      </p:sp>
      <p:cxnSp>
        <p:nvCxnSpPr>
          <p:cNvPr id="587" name="Connector 586"/>
          <p:cNvCxnSpPr/>
          <p:nvPr/>
        </p:nvCxnSpPr>
        <p:spPr>
          <a:xfrm>
            <a:off x="2592324" y="3383280"/>
            <a:ext cx="0" cy="45720"/>
          </a:xfrm>
          <a:prstGeom prst="line">
            <a:avLst/>
          </a:prstGeom>
          <a:ln w="7620">
            <a:solidFill>
              <a:srgbClr val="5A66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8" name="TextBox 587"/>
          <p:cNvSpPr txBox="1"/>
          <p:nvPr/>
        </p:nvSpPr>
        <p:spPr>
          <a:xfrm>
            <a:off x="2208276" y="3429000"/>
            <a:ext cx="76809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1.5×</a:t>
            </a:r>
          </a:p>
        </p:txBody>
      </p:sp>
      <p:cxnSp>
        <p:nvCxnSpPr>
          <p:cNvPr id="589" name="Connector 588"/>
          <p:cNvCxnSpPr/>
          <p:nvPr/>
        </p:nvCxnSpPr>
        <p:spPr>
          <a:xfrm>
            <a:off x="3255264" y="3383280"/>
            <a:ext cx="0" cy="45720"/>
          </a:xfrm>
          <a:prstGeom prst="line">
            <a:avLst/>
          </a:prstGeom>
          <a:ln w="7620">
            <a:solidFill>
              <a:srgbClr val="5A66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0" name="TextBox 589"/>
          <p:cNvSpPr txBox="1"/>
          <p:nvPr/>
        </p:nvSpPr>
        <p:spPr>
          <a:xfrm>
            <a:off x="2871216" y="3429000"/>
            <a:ext cx="76809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≥2.0×</a:t>
            </a:r>
          </a:p>
        </p:txBody>
      </p:sp>
      <p:sp>
        <p:nvSpPr>
          <p:cNvPr id="591" name="TextBox 590"/>
          <p:cNvSpPr txBox="1"/>
          <p:nvPr/>
        </p:nvSpPr>
        <p:spPr>
          <a:xfrm>
            <a:off x="3712463" y="3236976"/>
            <a:ext cx="80832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色标 = 该链路承载的 (s,d) 对数 ÷ 本场景割界（两方向取大者）；割界 = 任何路由都突破不了的最小可能峰值，所以「÷割界」才是跨场景可比的量。× = 死 router (3,2)/(4,2)，红叉虚线 = 断链 (1,4)–(2,4)，空心圆 = 被牺牲的好节点，★ = 根。M3′ 最热 10 条链路中 1 条落在根的 ≤2 跳邻域内。</a:t>
            </a:r>
          </a:p>
        </p:txBody>
      </p:sp>
      <p:sp>
        <p:nvSpPr>
          <p:cNvPr id="592" name="Rounded Rectangle 591"/>
          <p:cNvSpPr/>
          <p:nvPr/>
        </p:nvSpPr>
        <p:spPr>
          <a:xfrm>
            <a:off x="274320" y="3803904"/>
            <a:ext cx="7406640" cy="1847088"/>
          </a:xfrm>
          <a:prstGeom prst="roundRect">
            <a:avLst>
              <a:gd name="adj" fmla="val 1980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3" name="Rounded Rectangle 592"/>
          <p:cNvSpPr/>
          <p:nvPr/>
        </p:nvSpPr>
        <p:spPr>
          <a:xfrm>
            <a:off x="274320" y="3803904"/>
            <a:ext cx="7406640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4" name="Rectangle 593"/>
          <p:cNvSpPr/>
          <p:nvPr/>
        </p:nvSpPr>
        <p:spPr>
          <a:xfrm>
            <a:off x="274320" y="3803904"/>
            <a:ext cx="50292" cy="2743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5" name="TextBox 594"/>
          <p:cNvSpPr txBox="1"/>
          <p:nvPr/>
        </p:nvSpPr>
        <p:spPr>
          <a:xfrm>
            <a:off x="420623" y="3831336"/>
            <a:ext cx="7132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② 负载不均的定量代价（物理 1 VC）</a:t>
            </a:r>
          </a:p>
        </p:txBody>
      </p:sp>
      <p:sp>
        <p:nvSpPr>
          <p:cNvPr id="596" name="Rectangle 595"/>
          <p:cNvSpPr/>
          <p:nvPr/>
        </p:nvSpPr>
        <p:spPr>
          <a:xfrm>
            <a:off x="384048" y="4114800"/>
            <a:ext cx="6492240" cy="237744"/>
          </a:xfrm>
          <a:prstGeom prst="rect">
            <a:avLst/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7" name="TextBox 596"/>
          <p:cNvSpPr txBox="1"/>
          <p:nvPr/>
        </p:nvSpPr>
        <p:spPr>
          <a:xfrm>
            <a:off x="420623" y="4114800"/>
            <a:ext cx="162763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方案 / 场景</a:t>
            </a:r>
          </a:p>
        </p:txBody>
      </p:sp>
      <p:sp>
        <p:nvSpPr>
          <p:cNvPr id="598" name="TextBox 597"/>
          <p:cNvSpPr txBox="1"/>
          <p:nvPr/>
        </p:nvSpPr>
        <p:spPr>
          <a:xfrm>
            <a:off x="2121408" y="4114800"/>
            <a:ext cx="60350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参与节点</a:t>
            </a:r>
          </a:p>
        </p:txBody>
      </p:sp>
      <p:sp>
        <p:nvSpPr>
          <p:cNvPr id="599" name="TextBox 598"/>
          <p:cNvSpPr txBox="1"/>
          <p:nvPr/>
        </p:nvSpPr>
        <p:spPr>
          <a:xfrm>
            <a:off x="2798064" y="4114800"/>
            <a:ext cx="71323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峰值链路负载</a:t>
            </a:r>
          </a:p>
        </p:txBody>
      </p:sp>
      <p:sp>
        <p:nvSpPr>
          <p:cNvPr id="600" name="TextBox 599"/>
          <p:cNvSpPr txBox="1"/>
          <p:nvPr/>
        </p:nvSpPr>
        <p:spPr>
          <a:xfrm>
            <a:off x="3584448" y="4114800"/>
            <a:ext cx="49377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÷割界</a:t>
            </a:r>
          </a:p>
        </p:txBody>
      </p:sp>
      <p:sp>
        <p:nvSpPr>
          <p:cNvPr id="601" name="TextBox 600"/>
          <p:cNvSpPr txBox="1"/>
          <p:nvPr/>
        </p:nvSpPr>
        <p:spPr>
          <a:xfrm>
            <a:off x="4151376" y="4114800"/>
            <a:ext cx="40233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CV</a:t>
            </a:r>
          </a:p>
        </p:txBody>
      </p:sp>
      <p:sp>
        <p:nvSpPr>
          <p:cNvPr id="602" name="TextBox 601"/>
          <p:cNvSpPr txBox="1"/>
          <p:nvPr/>
        </p:nvSpPr>
        <p:spPr>
          <a:xfrm>
            <a:off x="4626864" y="4114800"/>
            <a:ext cx="65836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mk m=1</a:t>
            </a:r>
          </a:p>
        </p:txBody>
      </p:sp>
      <p:sp>
        <p:nvSpPr>
          <p:cNvPr id="603" name="TextBox 602"/>
          <p:cNvSpPr txBox="1"/>
          <p:nvPr/>
        </p:nvSpPr>
        <p:spPr>
          <a:xfrm>
            <a:off x="5358383" y="4114800"/>
            <a:ext cx="65836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mk m=13</a:t>
            </a:r>
          </a:p>
        </p:txBody>
      </p:sp>
      <p:sp>
        <p:nvSpPr>
          <p:cNvPr id="604" name="TextBox 603"/>
          <p:cNvSpPr txBox="1"/>
          <p:nvPr/>
        </p:nvSpPr>
        <p:spPr>
          <a:xfrm>
            <a:off x="6089903" y="4114800"/>
            <a:ext cx="7498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44 场景零牺牲</a:t>
            </a:r>
          </a:p>
        </p:txBody>
      </p:sp>
      <p:sp>
        <p:nvSpPr>
          <p:cNvPr id="605" name="Rectangle 604"/>
          <p:cNvSpPr/>
          <p:nvPr/>
        </p:nvSpPr>
        <p:spPr>
          <a:xfrm>
            <a:off x="384048" y="4352544"/>
            <a:ext cx="64922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06" name="TextBox 605"/>
          <p:cNvSpPr txBox="1"/>
          <p:nvPr/>
        </p:nvSpPr>
        <p:spPr>
          <a:xfrm>
            <a:off x="429768" y="4352544"/>
            <a:ext cx="1609344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XY，无故障</a:t>
            </a:r>
          </a:p>
        </p:txBody>
      </p:sp>
      <p:sp>
        <p:nvSpPr>
          <p:cNvPr id="607" name="TextBox 606"/>
          <p:cNvSpPr txBox="1"/>
          <p:nvPr/>
        </p:nvSpPr>
        <p:spPr>
          <a:xfrm>
            <a:off x="2130552" y="4352544"/>
            <a:ext cx="58521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48/48</a:t>
            </a:r>
          </a:p>
        </p:txBody>
      </p:sp>
      <p:sp>
        <p:nvSpPr>
          <p:cNvPr id="608" name="TextBox 607"/>
          <p:cNvSpPr txBox="1"/>
          <p:nvPr/>
        </p:nvSpPr>
        <p:spPr>
          <a:xfrm>
            <a:off x="2807208" y="4352544"/>
            <a:ext cx="694944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96</a:t>
            </a:r>
          </a:p>
        </p:txBody>
      </p:sp>
      <p:sp>
        <p:nvSpPr>
          <p:cNvPr id="609" name="TextBox 608"/>
          <p:cNvSpPr txBox="1"/>
          <p:nvPr/>
        </p:nvSpPr>
        <p:spPr>
          <a:xfrm>
            <a:off x="3593592" y="4352544"/>
            <a:ext cx="475488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1.00×</a:t>
            </a:r>
          </a:p>
        </p:txBody>
      </p:sp>
      <p:sp>
        <p:nvSpPr>
          <p:cNvPr id="610" name="TextBox 609"/>
          <p:cNvSpPr txBox="1"/>
          <p:nvPr/>
        </p:nvSpPr>
        <p:spPr>
          <a:xfrm>
            <a:off x="4160520" y="4352544"/>
            <a:ext cx="384048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0.30</a:t>
            </a:r>
          </a:p>
        </p:txBody>
      </p:sp>
      <p:sp>
        <p:nvSpPr>
          <p:cNvPr id="611" name="TextBox 610"/>
          <p:cNvSpPr txBox="1"/>
          <p:nvPr/>
        </p:nvSpPr>
        <p:spPr>
          <a:xfrm>
            <a:off x="4636007" y="4352544"/>
            <a:ext cx="64008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188 cy</a:t>
            </a:r>
          </a:p>
        </p:txBody>
      </p:sp>
      <p:sp>
        <p:nvSpPr>
          <p:cNvPr id="612" name="TextBox 611"/>
          <p:cNvSpPr txBox="1"/>
          <p:nvPr/>
        </p:nvSpPr>
        <p:spPr>
          <a:xfrm>
            <a:off x="5367527" y="4352544"/>
            <a:ext cx="64008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2179 cy</a:t>
            </a:r>
          </a:p>
        </p:txBody>
      </p:sp>
      <p:sp>
        <p:nvSpPr>
          <p:cNvPr id="613" name="TextBox 612"/>
          <p:cNvSpPr txBox="1"/>
          <p:nvPr/>
        </p:nvSpPr>
        <p:spPr>
          <a:xfrm>
            <a:off x="6099047" y="4352544"/>
            <a:ext cx="73152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0/44</a:t>
            </a:r>
          </a:p>
        </p:txBody>
      </p:sp>
      <p:cxnSp>
        <p:nvCxnSpPr>
          <p:cNvPr id="614" name="Connector 613"/>
          <p:cNvCxnSpPr/>
          <p:nvPr/>
        </p:nvCxnSpPr>
        <p:spPr>
          <a:xfrm>
            <a:off x="384048" y="4352544"/>
            <a:ext cx="649224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5" name="Rectangle 614"/>
          <p:cNvSpPr/>
          <p:nvPr/>
        </p:nvSpPr>
        <p:spPr>
          <a:xfrm>
            <a:off x="384048" y="4567428"/>
            <a:ext cx="6492240" cy="214884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6" name="TextBox 615"/>
          <p:cNvSpPr txBox="1"/>
          <p:nvPr/>
        </p:nvSpPr>
        <p:spPr>
          <a:xfrm>
            <a:off x="429768" y="4567428"/>
            <a:ext cx="1609344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M3′，无故障</a:t>
            </a:r>
          </a:p>
        </p:txBody>
      </p:sp>
      <p:sp>
        <p:nvSpPr>
          <p:cNvPr id="617" name="TextBox 616"/>
          <p:cNvSpPr txBox="1"/>
          <p:nvPr/>
        </p:nvSpPr>
        <p:spPr>
          <a:xfrm>
            <a:off x="2130552" y="4567428"/>
            <a:ext cx="58521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48/48</a:t>
            </a:r>
          </a:p>
        </p:txBody>
      </p:sp>
      <p:sp>
        <p:nvSpPr>
          <p:cNvPr id="618" name="TextBox 617"/>
          <p:cNvSpPr txBox="1"/>
          <p:nvPr/>
        </p:nvSpPr>
        <p:spPr>
          <a:xfrm>
            <a:off x="2807208" y="4567428"/>
            <a:ext cx="694944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135</a:t>
            </a:r>
          </a:p>
        </p:txBody>
      </p:sp>
      <p:sp>
        <p:nvSpPr>
          <p:cNvPr id="619" name="TextBox 618"/>
          <p:cNvSpPr txBox="1"/>
          <p:nvPr/>
        </p:nvSpPr>
        <p:spPr>
          <a:xfrm>
            <a:off x="3593592" y="4567428"/>
            <a:ext cx="475488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1.41×</a:t>
            </a:r>
          </a:p>
        </p:txBody>
      </p:sp>
      <p:sp>
        <p:nvSpPr>
          <p:cNvPr id="620" name="TextBox 619"/>
          <p:cNvSpPr txBox="1"/>
          <p:nvPr/>
        </p:nvSpPr>
        <p:spPr>
          <a:xfrm>
            <a:off x="4160520" y="4567428"/>
            <a:ext cx="384048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0.47</a:t>
            </a:r>
          </a:p>
        </p:txBody>
      </p:sp>
      <p:sp>
        <p:nvSpPr>
          <p:cNvPr id="621" name="TextBox 620"/>
          <p:cNvSpPr txBox="1"/>
          <p:nvPr/>
        </p:nvSpPr>
        <p:spPr>
          <a:xfrm>
            <a:off x="4636007" y="4567428"/>
            <a:ext cx="64008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233 cy</a:t>
            </a:r>
          </a:p>
        </p:txBody>
      </p:sp>
      <p:sp>
        <p:nvSpPr>
          <p:cNvPr id="622" name="TextBox 621"/>
          <p:cNvSpPr txBox="1"/>
          <p:nvPr/>
        </p:nvSpPr>
        <p:spPr>
          <a:xfrm>
            <a:off x="5367527" y="4567428"/>
            <a:ext cx="64008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4579 cy</a:t>
            </a:r>
          </a:p>
        </p:txBody>
      </p:sp>
      <p:sp>
        <p:nvSpPr>
          <p:cNvPr id="623" name="TextBox 622"/>
          <p:cNvSpPr txBox="1"/>
          <p:nvPr/>
        </p:nvSpPr>
        <p:spPr>
          <a:xfrm>
            <a:off x="6099047" y="4567428"/>
            <a:ext cx="73152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41/44</a:t>
            </a:r>
          </a:p>
        </p:txBody>
      </p:sp>
      <p:cxnSp>
        <p:nvCxnSpPr>
          <p:cNvPr id="624" name="Connector 623"/>
          <p:cNvCxnSpPr/>
          <p:nvPr/>
        </p:nvCxnSpPr>
        <p:spPr>
          <a:xfrm>
            <a:off x="384048" y="4567428"/>
            <a:ext cx="649224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5" name="Rectangle 624"/>
          <p:cNvSpPr/>
          <p:nvPr/>
        </p:nvSpPr>
        <p:spPr>
          <a:xfrm>
            <a:off x="384048" y="4782312"/>
            <a:ext cx="649224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6" name="TextBox 625"/>
          <p:cNvSpPr txBox="1"/>
          <p:nvPr/>
        </p:nvSpPr>
        <p:spPr>
          <a:xfrm>
            <a:off x="429768" y="4782312"/>
            <a:ext cx="1609344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XY，同一残图（牺牲后）</a:t>
            </a:r>
          </a:p>
        </p:txBody>
      </p:sp>
      <p:sp>
        <p:nvSpPr>
          <p:cNvPr id="627" name="TextBox 626"/>
          <p:cNvSpPr txBox="1"/>
          <p:nvPr/>
        </p:nvSpPr>
        <p:spPr>
          <a:xfrm>
            <a:off x="2130552" y="4782312"/>
            <a:ext cx="58521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24/46</a:t>
            </a:r>
          </a:p>
        </p:txBody>
      </p:sp>
      <p:sp>
        <p:nvSpPr>
          <p:cNvPr id="628" name="TextBox 627"/>
          <p:cNvSpPr txBox="1"/>
          <p:nvPr/>
        </p:nvSpPr>
        <p:spPr>
          <a:xfrm>
            <a:off x="2807208" y="4782312"/>
            <a:ext cx="694944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36</a:t>
            </a:r>
          </a:p>
        </p:txBody>
      </p:sp>
      <p:sp>
        <p:nvSpPr>
          <p:cNvPr id="629" name="TextBox 628"/>
          <p:cNvSpPr txBox="1"/>
          <p:nvPr/>
        </p:nvSpPr>
        <p:spPr>
          <a:xfrm>
            <a:off x="3593592" y="4782312"/>
            <a:ext cx="475488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1.24×</a:t>
            </a:r>
          </a:p>
        </p:txBody>
      </p:sp>
      <p:sp>
        <p:nvSpPr>
          <p:cNvPr id="630" name="TextBox 629"/>
          <p:cNvSpPr txBox="1"/>
          <p:nvPr/>
        </p:nvSpPr>
        <p:spPr>
          <a:xfrm>
            <a:off x="4160520" y="4782312"/>
            <a:ext cx="384048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0.61</a:t>
            </a:r>
          </a:p>
        </p:txBody>
      </p:sp>
      <p:sp>
        <p:nvSpPr>
          <p:cNvPr id="631" name="TextBox 630"/>
          <p:cNvSpPr txBox="1"/>
          <p:nvPr/>
        </p:nvSpPr>
        <p:spPr>
          <a:xfrm>
            <a:off x="4636007" y="4782312"/>
            <a:ext cx="64008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632" name="TextBox 631"/>
          <p:cNvSpPr txBox="1"/>
          <p:nvPr/>
        </p:nvSpPr>
        <p:spPr>
          <a:xfrm>
            <a:off x="5367527" y="4782312"/>
            <a:ext cx="64008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633" name="TextBox 632"/>
          <p:cNvSpPr txBox="1"/>
          <p:nvPr/>
        </p:nvSpPr>
        <p:spPr>
          <a:xfrm>
            <a:off x="6099047" y="4782312"/>
            <a:ext cx="73152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cxnSp>
        <p:nvCxnSpPr>
          <p:cNvPr id="634" name="Connector 633"/>
          <p:cNvCxnSpPr/>
          <p:nvPr/>
        </p:nvCxnSpPr>
        <p:spPr>
          <a:xfrm>
            <a:off x="384048" y="4782312"/>
            <a:ext cx="649224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5" name="Rectangle 634"/>
          <p:cNvSpPr/>
          <p:nvPr/>
        </p:nvSpPr>
        <p:spPr>
          <a:xfrm>
            <a:off x="384048" y="4997196"/>
            <a:ext cx="6492240" cy="214884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36" name="TextBox 635"/>
          <p:cNvSpPr txBox="1"/>
          <p:nvPr/>
        </p:nvSpPr>
        <p:spPr>
          <a:xfrm>
            <a:off x="429768" y="4997196"/>
            <a:ext cx="1609344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M3′，同一残图</a:t>
            </a:r>
          </a:p>
        </p:txBody>
      </p:sp>
      <p:sp>
        <p:nvSpPr>
          <p:cNvPr id="637" name="TextBox 636"/>
          <p:cNvSpPr txBox="1"/>
          <p:nvPr/>
        </p:nvSpPr>
        <p:spPr>
          <a:xfrm>
            <a:off x="2130552" y="4997196"/>
            <a:ext cx="58521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46/46</a:t>
            </a:r>
          </a:p>
        </p:txBody>
      </p:sp>
      <p:sp>
        <p:nvSpPr>
          <p:cNvPr id="638" name="TextBox 637"/>
          <p:cNvSpPr txBox="1"/>
          <p:nvPr/>
        </p:nvSpPr>
        <p:spPr>
          <a:xfrm>
            <a:off x="2807208" y="4997196"/>
            <a:ext cx="694944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204</a:t>
            </a:r>
          </a:p>
        </p:txBody>
      </p:sp>
      <p:sp>
        <p:nvSpPr>
          <p:cNvPr id="639" name="TextBox 638"/>
          <p:cNvSpPr txBox="1"/>
          <p:nvPr/>
        </p:nvSpPr>
        <p:spPr>
          <a:xfrm>
            <a:off x="3593592" y="4997196"/>
            <a:ext cx="475488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1.93×</a:t>
            </a:r>
          </a:p>
        </p:txBody>
      </p:sp>
      <p:sp>
        <p:nvSpPr>
          <p:cNvPr id="640" name="TextBox 639"/>
          <p:cNvSpPr txBox="1"/>
          <p:nvPr/>
        </p:nvSpPr>
        <p:spPr>
          <a:xfrm>
            <a:off x="4160520" y="4997196"/>
            <a:ext cx="384048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0.69</a:t>
            </a:r>
          </a:p>
        </p:txBody>
      </p:sp>
      <p:sp>
        <p:nvSpPr>
          <p:cNvPr id="641" name="TextBox 640"/>
          <p:cNvSpPr txBox="1"/>
          <p:nvPr/>
        </p:nvSpPr>
        <p:spPr>
          <a:xfrm>
            <a:off x="4636007" y="4997196"/>
            <a:ext cx="64008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370 cy</a:t>
            </a:r>
          </a:p>
        </p:txBody>
      </p:sp>
      <p:sp>
        <p:nvSpPr>
          <p:cNvPr id="642" name="TextBox 641"/>
          <p:cNvSpPr txBox="1"/>
          <p:nvPr/>
        </p:nvSpPr>
        <p:spPr>
          <a:xfrm>
            <a:off x="5367527" y="4997196"/>
            <a:ext cx="64008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6452 cy</a:t>
            </a:r>
          </a:p>
        </p:txBody>
      </p:sp>
      <p:sp>
        <p:nvSpPr>
          <p:cNvPr id="643" name="TextBox 642"/>
          <p:cNvSpPr txBox="1"/>
          <p:nvPr/>
        </p:nvSpPr>
        <p:spPr>
          <a:xfrm>
            <a:off x="6099047" y="4997196"/>
            <a:ext cx="73152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41/44</a:t>
            </a:r>
          </a:p>
        </p:txBody>
      </p:sp>
      <p:cxnSp>
        <p:nvCxnSpPr>
          <p:cNvPr id="644" name="Connector 643"/>
          <p:cNvCxnSpPr/>
          <p:nvPr/>
        </p:nvCxnSpPr>
        <p:spPr>
          <a:xfrm>
            <a:off x="384048" y="4997196"/>
            <a:ext cx="649224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5" name="Rectangle 644"/>
          <p:cNvSpPr/>
          <p:nvPr/>
        </p:nvSpPr>
        <p:spPr>
          <a:xfrm>
            <a:off x="384048" y="5212080"/>
            <a:ext cx="6492240" cy="214884"/>
          </a:xfrm>
          <a:prstGeom prst="rect">
            <a:avLst/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6" name="Rectangle 645"/>
          <p:cNvSpPr/>
          <p:nvPr/>
        </p:nvSpPr>
        <p:spPr>
          <a:xfrm>
            <a:off x="384048" y="5212080"/>
            <a:ext cx="32004" cy="214884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7" name="TextBox 646"/>
          <p:cNvSpPr txBox="1"/>
          <p:nvPr/>
        </p:nvSpPr>
        <p:spPr>
          <a:xfrm>
            <a:off x="429768" y="5212080"/>
            <a:ext cx="1609344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M3′ + min-max，同一残图</a:t>
            </a:r>
          </a:p>
        </p:txBody>
      </p:sp>
      <p:sp>
        <p:nvSpPr>
          <p:cNvPr id="648" name="TextBox 647"/>
          <p:cNvSpPr txBox="1"/>
          <p:nvPr/>
        </p:nvSpPr>
        <p:spPr>
          <a:xfrm>
            <a:off x="2130552" y="5212080"/>
            <a:ext cx="58521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46/46</a:t>
            </a:r>
          </a:p>
        </p:txBody>
      </p:sp>
      <p:sp>
        <p:nvSpPr>
          <p:cNvPr id="649" name="TextBox 648"/>
          <p:cNvSpPr txBox="1"/>
          <p:nvPr/>
        </p:nvSpPr>
        <p:spPr>
          <a:xfrm>
            <a:off x="2807208" y="5212080"/>
            <a:ext cx="694944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154</a:t>
            </a:r>
          </a:p>
        </p:txBody>
      </p:sp>
      <p:sp>
        <p:nvSpPr>
          <p:cNvPr id="650" name="TextBox 649"/>
          <p:cNvSpPr txBox="1"/>
          <p:nvPr/>
        </p:nvSpPr>
        <p:spPr>
          <a:xfrm>
            <a:off x="3593592" y="5212080"/>
            <a:ext cx="475488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1.45×</a:t>
            </a:r>
          </a:p>
        </p:txBody>
      </p:sp>
      <p:sp>
        <p:nvSpPr>
          <p:cNvPr id="651" name="TextBox 650"/>
          <p:cNvSpPr txBox="1"/>
          <p:nvPr/>
        </p:nvSpPr>
        <p:spPr>
          <a:xfrm>
            <a:off x="4160520" y="5212080"/>
            <a:ext cx="384048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0.56</a:t>
            </a:r>
          </a:p>
        </p:txBody>
      </p:sp>
      <p:sp>
        <p:nvSpPr>
          <p:cNvPr id="652" name="TextBox 651"/>
          <p:cNvSpPr txBox="1"/>
          <p:nvPr/>
        </p:nvSpPr>
        <p:spPr>
          <a:xfrm>
            <a:off x="4636007" y="5212080"/>
            <a:ext cx="64008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293 cy</a:t>
            </a:r>
          </a:p>
        </p:txBody>
      </p:sp>
      <p:sp>
        <p:nvSpPr>
          <p:cNvPr id="653" name="TextBox 652"/>
          <p:cNvSpPr txBox="1"/>
          <p:nvPr/>
        </p:nvSpPr>
        <p:spPr>
          <a:xfrm>
            <a:off x="5367527" y="5212080"/>
            <a:ext cx="64008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6392 cy</a:t>
            </a:r>
          </a:p>
        </p:txBody>
      </p:sp>
      <p:sp>
        <p:nvSpPr>
          <p:cNvPr id="654" name="TextBox 653"/>
          <p:cNvSpPr txBox="1"/>
          <p:nvPr/>
        </p:nvSpPr>
        <p:spPr>
          <a:xfrm>
            <a:off x="6099047" y="5212080"/>
            <a:ext cx="73152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41/44</a:t>
            </a:r>
          </a:p>
        </p:txBody>
      </p:sp>
      <p:cxnSp>
        <p:nvCxnSpPr>
          <p:cNvPr id="655" name="Connector 654"/>
          <p:cNvCxnSpPr/>
          <p:nvPr/>
        </p:nvCxnSpPr>
        <p:spPr>
          <a:xfrm>
            <a:off x="384048" y="5212080"/>
            <a:ext cx="649224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6" name="Rectangle 655"/>
          <p:cNvSpPr/>
          <p:nvPr/>
        </p:nvSpPr>
        <p:spPr>
          <a:xfrm>
            <a:off x="384048" y="5426964"/>
            <a:ext cx="6492240" cy="214884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57" name="TextBox 656"/>
          <p:cNvSpPr txBox="1"/>
          <p:nvPr/>
        </p:nvSpPr>
        <p:spPr>
          <a:xfrm>
            <a:off x="429768" y="5426964"/>
            <a:ext cx="1609344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割界：无故障 96 / 残图 106</a:t>
            </a:r>
          </a:p>
        </p:txBody>
      </p:sp>
      <p:sp>
        <p:nvSpPr>
          <p:cNvPr id="658" name="TextBox 657"/>
          <p:cNvSpPr txBox="1"/>
          <p:nvPr/>
        </p:nvSpPr>
        <p:spPr>
          <a:xfrm>
            <a:off x="2130552" y="5426964"/>
            <a:ext cx="58521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659" name="TextBox 658"/>
          <p:cNvSpPr txBox="1"/>
          <p:nvPr/>
        </p:nvSpPr>
        <p:spPr>
          <a:xfrm>
            <a:off x="2807208" y="5426964"/>
            <a:ext cx="694944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660" name="TextBox 659"/>
          <p:cNvSpPr txBox="1"/>
          <p:nvPr/>
        </p:nvSpPr>
        <p:spPr>
          <a:xfrm>
            <a:off x="3593592" y="5426964"/>
            <a:ext cx="475488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1.00×</a:t>
            </a:r>
          </a:p>
        </p:txBody>
      </p:sp>
      <p:sp>
        <p:nvSpPr>
          <p:cNvPr id="661" name="TextBox 660"/>
          <p:cNvSpPr txBox="1"/>
          <p:nvPr/>
        </p:nvSpPr>
        <p:spPr>
          <a:xfrm>
            <a:off x="4160520" y="5426964"/>
            <a:ext cx="384048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662" name="TextBox 661"/>
          <p:cNvSpPr txBox="1"/>
          <p:nvPr/>
        </p:nvSpPr>
        <p:spPr>
          <a:xfrm>
            <a:off x="4636007" y="5426964"/>
            <a:ext cx="64008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663" name="TextBox 662"/>
          <p:cNvSpPr txBox="1"/>
          <p:nvPr/>
        </p:nvSpPr>
        <p:spPr>
          <a:xfrm>
            <a:off x="5367527" y="5426964"/>
            <a:ext cx="64008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664" name="TextBox 663"/>
          <p:cNvSpPr txBox="1"/>
          <p:nvPr/>
        </p:nvSpPr>
        <p:spPr>
          <a:xfrm>
            <a:off x="6099047" y="5426964"/>
            <a:ext cx="73152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cxnSp>
        <p:nvCxnSpPr>
          <p:cNvPr id="665" name="Connector 664"/>
          <p:cNvCxnSpPr/>
          <p:nvPr/>
        </p:nvCxnSpPr>
        <p:spPr>
          <a:xfrm>
            <a:off x="384048" y="5426964"/>
            <a:ext cx="649224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6" name="Rectangle 665"/>
          <p:cNvSpPr/>
          <p:nvPr/>
        </p:nvSpPr>
        <p:spPr>
          <a:xfrm>
            <a:off x="384048" y="4114800"/>
            <a:ext cx="6492240" cy="1527048"/>
          </a:xfrm>
          <a:prstGeom prst="rect">
            <a:avLst/>
          </a:prstGeom>
          <a:noFill/>
          <a:ln w="762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67" name="Rounded Rectangle 666"/>
          <p:cNvSpPr/>
          <p:nvPr/>
        </p:nvSpPr>
        <p:spPr>
          <a:xfrm>
            <a:off x="7827264" y="3803904"/>
            <a:ext cx="4090111" cy="1847088"/>
          </a:xfrm>
          <a:prstGeom prst="roundRect">
            <a:avLst>
              <a:gd name="adj" fmla="val 1980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68" name="Rounded Rectangle 667"/>
          <p:cNvSpPr/>
          <p:nvPr/>
        </p:nvSpPr>
        <p:spPr>
          <a:xfrm>
            <a:off x="7827264" y="3803904"/>
            <a:ext cx="4090111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69" name="Rectangle 668"/>
          <p:cNvSpPr/>
          <p:nvPr/>
        </p:nvSpPr>
        <p:spPr>
          <a:xfrm>
            <a:off x="7827264" y="3803904"/>
            <a:ext cx="50292" cy="274320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70" name="TextBox 669"/>
          <p:cNvSpPr txBox="1"/>
          <p:nvPr/>
        </p:nvSpPr>
        <p:spPr>
          <a:xfrm>
            <a:off x="7973568" y="3831336"/>
            <a:ext cx="381579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③ 这四幅图该怎么读</a:t>
            </a:r>
          </a:p>
        </p:txBody>
      </p:sp>
      <p:sp>
        <p:nvSpPr>
          <p:cNvPr id="671" name="TextBox 670"/>
          <p:cNvSpPr txBox="1"/>
          <p:nvPr/>
        </p:nvSpPr>
        <p:spPr>
          <a:xfrm>
            <a:off x="7955280" y="4133088"/>
            <a:ext cx="383407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860" b="1">
                <a:solidFill>
                  <a:srgbClr val="0B6BA8"/>
                </a:solidFill>
                <a:latin typeface="Microsoft YaHei"/>
              </a:rPr>
              <a:t>XY 的「均衡」是牺牲换来的。</a:t>
            </a:r>
          </a:p>
          <a:p>
            <a:pPr algn="l">
              <a:lnSpc>
                <a:spcPct val="118000"/>
              </a:lnSpc>
              <a:spcAft>
                <a:spcPts val="220"/>
              </a:spcAft>
            </a:pPr>
            <a:r>
              <a:rPr sz="819" b="0">
                <a:solidFill>
                  <a:srgbClr val="5A6673"/>
                </a:solidFill>
                <a:latin typeface="Microsoft YaHei"/>
              </a:rPr>
              <a:t>同一残图上 XY 必须丢掉 22/46 个好节点（整列 3、4 与整行 2、4）才有完整 L 形路径，剩下 24 个节点、552 对流量；M3′ 一个不丢。两者峰值不可直接比，只能各自比自己的割界。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860" b="1">
                <a:solidFill>
                  <a:srgbClr val="C7000B"/>
                </a:solidFill>
                <a:latin typeface="Microsoft YaHei"/>
              </a:rPr>
              <a:t>M3′ 的代价不是绕远，是选路集中。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19" b="0">
                <a:solidFill>
                  <a:srgbClr val="5A6673"/>
                </a:solidFill>
                <a:latin typeface="Microsoft YaHei"/>
              </a:rPr>
              <a:t>无故障时 M3′ 与 XY 总跳数都是 10528、平均 4.67 跳 ⇒ 不均衡纯粹来自「同一最短路集合里怎么挑」，因此换选路就能免费改善。</a:t>
            </a:r>
          </a:p>
        </p:txBody>
      </p:sp>
      <p:sp>
        <p:nvSpPr>
          <p:cNvPr id="672" name="Rounded Rectangle 671"/>
          <p:cNvSpPr/>
          <p:nvPr/>
        </p:nvSpPr>
        <p:spPr>
          <a:xfrm>
            <a:off x="274320" y="5724144"/>
            <a:ext cx="11643055" cy="950976"/>
          </a:xfrm>
          <a:prstGeom prst="roundRect">
            <a:avLst>
              <a:gd name="adj" fmla="val 3846"/>
            </a:avLst>
          </a:prstGeom>
          <a:solidFill>
            <a:srgbClr val="F2F7F4"/>
          </a:solidFill>
          <a:ln w="11430">
            <a:solidFill>
              <a:srgbClr val="1E7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73" name="Rectangle 672"/>
          <p:cNvSpPr/>
          <p:nvPr/>
        </p:nvSpPr>
        <p:spPr>
          <a:xfrm>
            <a:off x="274320" y="5724144"/>
            <a:ext cx="50292" cy="950976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74" name="TextBox 673"/>
          <p:cNvSpPr txBox="1"/>
          <p:nvPr/>
        </p:nvSpPr>
        <p:spPr>
          <a:xfrm>
            <a:off x="438912" y="5815583"/>
            <a:ext cx="557784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20"/>
              </a:spcAft>
            </a:pPr>
            <a:r>
              <a:rPr sz="940" b="1">
                <a:solidFill>
                  <a:srgbClr val="1E7F4F"/>
                </a:solidFill>
                <a:latin typeface="Microsoft YaHei"/>
              </a:rPr>
              <a:t>定理 1 实测校核（44 场景 ≤4 router / ≤8 link）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19" b="0">
                <a:solidFill>
                  <a:srgbClr val="1F2933"/>
                </a:solidFill>
                <a:latin typeface="Microsoft YaHei"/>
              </a:rPr>
              <a:t>41 个残图连通的场景全部零牺牲、CDG 成环 0 例、反例 0 个；余下 3 个场景残图本身断开（分别孤立 1/2/1 个好节点），牺牲量等于信息论下界。同批场景 XY 零牺牲 0/44。</a:t>
            </a:r>
          </a:p>
        </p:txBody>
      </p:sp>
      <p:sp>
        <p:nvSpPr>
          <p:cNvPr id="675" name="TextBox 674"/>
          <p:cNvSpPr txBox="1"/>
          <p:nvPr/>
        </p:nvSpPr>
        <p:spPr>
          <a:xfrm>
            <a:off x="6217920" y="5815583"/>
            <a:ext cx="301752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20"/>
              </a:spcAft>
            </a:pPr>
            <a:r>
              <a:rPr sz="940" b="1">
                <a:solidFill>
                  <a:srgbClr val="1E7F4F"/>
                </a:solidFill>
                <a:latin typeface="Microsoft YaHei"/>
              </a:rPr>
              <a:t>定理 2（极大性）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19" b="0">
                <a:solidFill>
                  <a:srgbClr val="1F2933"/>
                </a:solidFill>
                <a:latin typeface="Microsoft YaHei"/>
              </a:rPr>
              <a:t>任一被禁的 down→up 一旦放开必成环；实测 48 个根 × 3360 条禁令逐条测试，可加入 0 条。</a:t>
            </a:r>
          </a:p>
        </p:txBody>
      </p:sp>
      <p:sp>
        <p:nvSpPr>
          <p:cNvPr id="676" name="TextBox 675"/>
          <p:cNvSpPr txBox="1"/>
          <p:nvPr/>
        </p:nvSpPr>
        <p:spPr>
          <a:xfrm>
            <a:off x="9418320" y="5815583"/>
            <a:ext cx="2361895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20"/>
              </a:spcAft>
            </a:pPr>
            <a:r>
              <a:rPr sz="940" b="1">
                <a:solidFill>
                  <a:srgbClr val="1E7F4F"/>
                </a:solidFill>
                <a:latin typeface="Microsoft YaHei"/>
              </a:rPr>
              <a:t>下一页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19" b="0">
                <a:solidFill>
                  <a:srgbClr val="1F2933"/>
                </a:solidFill>
                <a:latin typeface="Microsoft YaHei"/>
              </a:rPr>
              <a:t>两条定理的符号定义与逐步推导（含 Φ 势能沿真实路径的实测校核）见第 3 页；1 VC 的可行边界见第 4 页。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841248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91440"/>
            <a:ext cx="11521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</a:rPr>
              <a:t>定理 1 / 定理 2 详解：每个符号的定义与逐步推导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502920"/>
            <a:ext cx="11521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C3CBD4"/>
                </a:solidFill>
                <a:latin typeface="Microsoft YaHei"/>
              </a:rPr>
              <a:t>全部符号只有四个：残图 G′、根 r、高度 ℓ(v)、通道势能 Φ(c)。定理 1 用它们证「表一定建得出 + 无死锁」，定理 2 用它们证「转向集不能再放宽」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914400"/>
            <a:ext cx="3931920" cy="3035808"/>
          </a:xfrm>
          <a:prstGeom prst="roundRect">
            <a:avLst>
              <a:gd name="adj" fmla="val 120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4320" y="914400"/>
            <a:ext cx="3931920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14400"/>
            <a:ext cx="50292" cy="274320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3" y="941832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① 全部符号（本例：8×6，2 洞 1 断链）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" y="1225296"/>
            <a:ext cx="3675887" cy="2670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G=(V,E)　原始 8×6 mesh：|V|=48，|E|=82，即 164 条有向通道。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F　故障集 = 死 router ∪ 断链（本例 2 router + 1 link）。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80" b="1">
                <a:solidFill>
                  <a:srgbClr val="1F2933"/>
                </a:solidFill>
                <a:latin typeface="Microsoft YaHei"/>
              </a:rPr>
              <a:t>G′=(V′,E′)　残图 = 删去 F 及其附属链路后的存活图（|V′|=46，|E′|=74）。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80" b="1">
                <a:solidFill>
                  <a:srgbClr val="1F2933"/>
                </a:solidFill>
                <a:latin typeface="Microsoft YaHei"/>
              </a:rPr>
              <a:t>r ∈ V′　根 = BFS 源点，由 best-root 枚举挑出（本例 (7,5)）。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80" b="1">
                <a:solidFill>
                  <a:srgbClr val="1F2933"/>
                </a:solidFill>
                <a:latin typeface="Microsoft YaHei"/>
              </a:rPr>
              <a:t>ℓ(v)　高度 = G′ 上 r 到 v 的 BFS 跳数，ℓ(r)=0（本例 0…12）。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up / down　有向通道 (u→v)：ℓ(v)=ℓ(u)−1 记 up（朝根）、ℓ(v)=ℓ(u)+1 记 down（离根）。mesh 按 x+y 二分 ⇒ 不存在 ℓ 相等的边。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(u→v→w)　转向 = 两条首尾相接的有向通道，本例共 344 个。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CDG D=(C,A)　通道依赖图：点 = 有向通道（|C|=148），边 = 被同一条路径连续使用的转向。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80" b="1">
                <a:solidFill>
                  <a:srgbClr val="1F2933"/>
                </a:solidFill>
                <a:latin typeface="Microsoft YaHei"/>
              </a:rPr>
              <a:t>Φ(c)　通道势能：up 记 (0,−ℓ(v))、down 记 (1,+ℓ(v))，按字典序比较（实例见 ④）。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S　牺牲集 = 为建表而放弃的好节点，M3′ 在连通残图上恒有 S=∅。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4255" y="914400"/>
            <a:ext cx="3931920" cy="3035808"/>
          </a:xfrm>
          <a:prstGeom prst="roundRect">
            <a:avLst>
              <a:gd name="adj" fmla="val 120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34255" y="914400"/>
            <a:ext cx="3931920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34255" y="914400"/>
            <a:ext cx="50292" cy="274320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59" y="941832"/>
            <a:ext cx="3657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② 定理 1：连通 ⇒ 零牺牲 + 无死锁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7" y="1225296"/>
            <a:ext cx="3694176" cy="2670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20"/>
              </a:spcAft>
            </a:pPr>
            <a:r>
              <a:rPr sz="810" b="1">
                <a:solidFill>
                  <a:srgbClr val="1E7F4F"/>
                </a:solidFill>
                <a:latin typeface="Microsoft YaHei"/>
              </a:rPr>
              <a:t>陈述　∀F：G′ 连通 ⇔ 存在覆盖全部 (s,d) 的合法表且 S=∅。</a:t>
            </a:r>
          </a:p>
          <a:p>
            <a:pPr algn="l">
              <a:lnSpc>
                <a:spcPct val="118000"/>
              </a:lnSpc>
              <a:spcAft>
                <a:spcPts val="15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（⇐ 显然：G′ 不连通时跨分量物理不可达，任何路由都得牺牲。下证 ⇒）</a:t>
            </a:r>
          </a:p>
          <a:p>
            <a:pPr algn="l">
              <a:lnSpc>
                <a:spcPct val="118000"/>
              </a:lnSpc>
              <a:spcAft>
                <a:spcPts val="15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第 1 步 · 定义 ℓ　G′ 连通 ⇒ 从 r 做 BFS，每个 v 得到有限 ℓ(v)=dist(r,v)，且每个 v≠r 至少有一个邻居 u 满足 ℓ(u)=ℓ(v)−1（父节点）。</a:t>
            </a:r>
          </a:p>
          <a:p>
            <a:pPr algn="l">
              <a:lnSpc>
                <a:spcPct val="118000"/>
              </a:lnSpc>
              <a:spcAft>
                <a:spcPts val="15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第 2 步 · 构造路径　从 s 沿父链升到 r（全 up），再沿 d 的父链降到 d（全 down），拼成 up*·down*，长度 ≤ ℓ(s)+ℓ(d) ⇒ 每对都有合法路径，表必然建成、S=∅。</a:t>
            </a:r>
          </a:p>
          <a:p>
            <a:pPr algn="l">
              <a:lnSpc>
                <a:spcPct val="118000"/>
              </a:lnSpc>
              <a:spcAft>
                <a:spcPts val="15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第 3 步 · 无死锁　合法衔接仅三种，且都严格增大 Φ：up→up（(0,−ℓ) 增大）、up→down（首位 0→1）、down→down（(1,+ℓ) 增大）；被禁的 down→up 恰是唯一降 Φ 的衔接。故 CDG 每条边升 Φ ⇒ 有限点集上无环 ⇒ 按 Dally–Seitz 判据，1 个 VC 即无死锁。</a:t>
            </a:r>
          </a:p>
          <a:p>
            <a:pPr algn="l">
              <a:lnSpc>
                <a:spcPct val="118000"/>
              </a:lnSpc>
              <a:spcAft>
                <a:spcPts val="15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第 4 步 · 保序　每对 (s,d) 唯一静态路径 + 单 VC 不换道 + 每跳 FIFO ⇒ flit 不可能乱序。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第 5 步 · 与 r 无关　1–4 对任意 r∈V′ 成立 ⇒ 48 个候选根全部合法；best-root 只在合法解里挑峰值最小者，不会返回空。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94192" y="914400"/>
            <a:ext cx="3523183" cy="3035808"/>
          </a:xfrm>
          <a:prstGeom prst="roundRect">
            <a:avLst>
              <a:gd name="adj" fmla="val 120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394192" y="914400"/>
            <a:ext cx="3523183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94192" y="914400"/>
            <a:ext cx="50292" cy="2743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0496" y="941832"/>
            <a:ext cx="324886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③ 定理 2：转向集已极大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1225296"/>
            <a:ext cx="3285439" cy="2670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20"/>
              </a:spcAft>
            </a:pPr>
            <a:r>
              <a:rPr sz="810" b="1">
                <a:solidFill>
                  <a:srgbClr val="C7000B"/>
                </a:solidFill>
                <a:latin typeface="Microsoft YaHei"/>
              </a:rPr>
              <a:t>陈述　设 T_UD = 全部 up→up / up→down / down→down 转向。则任取 t ∉ T_UD（即任一 down→up），T_UD ∪ {t} 的 CDG 必含环。</a:t>
            </a:r>
          </a:p>
          <a:p>
            <a:pPr algn="l">
              <a:lnSpc>
                <a:spcPct val="118000"/>
              </a:lnSpc>
              <a:spcAft>
                <a:spcPts val="150"/>
              </a:spcAft>
            </a:pPr>
            <a:r>
              <a:rPr sz="770" b="0">
                <a:solidFill>
                  <a:srgbClr val="1F2933"/>
                </a:solidFill>
                <a:latin typeface="Microsoft YaHei"/>
              </a:rPr>
              <a:t>证明　记 t=(u→v→w)，按定义 (u→v) 是 down、(v→w) 是 up。</a:t>
            </a:r>
          </a:p>
          <a:p>
            <a:pPr algn="l">
              <a:lnSpc>
                <a:spcPct val="118000"/>
              </a:lnSpc>
              <a:spcAft>
                <a:spcPts val="15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① 从通道 (v→w) 出发（ℓ(w)=ℓ(v)−1），继续沿父链 up，有限步必达 r（ℓ=0）；这些衔接都是 up→up ∈ T_UD。</a:t>
            </a:r>
          </a:p>
          <a:p>
            <a:pPr algn="l">
              <a:lnSpc>
                <a:spcPct val="118000"/>
              </a:lnSpc>
              <a:spcAft>
                <a:spcPts val="15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② 在 r 处拐头，沿 u 的父链下行到 u，每跳 ℓ+1。首次衔接是 up→down、其后都是 down→down，全 ∈ T_UD。</a:t>
            </a:r>
          </a:p>
          <a:p>
            <a:pPr algn="l">
              <a:lnSpc>
                <a:spcPct val="118000"/>
              </a:lnSpc>
              <a:spcAft>
                <a:spcPts val="15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③ 于是抵达通道 (·→u)，再走 (u→v)（down→down ∈ T_UD），最后用新放开的 t 从 (u→v) 接回 (v→w) —— 回到起点，环成立（证毕）。</a:t>
            </a:r>
          </a:p>
          <a:p>
            <a:pPr algn="l">
              <a:lnSpc>
                <a:spcPct val="118000"/>
              </a:lnSpc>
              <a:spcAft>
                <a:spcPts val="150"/>
              </a:spcAft>
            </a:pPr>
            <a:r>
              <a:rPr sz="770" b="0">
                <a:solidFill>
                  <a:srgbClr val="1F2933"/>
                </a:solidFill>
                <a:latin typeface="Microsoft YaHei"/>
              </a:rPr>
              <a:t>一句话版　T_UD 每条边都升 Φ，t 是唯一降 Φ 的衔接；加入任何降势边，都能与升势路径接成回路。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70" b="1">
                <a:solidFill>
                  <a:srgbClr val="C7000B"/>
                </a:solidFill>
                <a:latin typeface="Microsoft YaHei"/>
              </a:rPr>
              <a:t>实测：48 个根 × 共 3360 条禁令逐条放开测试，可加入 0 条。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" y="4059936"/>
            <a:ext cx="7223760" cy="1719072"/>
          </a:xfrm>
          <a:prstGeom prst="roundRect">
            <a:avLst>
              <a:gd name="adj" fmla="val 2127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74320" y="4059936"/>
            <a:ext cx="7223760" cy="256032"/>
          </a:xfrm>
          <a:prstGeom prst="roundRect">
            <a:avLst>
              <a:gd name="adj" fmla="val 14285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4059936"/>
            <a:ext cx="50292" cy="256032"/>
          </a:xfrm>
          <a:prstGeom prst="rect">
            <a:avLst/>
          </a:prstGeom>
          <a:solidFill>
            <a:srgbClr val="C872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0623" y="4087368"/>
            <a:ext cx="69494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④ 实例校核：真实表里的 (0,0)→(3,4)，Φ 逐跳严格递增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550516" y="5274036"/>
            <a:ext cx="136776" cy="100115"/>
          </a:xfrm>
          <a:prstGeom prst="line">
            <a:avLst/>
          </a:prstGeom>
          <a:ln w="20320">
            <a:solidFill>
              <a:srgbClr val="1E7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844087" y="5059152"/>
            <a:ext cx="136775" cy="100115"/>
          </a:xfrm>
          <a:prstGeom prst="line">
            <a:avLst/>
          </a:prstGeom>
          <a:ln w="20320">
            <a:solidFill>
              <a:srgbClr val="1E7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137657" y="4844268"/>
            <a:ext cx="136776" cy="100115"/>
          </a:xfrm>
          <a:prstGeom prst="line">
            <a:avLst/>
          </a:prstGeom>
          <a:ln w="20320">
            <a:solidFill>
              <a:srgbClr val="1E7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1431228" y="4629384"/>
            <a:ext cx="136775" cy="100115"/>
          </a:xfrm>
          <a:prstGeom prst="line">
            <a:avLst/>
          </a:prstGeom>
          <a:ln w="20320">
            <a:solidFill>
              <a:srgbClr val="1E7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724798" y="4629384"/>
            <a:ext cx="136776" cy="100115"/>
          </a:xfrm>
          <a:prstGeom prst="line">
            <a:avLst/>
          </a:prstGeom>
          <a:ln w="2032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018369" y="4844268"/>
            <a:ext cx="136775" cy="100115"/>
          </a:xfrm>
          <a:prstGeom prst="line">
            <a:avLst/>
          </a:prstGeom>
          <a:ln w="2032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311939" y="5059152"/>
            <a:ext cx="136776" cy="100115"/>
          </a:xfrm>
          <a:prstGeom prst="line">
            <a:avLst/>
          </a:prstGeom>
          <a:ln w="2032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394395" y="5353812"/>
            <a:ext cx="155448" cy="155448"/>
          </a:xfrm>
          <a:prstGeom prst="ellipse">
            <a:avLst/>
          </a:prstGeom>
          <a:solidFill>
            <a:srgbClr val="7FB4D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4395" y="5380238"/>
            <a:ext cx="155448" cy="1088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35" name="Oval 34"/>
          <p:cNvSpPr/>
          <p:nvPr/>
        </p:nvSpPr>
        <p:spPr>
          <a:xfrm>
            <a:off x="687965" y="5138928"/>
            <a:ext cx="155448" cy="155448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7965" y="5165354"/>
            <a:ext cx="155448" cy="1088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37" name="Oval 36"/>
          <p:cNvSpPr/>
          <p:nvPr/>
        </p:nvSpPr>
        <p:spPr>
          <a:xfrm>
            <a:off x="981536" y="4924044"/>
            <a:ext cx="155448" cy="155448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81536" y="4950470"/>
            <a:ext cx="155448" cy="1088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1F2933"/>
                </a:solidFill>
                <a:latin typeface="Microsoft YaHei"/>
              </a:rPr>
              <a:t>3</a:t>
            </a:r>
          </a:p>
        </p:txBody>
      </p:sp>
      <p:sp>
        <p:nvSpPr>
          <p:cNvPr id="39" name="Oval 38"/>
          <p:cNvSpPr/>
          <p:nvPr/>
        </p:nvSpPr>
        <p:spPr>
          <a:xfrm>
            <a:off x="1275106" y="4709160"/>
            <a:ext cx="155448" cy="155448"/>
          </a:xfrm>
          <a:prstGeom prst="ellipse">
            <a:avLst/>
          </a:prstGeom>
          <a:solidFill>
            <a:srgbClr val="DCE7F5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75106" y="4735586"/>
            <a:ext cx="155448" cy="1088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1F2933"/>
                </a:solidFill>
                <a:latin typeface="Microsoft YaHei"/>
              </a:rPr>
              <a:t>2</a:t>
            </a:r>
          </a:p>
        </p:txBody>
      </p:sp>
      <p:sp>
        <p:nvSpPr>
          <p:cNvPr id="41" name="Oval 40"/>
          <p:cNvSpPr/>
          <p:nvPr/>
        </p:nvSpPr>
        <p:spPr>
          <a:xfrm>
            <a:off x="1568677" y="4494276"/>
            <a:ext cx="155448" cy="155448"/>
          </a:xfrm>
          <a:prstGeom prst="ellipse">
            <a:avLst/>
          </a:prstGeom>
          <a:solidFill>
            <a:srgbClr val="DCE7F5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568677" y="4520702"/>
            <a:ext cx="155448" cy="1088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1F2933"/>
                </a:solidFill>
                <a:latin typeface="Microsoft YaHei"/>
              </a:rPr>
              <a:t>1</a:t>
            </a:r>
          </a:p>
        </p:txBody>
      </p:sp>
      <p:sp>
        <p:nvSpPr>
          <p:cNvPr id="43" name="Oval 42"/>
          <p:cNvSpPr/>
          <p:nvPr/>
        </p:nvSpPr>
        <p:spPr>
          <a:xfrm>
            <a:off x="1862247" y="4709160"/>
            <a:ext cx="155448" cy="155448"/>
          </a:xfrm>
          <a:prstGeom prst="ellipse">
            <a:avLst/>
          </a:prstGeom>
          <a:solidFill>
            <a:srgbClr val="DCE7F5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862247" y="4735586"/>
            <a:ext cx="155448" cy="1088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1F2933"/>
                </a:solidFill>
                <a:latin typeface="Microsoft YaHei"/>
              </a:rPr>
              <a:t>2</a:t>
            </a:r>
          </a:p>
        </p:txBody>
      </p:sp>
      <p:sp>
        <p:nvSpPr>
          <p:cNvPr id="45" name="Oval 44"/>
          <p:cNvSpPr/>
          <p:nvPr/>
        </p:nvSpPr>
        <p:spPr>
          <a:xfrm>
            <a:off x="2155818" y="4924044"/>
            <a:ext cx="155448" cy="155448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155818" y="4950470"/>
            <a:ext cx="155448" cy="1088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1F2933"/>
                </a:solidFill>
                <a:latin typeface="Microsoft YaHei"/>
              </a:rPr>
              <a:t>3</a:t>
            </a:r>
          </a:p>
        </p:txBody>
      </p:sp>
      <p:sp>
        <p:nvSpPr>
          <p:cNvPr id="47" name="Oval 46"/>
          <p:cNvSpPr/>
          <p:nvPr/>
        </p:nvSpPr>
        <p:spPr>
          <a:xfrm>
            <a:off x="2449388" y="5138928"/>
            <a:ext cx="155448" cy="155448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449388" y="5165354"/>
            <a:ext cx="155448" cy="1088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4048" y="546811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E7F4F"/>
                </a:solidFill>
                <a:latin typeface="Microsoft YaHei"/>
              </a:rPr>
              <a:t>↑ up：ℓ−1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99616" y="5468112"/>
            <a:ext cx="111556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C87209"/>
                </a:solidFill>
                <a:latin typeface="Microsoft YaHei"/>
              </a:rPr>
              <a:t>↓ down：ℓ+1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24912" y="4352544"/>
            <a:ext cx="4261104" cy="201168"/>
          </a:xfrm>
          <a:prstGeom prst="rect">
            <a:avLst/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61488" y="4352544"/>
            <a:ext cx="7315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40" b="1">
                <a:solidFill>
                  <a:srgbClr val="1F2933"/>
                </a:solidFill>
                <a:latin typeface="Microsoft YaHei"/>
              </a:rPr>
              <a:t>通道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66160" y="4352544"/>
            <a:ext cx="420624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40" b="1">
                <a:solidFill>
                  <a:srgbClr val="1F2933"/>
                </a:solidFill>
                <a:latin typeface="Microsoft YaHei"/>
              </a:rPr>
              <a:t>c1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059936" y="4352544"/>
            <a:ext cx="420624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40" b="1">
                <a:solidFill>
                  <a:srgbClr val="1F2933"/>
                </a:solidFill>
                <a:latin typeface="Microsoft YaHei"/>
              </a:rPr>
              <a:t>c2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53712" y="4352544"/>
            <a:ext cx="420624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40" b="1">
                <a:solidFill>
                  <a:srgbClr val="1F2933"/>
                </a:solidFill>
                <a:latin typeface="Microsoft YaHei"/>
              </a:rPr>
              <a:t>c3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47488" y="4352544"/>
            <a:ext cx="420624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40" b="1">
                <a:solidFill>
                  <a:srgbClr val="1F2933"/>
                </a:solidFill>
                <a:latin typeface="Microsoft YaHei"/>
              </a:rPr>
              <a:t>c4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41264" y="4352544"/>
            <a:ext cx="420624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40" b="1">
                <a:solidFill>
                  <a:srgbClr val="1F2933"/>
                </a:solidFill>
                <a:latin typeface="Microsoft YaHei"/>
              </a:rPr>
              <a:t>c5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35040" y="4352544"/>
            <a:ext cx="420624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40" b="1">
                <a:solidFill>
                  <a:srgbClr val="1F2933"/>
                </a:solidFill>
                <a:latin typeface="Microsoft YaHei"/>
              </a:rPr>
              <a:t>c6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28816" y="4352544"/>
            <a:ext cx="420624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40" b="1">
                <a:solidFill>
                  <a:srgbClr val="1F2933"/>
                </a:solidFill>
                <a:latin typeface="Microsoft YaHei"/>
              </a:rPr>
              <a:t>c7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24912" y="4553712"/>
            <a:ext cx="4261104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770632" y="4553712"/>
            <a:ext cx="71323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类型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75303" y="4553712"/>
            <a:ext cx="40233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up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069080" y="4553712"/>
            <a:ext cx="40233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up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62856" y="4553712"/>
            <a:ext cx="40233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up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56632" y="4553712"/>
            <a:ext cx="40233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up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50408" y="4553712"/>
            <a:ext cx="40233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down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44184" y="4553712"/>
            <a:ext cx="40233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down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537960" y="4553712"/>
            <a:ext cx="40233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down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2724912" y="4553712"/>
            <a:ext cx="4261104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2724912" y="4773168"/>
            <a:ext cx="4261104" cy="219456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770632" y="4773168"/>
            <a:ext cx="71323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ℓ 变化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575303" y="4773168"/>
            <a:ext cx="40233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5→4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069080" y="4773168"/>
            <a:ext cx="40233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4→3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562856" y="4773168"/>
            <a:ext cx="40233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3→2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056632" y="4773168"/>
            <a:ext cx="40233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2→1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550408" y="4773168"/>
            <a:ext cx="40233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1→2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44184" y="4773168"/>
            <a:ext cx="40233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2→3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37960" y="4773168"/>
            <a:ext cx="40233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3→4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2724912" y="4773168"/>
            <a:ext cx="4261104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/>
          <p:cNvSpPr/>
          <p:nvPr/>
        </p:nvSpPr>
        <p:spPr>
          <a:xfrm>
            <a:off x="2724912" y="4992624"/>
            <a:ext cx="4261104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770632" y="4992624"/>
            <a:ext cx="71323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Φ(c)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575303" y="4992624"/>
            <a:ext cx="40233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(0,-4)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069080" y="4992624"/>
            <a:ext cx="40233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(0,-3)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62856" y="4992624"/>
            <a:ext cx="40233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(0,-2)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56632" y="4992624"/>
            <a:ext cx="40233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(0,-1)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550408" y="4992624"/>
            <a:ext cx="40233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(1,+2)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044184" y="4992624"/>
            <a:ext cx="40233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(1,+3)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537960" y="4992624"/>
            <a:ext cx="40233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(1,+4)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2724912" y="4992624"/>
            <a:ext cx="4261104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2724912" y="4352544"/>
            <a:ext cx="4261104" cy="859536"/>
          </a:xfrm>
          <a:prstGeom prst="rect">
            <a:avLst/>
          </a:prstGeom>
          <a:noFill/>
          <a:ln w="762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724912" y="5248656"/>
            <a:ext cx="47000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Φ 按字典序严格递增（代码断言 strict=True）：(0,-4) &lt; (0,-3) &lt; (0,-2) &lt; (0,-1) &lt; …。转折点在 ℓ=1、并未爬到根 ⇒ up*·down* 不要求「必须经过根」，定理 1 第 2 步只是给出一条存在性路径。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7626096" y="4059936"/>
            <a:ext cx="4291279" cy="1719072"/>
          </a:xfrm>
          <a:prstGeom prst="roundRect">
            <a:avLst>
              <a:gd name="adj" fmla="val 2127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7626096" y="4059936"/>
            <a:ext cx="4291279" cy="256032"/>
          </a:xfrm>
          <a:prstGeom prst="roundRect">
            <a:avLst>
              <a:gd name="adj" fmla="val 14285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626096" y="4059936"/>
            <a:ext cx="50292" cy="256032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772400" y="4087368"/>
            <a:ext cx="4016959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⑤ 三个容易读错的地方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744968" y="4352544"/>
            <a:ext cx="405353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① 极大 ≠ 最大（maximal ≠ maximum）：定理 2 只说不能再单独加一条。别的极大无环集依然存在，大小 319–327 条不等（M3′ 是 346 条）—— 这正是第 4 页 L4「换位」的搜索空间。</a:t>
            </a:r>
          </a:p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② ℓ 是无权跳数，不是线延迟：它只用来定序、保证 CDG 无环；真实 H=7 / V=9 cy 的线延迟只影响端到端时间，不影响两条定理。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③ 零牺牲 ≠ 零性能损失：定理 1 只保证「连通即可达」，负载均衡完全不在结论里 —— 那正是第 2 页热点图与第 4 页要处理的问题。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74320" y="5870448"/>
            <a:ext cx="11643055" cy="804672"/>
          </a:xfrm>
          <a:prstGeom prst="roundRect">
            <a:avLst>
              <a:gd name="adj" fmla="val 4545"/>
            </a:avLst>
          </a:prstGeom>
          <a:solidFill>
            <a:srgbClr val="F2F7F4"/>
          </a:solidFill>
          <a:ln w="11430">
            <a:solidFill>
              <a:srgbClr val="1E7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274320" y="5870448"/>
            <a:ext cx="50292" cy="804672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38912" y="5961888"/>
            <a:ext cx="5760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20"/>
              </a:spcAft>
            </a:pPr>
            <a:r>
              <a:rPr sz="919" b="1">
                <a:solidFill>
                  <a:srgbClr val="1E7F4F"/>
                </a:solidFill>
                <a:latin typeface="Microsoft YaHei"/>
              </a:rPr>
              <a:t>两条定理合起来给出的边界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00" b="0">
                <a:solidFill>
                  <a:srgbClr val="1F2933"/>
                </a:solidFill>
                <a:latin typeface="Microsoft YaHei"/>
              </a:rPr>
              <a:t>容错：{F : G′ 连通} 已是任何路由的上界（定理 1）· 死锁：Φ 构造性排除，只需 1 VC · 保序：唯一静态路径天然成立 · 转向：不能再放宽（定理 2）。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400800" y="5961888"/>
            <a:ext cx="5379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20"/>
              </a:spcAft>
            </a:pPr>
            <a:r>
              <a:rPr sz="919" b="1">
                <a:solidFill>
                  <a:srgbClr val="1E7F4F"/>
                </a:solidFill>
                <a:latin typeface="Microsoft YaHei"/>
              </a:rPr>
              <a:t>代码对应关系（可逐行复核）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00" b="0">
                <a:solidFill>
                  <a:srgbClr val="1F2933"/>
                </a:solidFill>
                <a:latin typeface="Microsoft YaHei"/>
              </a:rPr>
              <a:t>ℓ = _updown_labels（BFS）· up*·down* = _tree_path 两阶段 BFS · CDG 复验 = build_cdg + cdg_acyclic · 44 场景校核 = pg_m3p_analysis.theorem44（反例 0）。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841248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0896" y="91440"/>
            <a:ext cx="11521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</a:rPr>
              <a:t>M3′ 有超集吗？—— 转向不能再放宽，但选路可以：1 VC 的可行边界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502920"/>
            <a:ext cx="11521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C3CBD4"/>
                </a:solidFill>
                <a:latin typeface="Microsoft YaHei"/>
              </a:rPr>
              <a:t>① 不存在更宽松的 turn model 超集（定理 2）；② 合法集内 min-max 选路是唯一「免费」的超集：峰值 1.41×→1.16× 割界、故障场景轻载 −21%；③ 禁令换位能把峰值压到 1.05× 却因 HOL 更慢 ⇒ 不推荐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932688"/>
            <a:ext cx="11643055" cy="2212848"/>
          </a:xfrm>
          <a:prstGeom prst="roundRect">
            <a:avLst>
              <a:gd name="adj" fmla="val 1652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4320" y="932688"/>
            <a:ext cx="11643055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32688"/>
            <a:ext cx="50292" cy="274320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3" y="960120"/>
            <a:ext cx="1136873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① 五层设计空间，硬件同为物理 1 VC，自由参数逐层增加（mk = all-to-all DES makespan, cy）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243584"/>
            <a:ext cx="11155680" cy="237744"/>
          </a:xfrm>
          <a:prstGeom prst="rect">
            <a:avLst/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1243584"/>
            <a:ext cx="197510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层次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87168" y="1243584"/>
            <a:ext cx="149961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自由参数（搜索空间）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9936" y="1243584"/>
            <a:ext cx="78638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无故障 ÷割界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9472" y="1243584"/>
            <a:ext cx="65836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mk m=1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50992" y="1243584"/>
            <a:ext cx="71323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mk m=13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1243584"/>
            <a:ext cx="93268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2洞1断链 ÷割界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43215" y="1243584"/>
            <a:ext cx="7498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mk m=1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6175" y="1243584"/>
            <a:ext cx="84124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有洞可用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0576" y="1243584"/>
            <a:ext cx="234086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结论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36" y="1481328"/>
            <a:ext cx="1115568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" y="1481328"/>
            <a:ext cx="195681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L0  XY / Glass–Ni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96312" y="1481328"/>
            <a:ext cx="1481328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无：禁令写死在方向上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9080" y="1481328"/>
            <a:ext cx="76809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1.00×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28616" y="1481328"/>
            <a:ext cx="64008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188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0136" y="1481328"/>
            <a:ext cx="694944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2179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1481328"/>
            <a:ext cx="91440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不可路由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360" y="1481328"/>
            <a:ext cx="73152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1481328"/>
            <a:ext cx="82296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0/44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1481328"/>
            <a:ext cx="232257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最均衡也最快，但零容错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02336" y="1481328"/>
            <a:ext cx="1115568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402336" y="1696212"/>
            <a:ext cx="11155680" cy="214884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8056" y="1696212"/>
            <a:ext cx="195681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L1  M3 Up*/Down*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96312" y="1696212"/>
            <a:ext cx="1481328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根 = 度最大点（1 个）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9080" y="1696212"/>
            <a:ext cx="76809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2.33×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28616" y="1696212"/>
            <a:ext cx="64008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348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0136" y="1696212"/>
            <a:ext cx="694944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5303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20" y="1696212"/>
            <a:ext cx="91440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2.43×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52360" y="1696212"/>
            <a:ext cx="73152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435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1696212"/>
            <a:ext cx="82296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41/44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89720" y="1696212"/>
            <a:ext cx="232257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容错满分，最不均衡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02336" y="1696212"/>
            <a:ext cx="1115568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402336" y="1911095"/>
            <a:ext cx="1115568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8056" y="1911095"/>
            <a:ext cx="195681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L2  M3′ best-root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96312" y="1911095"/>
            <a:ext cx="1481328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根（48 个候选）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69080" y="1911095"/>
            <a:ext cx="76809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1.41×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28616" y="1911095"/>
            <a:ext cx="64008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233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0136" y="1911095"/>
            <a:ext cx="694944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4579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46520" y="1911095"/>
            <a:ext cx="91440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1.93×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52360" y="1911095"/>
            <a:ext cx="73152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370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75320" y="1911095"/>
            <a:ext cx="82296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41/44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89720" y="1911095"/>
            <a:ext cx="232257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现方案，容错满分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02336" y="1911095"/>
            <a:ext cx="1115568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402336" y="2125979"/>
            <a:ext cx="11155680" cy="214884"/>
          </a:xfrm>
          <a:prstGeom prst="rect">
            <a:avLst/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02336" y="2125979"/>
            <a:ext cx="32004" cy="214884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48056" y="2125979"/>
            <a:ext cx="195681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L3  L2 + min-max 选路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496312" y="2125979"/>
            <a:ext cx="1481328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路径：∏(s,d) 合法路径数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9080" y="2125979"/>
            <a:ext cx="76809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1.16×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28616" y="2125979"/>
            <a:ext cx="64008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233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0136" y="2125979"/>
            <a:ext cx="694944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4561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46520" y="2125979"/>
            <a:ext cx="91440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1.45×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52360" y="2125979"/>
            <a:ext cx="73152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293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75320" y="2125979"/>
            <a:ext cx="82296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41/44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89720" y="2125979"/>
            <a:ext cx="232257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✔ 免费，证明一字不改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402336" y="2125979"/>
            <a:ext cx="1115568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402336" y="2340863"/>
            <a:ext cx="1115568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48056" y="2340863"/>
            <a:ext cx="195681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L4  L3 + 禁令换位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496312" y="2340863"/>
            <a:ext cx="1481328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禁令位置（70 条）：极大无环集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69080" y="2340863"/>
            <a:ext cx="76809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1.05×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28616" y="2340863"/>
            <a:ext cx="64008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245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60136" y="2340863"/>
            <a:ext cx="694944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6392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46520" y="2340863"/>
            <a:ext cx="91440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1.45×（无改进）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52360" y="2340863"/>
            <a:ext cx="73152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320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75320" y="2340863"/>
            <a:ext cx="82296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41/44（兜底）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89720" y="2340863"/>
            <a:ext cx="232257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✘ 峰值更低，端到端反而更慢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402336" y="2340863"/>
            <a:ext cx="1115568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"/>
          <p:cNvSpPr/>
          <p:nvPr/>
        </p:nvSpPr>
        <p:spPr>
          <a:xfrm>
            <a:off x="402336" y="2555747"/>
            <a:ext cx="11155680" cy="214884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48056" y="2555747"/>
            <a:ext cx="195681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割界（任何路由的下界）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496312" y="2555747"/>
            <a:ext cx="1481328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069080" y="2555747"/>
            <a:ext cx="76809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1.00×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928616" y="2555747"/>
            <a:ext cx="64008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60136" y="2555747"/>
            <a:ext cx="694944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46520" y="2555747"/>
            <a:ext cx="91440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1.00×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52360" y="2555747"/>
            <a:ext cx="73152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75320" y="2555747"/>
            <a:ext cx="822960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189720" y="2555747"/>
            <a:ext cx="2322576" cy="2148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XY 达到，但不容错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402336" y="2555747"/>
            <a:ext cx="1115568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ectangle 87"/>
          <p:cNvSpPr/>
          <p:nvPr/>
        </p:nvSpPr>
        <p:spPr>
          <a:xfrm>
            <a:off x="402336" y="1243584"/>
            <a:ext cx="11155680" cy="1527047"/>
          </a:xfrm>
          <a:prstGeom prst="rect">
            <a:avLst/>
          </a:prstGeom>
          <a:noFill/>
          <a:ln w="762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274320" y="3291840"/>
            <a:ext cx="3703320" cy="1975104"/>
          </a:xfrm>
          <a:prstGeom prst="roundRect">
            <a:avLst>
              <a:gd name="adj" fmla="val 1851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274320" y="3291840"/>
            <a:ext cx="3703320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74320" y="3291840"/>
            <a:ext cx="50292" cy="274320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20623" y="3319272"/>
            <a:ext cx="3429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② 为什么没有「更宽松的超集」</a:t>
            </a:r>
          </a:p>
        </p:txBody>
      </p:sp>
      <p:cxnSp>
        <p:nvCxnSpPr>
          <p:cNvPr id="93" name="Connector 92"/>
          <p:cNvCxnSpPr/>
          <p:nvPr/>
        </p:nvCxnSpPr>
        <p:spPr>
          <a:xfrm flipV="1">
            <a:off x="665187" y="3922999"/>
            <a:ext cx="233615" cy="282286"/>
          </a:xfrm>
          <a:prstGeom prst="line">
            <a:avLst/>
          </a:prstGeom>
          <a:ln w="2159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112877" y="3922999"/>
            <a:ext cx="233615" cy="282286"/>
          </a:xfrm>
          <a:prstGeom prst="line">
            <a:avLst/>
          </a:prstGeom>
          <a:ln w="24130">
            <a:solidFill>
              <a:srgbClr val="C7000B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H="1">
            <a:off x="1112877" y="4463958"/>
            <a:ext cx="233615" cy="282286"/>
          </a:xfrm>
          <a:prstGeom prst="line">
            <a:avLst/>
          </a:prstGeom>
          <a:ln w="21590">
            <a:solidFill>
              <a:srgbClr val="0B6B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H="1" flipV="1">
            <a:off x="665187" y="4463958"/>
            <a:ext cx="233615" cy="282286"/>
          </a:xfrm>
          <a:prstGeom prst="line">
            <a:avLst/>
          </a:prstGeom>
          <a:ln w="2159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Oval 96"/>
          <p:cNvSpPr/>
          <p:nvPr/>
        </p:nvSpPr>
        <p:spPr>
          <a:xfrm>
            <a:off x="893917" y="3681740"/>
            <a:ext cx="223845" cy="223845"/>
          </a:xfrm>
          <a:prstGeom prst="ellipse">
            <a:avLst/>
          </a:prstGeom>
          <a:solidFill>
            <a:srgbClr val="4E94CC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93917" y="3724270"/>
            <a:ext cx="223845" cy="145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Microsoft YaHei"/>
              </a:rPr>
              <a:t>v</a:t>
            </a:r>
          </a:p>
        </p:txBody>
      </p:sp>
      <p:sp>
        <p:nvSpPr>
          <p:cNvPr id="99" name="Oval 98"/>
          <p:cNvSpPr/>
          <p:nvPr/>
        </p:nvSpPr>
        <p:spPr>
          <a:xfrm>
            <a:off x="446227" y="4222699"/>
            <a:ext cx="223845" cy="223845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46227" y="4265229"/>
            <a:ext cx="223845" cy="145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u</a:t>
            </a:r>
          </a:p>
        </p:txBody>
      </p:sp>
      <p:sp>
        <p:nvSpPr>
          <p:cNvPr id="101" name="Oval 100"/>
          <p:cNvSpPr/>
          <p:nvPr/>
        </p:nvSpPr>
        <p:spPr>
          <a:xfrm>
            <a:off x="1341607" y="4222699"/>
            <a:ext cx="223845" cy="223845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341607" y="4265229"/>
            <a:ext cx="223845" cy="145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w</a:t>
            </a:r>
          </a:p>
        </p:txBody>
      </p:sp>
      <p:sp>
        <p:nvSpPr>
          <p:cNvPr id="103" name="Oval 102"/>
          <p:cNvSpPr/>
          <p:nvPr/>
        </p:nvSpPr>
        <p:spPr>
          <a:xfrm>
            <a:off x="893917" y="4763658"/>
            <a:ext cx="223845" cy="223845"/>
          </a:xfrm>
          <a:prstGeom prst="ellipse">
            <a:avLst/>
          </a:prstGeom>
          <a:solidFill>
            <a:srgbClr val="DCE7F5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93917" y="4806188"/>
            <a:ext cx="223845" cy="145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m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1197681" y="3986418"/>
            <a:ext cx="100584" cy="100584"/>
          </a:xfrm>
          <a:prstGeom prst="line">
            <a:avLst/>
          </a:prstGeom>
          <a:ln w="2032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1197681" y="3986418"/>
            <a:ext cx="100584" cy="100584"/>
          </a:xfrm>
          <a:prstGeom prst="line">
            <a:avLst/>
          </a:prstGeom>
          <a:ln w="2032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/>
          <p:cNvSpPr txBox="1"/>
          <p:nvPr/>
        </p:nvSpPr>
        <p:spPr>
          <a:xfrm>
            <a:off x="256032" y="5047488"/>
            <a:ext cx="14996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C7000B"/>
                </a:solidFill>
                <a:latin typeface="Microsoft YaHei"/>
              </a:rPr>
              <a:t>必成环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719072" y="3621024"/>
            <a:ext cx="2148839" cy="1572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880" b="1">
                <a:solidFill>
                  <a:srgbClr val="1E7F4F"/>
                </a:solidFill>
                <a:latin typeface="Microsoft YaHei"/>
              </a:rPr>
              <a:t>定理 2</a:t>
            </a:r>
          </a:p>
          <a:p>
            <a:pPr algn="l">
              <a:lnSpc>
                <a:spcPct val="118000"/>
              </a:lnSpc>
              <a:spcAft>
                <a:spcPts val="22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左图 ℓ：v=3 &gt; u=w=2 &gt; m=0。放开任意一条 down→up（u→v→w），就能沿「up* 到最低点 m → down* 回 u」把依赖接回起点 ⇒ 必成环。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880" b="1">
                <a:solidFill>
                  <a:srgbClr val="1E7F4F"/>
                </a:solidFill>
                <a:latin typeface="Microsoft YaHei"/>
              </a:rPr>
              <a:t>而且它是「大」的极大集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允许 346/416 = 83%；随机生长的极大无环集只有 319–327 条。XY 只允许 276 条却更均衡 ⇒ 均衡度不取决于「留多少转向」，而取决于 70 条禁令放在哪（见 ③④）。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4105655" y="3291840"/>
            <a:ext cx="3840480" cy="1975104"/>
          </a:xfrm>
          <a:prstGeom prst="roundRect">
            <a:avLst>
              <a:gd name="adj" fmla="val 1851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4105655" y="3291840"/>
            <a:ext cx="3840480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4105655" y="3291840"/>
            <a:ext cx="50292" cy="274320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4251959" y="3319272"/>
            <a:ext cx="35661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③ 唯一免费的超集：L3 min-max 选路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233671" y="3621024"/>
            <a:ext cx="3584448" cy="1572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880" b="1">
                <a:solidFill>
                  <a:srgbClr val="1E7F4F"/>
                </a:solidFill>
                <a:latin typeface="Microsoft YaHei"/>
              </a:rPr>
              <a:t>为什么三条性质一字不改</a:t>
            </a:r>
          </a:p>
          <a:p>
            <a:pPr algn="l">
              <a:lnSpc>
                <a:spcPct val="118000"/>
              </a:lnSpc>
              <a:spcAft>
                <a:spcPts val="22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它只在 M3′ 已许可的转向集内换路径：CDG 仍是定理 2 那张无环图的子图 ⇒ 无死锁不变；每对仍是唯一静态路径 ⇒ 保序不变；仍取 up*·down* 形状 ⇒ 定理 1 的可达性构造不变、牺牲仍为 0。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880" b="1">
                <a:solidFill>
                  <a:srgbClr val="1E7F4F"/>
                </a:solidFill>
                <a:latin typeface="Microsoft YaHei"/>
              </a:rPr>
              <a:t>做法与收益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凸代价 (load+1)³ 的合法 Dijkstra + 拆环重路由，离线约 1 s、表规模不变。峰值 135→111（无故障，1.41×→1.16× 割界）、204→154（2洞1断链，1.93×→1.45×）；故障场景 m=1 makespan 370→293 cy（−21%）。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8074152" y="3291840"/>
            <a:ext cx="3840480" cy="1975104"/>
          </a:xfrm>
          <a:prstGeom prst="roundRect">
            <a:avLst>
              <a:gd name="adj" fmla="val 1851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8074152" y="3291840"/>
            <a:ext cx="3840480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8074152" y="3291840"/>
            <a:ext cx="50292" cy="2743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220456" y="3319272"/>
            <a:ext cx="35661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④ 负面结果：更均衡 ≠ 更快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202168" y="3621024"/>
            <a:ext cx="3584448" cy="1572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880" b="1">
                <a:solidFill>
                  <a:srgbClr val="C7000B"/>
                </a:solidFill>
                <a:latin typeface="Microsoft YaHei"/>
              </a:rPr>
              <a:t>三个独立方案都出现同一现象</a:t>
            </a:r>
          </a:p>
          <a:p>
            <a:pPr algn="l">
              <a:lnSpc>
                <a:spcPct val="118000"/>
              </a:lnSpc>
              <a:spcAft>
                <a:spcPts val="22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L4 禁令换位：峰值 111→101（1.05× 割界，最接近下界），但 m=13 makespan 6392 cy，比 L3 的 4561 cy 慢 40%。west-first：峰值 98（1.02×）却 5858 cy。XY-seeded 极大集：峰值 97 却 3320 cy，仍比纯 XY 慢 52%。</a:t>
            </a:r>
          </a:p>
          <a:p>
            <a:pPr algn="l">
              <a:lnSpc>
                <a:spcPct val="118000"/>
              </a:lnSpc>
              <a:spcAft>
                <a:spcPts val="220"/>
              </a:spcAft>
            </a:pPr>
            <a:r>
              <a:rPr sz="800" b="0">
                <a:solidFill>
                  <a:srgbClr val="1F2933"/>
                </a:solidFill>
                <a:latin typeface="Microsoft YaHei"/>
              </a:rPr>
              <a:t>机理：单 VC 共享 FIFO，转向自由度越大、流交织越多，HOL 阻塞越重；峰值链路负载只是必要条件，不是充分指标 ⇒ 「均衡度」不能单独当目标函数。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00" b="0">
                <a:solidFill>
                  <a:srgbClr val="C87209"/>
                </a:solidFill>
                <a:latin typeface="Microsoft YaHei"/>
              </a:rPr>
              <a:t>而且最均衡的放法恰恰不容错：XY 型禁令在有洞残图上直接不可路由，定向补转向恢复可达也失败 ⇒ 1 VC 下均衡与容错存在实测张力。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74320" y="5413248"/>
            <a:ext cx="6729984" cy="1188720"/>
          </a:xfrm>
          <a:prstGeom prst="roundRect">
            <a:avLst>
              <a:gd name="adj" fmla="val 3076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0" name="Rounded Rectangle 119"/>
          <p:cNvSpPr/>
          <p:nvPr/>
        </p:nvSpPr>
        <p:spPr>
          <a:xfrm>
            <a:off x="274320" y="5413248"/>
            <a:ext cx="6729984" cy="256032"/>
          </a:xfrm>
          <a:prstGeom prst="roundRect">
            <a:avLst>
              <a:gd name="adj" fmla="val 14285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74320" y="5413248"/>
            <a:ext cx="50292" cy="256032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420623" y="5440680"/>
            <a:ext cx="645566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⑤ 结论与落地建议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02336" y="5705856"/>
            <a:ext cx="64922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19" b="0">
                <a:solidFill>
                  <a:srgbClr val="1F2933"/>
                </a:solidFill>
                <a:latin typeface="Microsoft YaHei"/>
              </a:rPr>
              <a:t>① 上 L3（M3′ + min-max 选路）：零硬件改动、表规模不变、离线 1 s，峰值 −18%、故障场景轻载 −21%，三条证明一字不改 —— 没有理由不做。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19" b="0">
                <a:solidFill>
                  <a:srgbClr val="1F2933"/>
                </a:solidFill>
                <a:latin typeface="Microsoft YaHei"/>
              </a:rPr>
              <a:t>② 不上 L4：峰值虽再降 9% 到 1.05× 割界（已接近 XY），但重载 makespan 反而 +40%，且每个故障图都要重跑数分钟离线搜索 —— 收益为负。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19" b="0">
                <a:solidFill>
                  <a:srgbClr val="1F2933"/>
                </a:solidFill>
                <a:latin typeface="Microsoft YaHei"/>
              </a:rPr>
              <a:t>③ 想真正提升重载吞吐，1 VC 已到边界：只能加 VC（2 VC 的 LASH / Dual-UD）或时间分批（BB UD policy）—— 即报告里的 B / C 类方案。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7132320" y="5413248"/>
            <a:ext cx="4785055" cy="1188720"/>
          </a:xfrm>
          <a:prstGeom prst="roundRect">
            <a:avLst>
              <a:gd name="adj" fmla="val 3076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7132320" y="5413248"/>
            <a:ext cx="4785055" cy="256032"/>
          </a:xfrm>
          <a:prstGeom prst="roundRect">
            <a:avLst>
              <a:gd name="adj" fmla="val 14285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132320" y="5413248"/>
            <a:ext cx="50292" cy="256032"/>
          </a:xfrm>
          <a:prstGeom prst="rect">
            <a:avLst/>
          </a:prstGeom>
          <a:solidFill>
            <a:srgbClr val="5A6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278624" y="5440680"/>
            <a:ext cx="4510735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⑥ 出处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260336" y="5705856"/>
            <a:ext cx="4529023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Up*/Down* 原始出处：Schroeder 等，Autonet，IEEE JSAC 9(8), 1991。无环 CDG 判据：Dally &amp; Seitz，IEEE TC C-36(5), 1987。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「禁令放哪」的系统性方法：Mejía 等，Segment-based Routing，IPDPS 2006；Starobinski 等，Turn Prohibition，IEEE/ACM ToN 11(3), 2003；DFS 建树的 up*/down*：Sancho 等，Euro-Par 2000。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