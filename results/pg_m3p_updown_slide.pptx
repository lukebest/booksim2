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6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350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en-US" sz="2100" b="1" dirty="0">
                <a:solidFill>
                  <a:srgbClr val="C00000"/>
                </a:solidFill>
                <a:latin typeface="Microsoft YaHei"/>
              </a:rPr>
              <a:t>2</a:t>
            </a:r>
            <a:r>
              <a:rPr lang="en-US" altLang="zh-CN" sz="2100" b="1" dirty="0">
                <a:solidFill>
                  <a:srgbClr val="C00000"/>
                </a:solidFill>
                <a:latin typeface="Microsoft YaHei"/>
              </a:rPr>
              <a:t>D-Mesh </a:t>
            </a:r>
            <a:r>
              <a:rPr lang="en-US" altLang="zh-CN" sz="2100" b="1" dirty="0" err="1">
                <a:solidFill>
                  <a:srgbClr val="C00000"/>
                </a:solidFill>
                <a:latin typeface="Microsoft YaHei"/>
              </a:rPr>
              <a:t>Baseline</a:t>
            </a:r>
            <a:r>
              <a:rPr sz="2100" b="1" dirty="0" err="1">
                <a:solidFill>
                  <a:srgbClr val="C00000"/>
                </a:solidFill>
                <a:latin typeface="Microsoft YaHei"/>
              </a:rPr>
              <a:t>容错解死锁</a:t>
            </a:r>
            <a:r>
              <a:rPr lang="zh-CN" altLang="en-US" sz="2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机制</a:t>
            </a:r>
            <a:endParaRPr sz="21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166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</a:t>
            </a:r>
            <a:r>
              <a:rPr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1 VC · </a:t>
            </a:r>
            <a:r>
              <a:rPr sz="1000" b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无需虚通道</a:t>
            </a:r>
            <a:r>
              <a:rPr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· 8×6 </a:t>
            </a:r>
            <a:r>
              <a:rPr sz="1000" b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预算故障</a:t>
            </a:r>
            <a:r>
              <a:rPr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44 </a:t>
            </a:r>
            <a:r>
              <a:rPr sz="1000" b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lang="zh-CN" altLang="en-US"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，评估</a:t>
            </a:r>
            <a:r>
              <a:rPr lang="en-US" altLang="zh-CN"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pattern</a:t>
            </a:r>
            <a:r>
              <a:rPr lang="zh-CN" altLang="en-US"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000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All-to-All</a:t>
            </a:r>
            <a:endParaRPr sz="1000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5-Point Star 139"/>
          <p:cNvSpPr/>
          <p:nvPr/>
        </p:nvSpPr>
        <p:spPr>
          <a:xfrm>
            <a:off x="531876" y="3110059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9086" y="3096343"/>
            <a:ext cx="1188720" cy="1267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 dirty="0">
                <a:solidFill>
                  <a:srgbClr val="C7000B"/>
                </a:solidFill>
                <a:latin typeface="Microsoft YaHei"/>
              </a:rPr>
              <a:t>根 = BFS </a:t>
            </a:r>
            <a:r>
              <a:rPr sz="760" b="1" dirty="0" err="1">
                <a:solidFill>
                  <a:srgbClr val="C7000B"/>
                </a:solidFill>
                <a:latin typeface="Microsoft YaHei"/>
              </a:rPr>
              <a:t>源点</a:t>
            </a:r>
            <a:r>
              <a:rPr lang="zh-CN" altLang="en-US" sz="760" b="1" dirty="0">
                <a:solidFill>
                  <a:srgbClr val="C700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（举例）</a:t>
            </a:r>
            <a:endParaRPr sz="760" b="1" dirty="0">
              <a:solidFill>
                <a:srgbClr val="C700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167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>
                <a:solidFill>
                  <a:srgbClr val="1E7F4F"/>
                </a:solidFill>
                <a:latin typeface="Microsoft YaHei"/>
              </a:rPr>
              <a:t>① </a:t>
            </a:r>
            <a:r>
              <a:rPr sz="960" b="1" dirty="0" err="1">
                <a:solidFill>
                  <a:srgbClr val="1E7F4F"/>
                </a:solidFill>
                <a:latin typeface="Microsoft YaHei"/>
              </a:rPr>
              <a:t>在残图上做</a:t>
            </a:r>
            <a:r>
              <a:rPr sz="960" b="1" dirty="0">
                <a:solidFill>
                  <a:srgbClr val="1E7F4F"/>
                </a:solidFill>
                <a:latin typeface="Microsoft YaHei"/>
              </a:rPr>
              <a:t>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 dirty="0">
                <a:solidFill>
                  <a:srgbClr val="5A6673"/>
                </a:solidFill>
                <a:latin typeface="Microsoft YaHei"/>
              </a:rPr>
              <a:t>死 router /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断链不进邻接表，label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=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到根的跳数由残图算出，树自然从洞的两侧绕过去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>
                <a:solidFill>
                  <a:srgbClr val="1E7F4F"/>
                </a:solidFill>
                <a:latin typeface="Microsoft YaHei"/>
              </a:rPr>
              <a:t>② </a:t>
            </a:r>
            <a:r>
              <a:rPr sz="960" b="1" dirty="0" err="1">
                <a:solidFill>
                  <a:srgbClr val="1E7F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不依赖方向绕</a:t>
            </a:r>
            <a:r>
              <a:rPr lang="zh-CN" altLang="en-US" sz="960" b="1" dirty="0">
                <a:solidFill>
                  <a:srgbClr val="1E7F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开故障</a:t>
            </a:r>
            <a:endParaRPr sz="960" b="1" dirty="0">
              <a:solidFill>
                <a:srgbClr val="1E7F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 dirty="0">
                <a:solidFill>
                  <a:srgbClr val="5A6673"/>
                </a:solidFill>
                <a:latin typeface="Microsoft YaHei"/>
              </a:rPr>
              <a:t>XY / East-first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把某类方向写死，洞挡住即无解；Up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*/Down*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只看高度差，四个方向都能走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⇒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残图连通就建得出表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>
                <a:solidFill>
                  <a:srgbClr val="1E7F4F"/>
                </a:solidFill>
                <a:latin typeface="Microsoft YaHei"/>
              </a:rPr>
              <a:t>③ </a:t>
            </a:r>
            <a:r>
              <a:rPr sz="960" b="1" dirty="0" err="1">
                <a:solidFill>
                  <a:srgbClr val="1E7F4F"/>
                </a:solidFill>
                <a:latin typeface="Microsoft YaHei"/>
              </a:rPr>
              <a:t>路径不限于树边</a:t>
            </a:r>
            <a:endParaRPr sz="960" b="1" dirty="0">
              <a:solidFill>
                <a:srgbClr val="1E7F4F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 dirty="0" err="1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>
                <a:solidFill>
                  <a:srgbClr val="C87209"/>
                </a:solidFill>
                <a:latin typeface="Microsoft YaHei"/>
              </a:rPr>
              <a:t>④ </a:t>
            </a:r>
            <a:r>
              <a:rPr sz="960" b="1" dirty="0" err="1">
                <a:solidFill>
                  <a:srgbClr val="C87209"/>
                </a:solidFill>
                <a:latin typeface="Microsoft YaHei"/>
              </a:rPr>
              <a:t>只有残图断开才牺牲</a:t>
            </a:r>
            <a:endParaRPr sz="960" b="1" dirty="0">
              <a:solidFill>
                <a:srgbClr val="C87209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 dirty="0">
                <a:solidFill>
                  <a:srgbClr val="C87209"/>
                </a:solidFill>
                <a:latin typeface="Microsoft YaHei"/>
              </a:rPr>
              <a:t>44 </a:t>
            </a:r>
            <a:r>
              <a:rPr sz="880" b="0" dirty="0" err="1">
                <a:solidFill>
                  <a:srgbClr val="C87209"/>
                </a:solidFill>
                <a:latin typeface="Microsoft YaHei"/>
              </a:rPr>
              <a:t>场景牺牲中位</a:t>
            </a:r>
            <a:r>
              <a:rPr sz="880" b="0" dirty="0">
                <a:solidFill>
                  <a:srgbClr val="C87209"/>
                </a:solidFill>
                <a:latin typeface="Microsoft YaHei"/>
              </a:rPr>
              <a:t> 0 / </a:t>
            </a:r>
            <a:r>
              <a:rPr sz="880" b="0" dirty="0" err="1">
                <a:solidFill>
                  <a:srgbClr val="C87209"/>
                </a:solidFill>
                <a:latin typeface="Microsoft YaHei"/>
              </a:rPr>
              <a:t>最差</a:t>
            </a:r>
            <a:r>
              <a:rPr sz="880" b="0" dirty="0">
                <a:solidFill>
                  <a:srgbClr val="C87209"/>
                </a:solidFill>
                <a:latin typeface="Microsoft YaHei"/>
              </a:rPr>
              <a:t> 4；36/36 </a:t>
            </a:r>
            <a:r>
              <a:rPr sz="880" b="0" dirty="0" err="1">
                <a:solidFill>
                  <a:srgbClr val="C87209"/>
                </a:solidFill>
                <a:latin typeface="Microsoft YaHei"/>
              </a:rPr>
              <a:t>目录格零牺牲</a:t>
            </a:r>
            <a:r>
              <a:rPr sz="880" b="0" dirty="0">
                <a:solidFill>
                  <a:srgbClr val="C87209"/>
                </a:solidFill>
                <a:latin typeface="Microsoft YaHei"/>
              </a:rPr>
              <a:t>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dirty="0">
                <a:solidFill>
                  <a:srgbClr val="1F2933"/>
                </a:solidFill>
                <a:latin typeface="Microsoft YaHei"/>
              </a:rPr>
              <a:t>② </a:t>
            </a:r>
            <a:r>
              <a:rPr sz="1250" b="1" dirty="0" err="1">
                <a:solidFill>
                  <a:srgbClr val="1F2933"/>
                </a:solidFill>
                <a:latin typeface="Microsoft YaHei"/>
              </a:rPr>
              <a:t>如何解死锁：禁</a:t>
            </a:r>
            <a:r>
              <a:rPr sz="1250" b="1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1250" b="1" dirty="0" err="1">
                <a:solidFill>
                  <a:srgbClr val="1F2933"/>
                </a:solidFill>
                <a:latin typeface="Microsoft YaHei"/>
              </a:rPr>
              <a:t>down→up，高度严格单调</a:t>
            </a:r>
            <a:endParaRPr sz="1250" b="1" dirty="0">
              <a:solidFill>
                <a:srgbClr val="1F2933"/>
              </a:solidFill>
              <a:latin typeface="Microsoft YaHei"/>
            </a:endParaRP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 dirty="0">
                <a:solidFill>
                  <a:srgbClr val="5A6673"/>
                </a:solidFill>
                <a:latin typeface="Microsoft YaHei"/>
              </a:rPr>
              <a:t>蓝 = </a:t>
            </a:r>
            <a:r>
              <a:rPr sz="780" b="0" dirty="0" err="1">
                <a:solidFill>
                  <a:srgbClr val="5A6673"/>
                </a:solidFill>
                <a:latin typeface="Microsoft YaHei"/>
              </a:rPr>
              <a:t>up（label</a:t>
            </a:r>
            <a:r>
              <a:rPr sz="7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780" b="0" dirty="0" err="1">
                <a:solidFill>
                  <a:srgbClr val="5A6673"/>
                </a:solidFill>
                <a:latin typeface="Microsoft YaHei"/>
              </a:rPr>
              <a:t>递减，朝根</a:t>
            </a:r>
            <a:r>
              <a:rPr sz="780" b="0" dirty="0">
                <a:solidFill>
                  <a:srgbClr val="5A6673"/>
                </a:solidFill>
                <a:latin typeface="Microsoft YaHei"/>
              </a:rPr>
              <a:t>）　橙 = </a:t>
            </a:r>
            <a:r>
              <a:rPr sz="780" b="0" dirty="0" err="1">
                <a:solidFill>
                  <a:srgbClr val="5A6673"/>
                </a:solidFill>
                <a:latin typeface="Microsoft YaHei"/>
              </a:rPr>
              <a:t>down（label</a:t>
            </a:r>
            <a:r>
              <a:rPr sz="7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780" b="0" dirty="0" err="1">
                <a:solidFill>
                  <a:srgbClr val="5A6673"/>
                </a:solidFill>
                <a:latin typeface="Microsoft YaHei"/>
              </a:rPr>
              <a:t>递增，离根</a:t>
            </a:r>
            <a:r>
              <a:rPr sz="780" b="0" dirty="0">
                <a:solidFill>
                  <a:srgbClr val="5A6673"/>
                </a:solidFill>
                <a:latin typeface="Microsoft YaHei"/>
              </a:rPr>
              <a:t>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 dirty="0" err="1">
                <a:solidFill>
                  <a:srgbClr val="1F2933"/>
                </a:solidFill>
                <a:latin typeface="Microsoft YaHei"/>
              </a:rPr>
              <a:t>合法路径形如</a:t>
            </a:r>
            <a:r>
              <a:rPr sz="840" b="1" dirty="0">
                <a:solidFill>
                  <a:srgbClr val="1F2933"/>
                </a:solidFill>
                <a:latin typeface="Microsoft YaHei"/>
              </a:rPr>
              <a:t> up* → down*，</a:t>
            </a:r>
            <a:r>
              <a:rPr sz="840" b="1" dirty="0" err="1">
                <a:solidFill>
                  <a:srgbClr val="1F2933"/>
                </a:solidFill>
                <a:latin typeface="Microsoft YaHei"/>
              </a:rPr>
              <a:t>拐点最多一个</a:t>
            </a:r>
            <a:endParaRPr sz="840" b="1" dirty="0">
              <a:solidFill>
                <a:srgbClr val="1F2933"/>
              </a:solidFill>
              <a:latin typeface="Microsoft YaHei"/>
            </a:endParaRP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1889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 err="1">
                <a:solidFill>
                  <a:srgbClr val="C7000B"/>
                </a:solidFill>
                <a:latin typeface="Microsoft YaHei"/>
              </a:rPr>
              <a:t>唯一规则</a:t>
            </a:r>
            <a:endParaRPr sz="960" b="1" dirty="0">
              <a:solidFill>
                <a:srgbClr val="C7000B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 dirty="0" err="1">
                <a:solidFill>
                  <a:srgbClr val="5A6673"/>
                </a:solidFill>
                <a:latin typeface="Microsoft YaHei"/>
              </a:rPr>
              <a:t>先沿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label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递减方向走（up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），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一旦开始递增（down）就再也不许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up。实现是带相位的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BFS：</a:t>
            </a:r>
            <a:r>
              <a:rPr lang="en-US" sz="880" b="0" dirty="0" err="1">
                <a:solidFill>
                  <a:srgbClr val="5A6673"/>
                </a:solidFill>
                <a:latin typeface="Microsoft YaHei"/>
              </a:rPr>
              <a:t>phase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1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里禁掉所有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 dirty="0" err="1">
                <a:solidFill>
                  <a:srgbClr val="C7000B"/>
                </a:solidFill>
                <a:latin typeface="Microsoft YaHei"/>
              </a:rPr>
              <a:t>为什么这样就无死锁</a:t>
            </a:r>
            <a:endParaRPr sz="960" b="1" dirty="0">
              <a:solidFill>
                <a:srgbClr val="C7000B"/>
              </a:solidFill>
              <a:latin typeface="Microsoft YaHei"/>
            </a:endParaRP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 dirty="0">
                <a:solidFill>
                  <a:srgbClr val="5A6673"/>
                </a:solidFill>
                <a:latin typeface="Microsoft YaHei"/>
              </a:rPr>
              <a:t>mesh 按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x+y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奇偶是二分图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⇒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相邻节点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label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必差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1，没有同层边，于是 up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通道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label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严格递减、down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严格递增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 dirty="0">
                <a:solidFill>
                  <a:srgbClr val="5A6673"/>
                </a:solidFill>
                <a:latin typeface="Microsoft YaHei"/>
              </a:rPr>
              <a:t>CDG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只剩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up→up、up→down、down→down：段内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label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单调、跨段只能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up→down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80" b="0" dirty="0" err="1">
                <a:solidFill>
                  <a:srgbClr val="5A6673"/>
                </a:solidFill>
                <a:latin typeface="Microsoft YaHei"/>
              </a:rPr>
              <a:t>单向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 ⇒ 依赖链回不到起点，</a:t>
            </a:r>
            <a:r>
              <a:rPr sz="880" b="1" dirty="0">
                <a:solidFill>
                  <a:srgbClr val="5A6673"/>
                </a:solidFill>
                <a:latin typeface="Microsoft YaHei"/>
              </a:rPr>
              <a:t>无环</a:t>
            </a:r>
            <a:r>
              <a:rPr sz="880" b="0" dirty="0">
                <a:solidFill>
                  <a:srgbClr val="5A6673"/>
                </a:solidFill>
                <a:latin typeface="Microsoft YaHei"/>
              </a:rPr>
              <a:t>（构造性，1 VC）。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420623" y="4202629"/>
            <a:ext cx="11368735" cy="2083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 dirty="0">
                <a:solidFill>
                  <a:srgbClr val="1F2933"/>
                </a:solidFill>
                <a:latin typeface="Microsoft YaHei"/>
              </a:rPr>
              <a:t>③ </a:t>
            </a:r>
            <a:r>
              <a:rPr lang="zh-CN" altLang="en-US" sz="12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优化：</a:t>
            </a:r>
            <a:r>
              <a:rPr sz="1250" b="1" dirty="0" err="1">
                <a:solidFill>
                  <a:srgbClr val="1F2933"/>
                </a:solidFill>
                <a:latin typeface="Microsoft YaHei"/>
              </a:rPr>
              <a:t>把「根」当自由参数搜一遍（可行性与无死锁完全不变</a:t>
            </a:r>
            <a:r>
              <a:rPr sz="1250" b="1" dirty="0">
                <a:solidFill>
                  <a:srgbClr val="1F2933"/>
                </a:solidFill>
                <a:latin typeface="Microsoft YaHei"/>
              </a:rPr>
              <a:t>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3466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 dirty="0">
                <a:solidFill>
                  <a:srgbClr val="C7000B"/>
                </a:solidFill>
                <a:latin typeface="Microsoft YaHei"/>
              </a:rPr>
              <a:t>端到端收益（44 </a:t>
            </a:r>
            <a:r>
              <a:rPr sz="960" b="1" dirty="0" err="1">
                <a:solidFill>
                  <a:srgbClr val="C7000B"/>
                </a:solidFill>
                <a:latin typeface="Microsoft YaHei"/>
              </a:rPr>
              <a:t>场景，物理</a:t>
            </a:r>
            <a:r>
              <a:rPr sz="960" b="1" dirty="0">
                <a:solidFill>
                  <a:srgbClr val="C7000B"/>
                </a:solidFill>
                <a:latin typeface="Microsoft YaHei"/>
              </a:rPr>
              <a:t> 1 VC）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zh-CN" altLang="en-US" sz="880" dirty="0">
                <a:solidFill>
                  <a:srgbClr val="1F2933"/>
                </a:solidFill>
                <a:latin typeface="Microsoft YaHei"/>
              </a:rPr>
              <a:t>该方案</a:t>
            </a:r>
            <a:r>
              <a:rPr lang="en-US" sz="880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80" b="0" dirty="0">
                <a:solidFill>
                  <a:srgbClr val="1F2933"/>
                </a:solidFill>
                <a:latin typeface="Microsoft YaHei"/>
              </a:rPr>
              <a:t>是 1 VC </a:t>
            </a:r>
            <a:r>
              <a:rPr sz="880" b="0" dirty="0" err="1">
                <a:solidFill>
                  <a:srgbClr val="1F2933"/>
                </a:solidFill>
                <a:latin typeface="Microsoft YaHei"/>
              </a:rPr>
              <a:t>方案里的</a:t>
            </a:r>
            <a:r>
              <a:rPr sz="880" b="0" dirty="0">
                <a:solidFill>
                  <a:srgbClr val="1F2933"/>
                </a:solidFill>
                <a:latin typeface="Microsoft YaHei"/>
              </a:rPr>
              <a:t> Pareto </a:t>
            </a:r>
            <a:r>
              <a:rPr sz="880" b="0" dirty="0" err="1">
                <a:solidFill>
                  <a:srgbClr val="1F2933"/>
                </a:solidFill>
                <a:latin typeface="Microsoft YaHei"/>
              </a:rPr>
              <a:t>前沿点</a:t>
            </a:r>
            <a:r>
              <a:rPr sz="880" b="0" dirty="0">
                <a:solidFill>
                  <a:srgbClr val="1F2933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360</Words>
  <Application>Microsoft Office PowerPoint</Application>
  <PresentationFormat>宽屏</PresentationFormat>
  <Paragraphs>54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Microsoft YaHei</vt:lpstr>
      <vt:lpstr>Microsoft YaHei</vt:lpstr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Luke Liu</cp:lastModifiedBy>
  <cp:revision>17</cp:revision>
  <dcterms:created xsi:type="dcterms:W3CDTF">2013-01-27T09:14:16Z</dcterms:created>
  <dcterms:modified xsi:type="dcterms:W3CDTF">2026-08-12T14:03:55Z</dcterms:modified>
  <cp:category/>
</cp:coreProperties>
</file>