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91440"/>
            <a:ext cx="10424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M3′ Up*/Down* best-root：怎么容错、怎么解死锁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502920"/>
            <a:ext cx="11521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C3CBD4"/>
                </a:solidFill>
                <a:latin typeface="Microsoft YaHei"/>
              </a:rPr>
              <a:t>单一机制：给每个 router 一个「到根的高度」，只禁一种转向 —— 物理 1 VC · 无需虚通道 · 8×6 预算故障 44 场景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969264"/>
            <a:ext cx="5742432" cy="3035808"/>
          </a:xfrm>
          <a:prstGeom prst="roundRect">
            <a:avLst>
              <a:gd name="adj" fmla="val 1204"/>
            </a:avLst>
          </a:prstGeom>
          <a:solidFill>
            <a:srgbClr val="F7F8FA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969264"/>
            <a:ext cx="5742432" cy="310896"/>
          </a:xfrm>
          <a:prstGeom prst="roundRect">
            <a:avLst>
              <a:gd name="adj" fmla="val 11764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50292" cy="310896"/>
          </a:xfrm>
          <a:prstGeom prst="rect">
            <a:avLst/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3" y="996696"/>
            <a:ext cx="54681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>
                <a:solidFill>
                  <a:srgbClr val="1F2933"/>
                </a:solidFill>
                <a:latin typeface="Microsoft YaHei"/>
              </a:rPr>
              <a:t>① 如何容错：高度重算，洞自动被绕开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600" y="1506105"/>
            <a:ext cx="296091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" y="1506105"/>
            <a:ext cx="0" cy="342162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05691" y="1506105"/>
            <a:ext cx="296091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05691" y="1506105"/>
            <a:ext cx="0" cy="342162"/>
          </a:xfrm>
          <a:prstGeom prst="line">
            <a:avLst/>
          </a:prstGeom>
          <a:ln w="889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01782" y="1506105"/>
            <a:ext cx="296092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201782" y="1506105"/>
            <a:ext cx="0" cy="342162"/>
          </a:xfrm>
          <a:prstGeom prst="line">
            <a:avLst/>
          </a:prstGeom>
          <a:ln w="889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97874" y="1506105"/>
            <a:ext cx="296091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97874" y="1506105"/>
            <a:ext cx="0" cy="342162"/>
          </a:xfrm>
          <a:prstGeom prst="line">
            <a:avLst/>
          </a:prstGeom>
          <a:ln w="889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793965" y="1506105"/>
            <a:ext cx="296092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793965" y="1506105"/>
            <a:ext cx="0" cy="342162"/>
          </a:xfrm>
          <a:prstGeom prst="line">
            <a:avLst/>
          </a:prstGeom>
          <a:ln w="889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090057" y="1506105"/>
            <a:ext cx="296091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090057" y="1506105"/>
            <a:ext cx="0" cy="342162"/>
          </a:xfrm>
          <a:prstGeom prst="line">
            <a:avLst/>
          </a:prstGeom>
          <a:ln w="889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148" y="1506105"/>
            <a:ext cx="296092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86148" y="1506105"/>
            <a:ext cx="0" cy="342162"/>
          </a:xfrm>
          <a:prstGeom prst="line">
            <a:avLst/>
          </a:prstGeom>
          <a:ln w="889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682240" y="1506105"/>
            <a:ext cx="0" cy="342162"/>
          </a:xfrm>
          <a:prstGeom prst="line">
            <a:avLst/>
          </a:prstGeom>
          <a:ln w="889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600" y="1848267"/>
            <a:ext cx="296091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600" y="1848267"/>
            <a:ext cx="0" cy="342163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05691" y="1848267"/>
            <a:ext cx="296091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05691" y="1848267"/>
            <a:ext cx="0" cy="342163"/>
          </a:xfrm>
          <a:prstGeom prst="line">
            <a:avLst/>
          </a:prstGeom>
          <a:ln w="889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01782" y="1848267"/>
            <a:ext cx="296092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201782" y="1848267"/>
            <a:ext cx="0" cy="342163"/>
          </a:xfrm>
          <a:prstGeom prst="line">
            <a:avLst/>
          </a:prstGeom>
          <a:ln w="889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497874" y="1848267"/>
            <a:ext cx="296091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793965" y="1848267"/>
            <a:ext cx="296092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090057" y="1848267"/>
            <a:ext cx="296091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090057" y="1848267"/>
            <a:ext cx="0" cy="342163"/>
          </a:xfrm>
          <a:prstGeom prst="line">
            <a:avLst/>
          </a:prstGeom>
          <a:ln w="889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86148" y="1848267"/>
            <a:ext cx="296092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86148" y="1848267"/>
            <a:ext cx="0" cy="342163"/>
          </a:xfrm>
          <a:prstGeom prst="line">
            <a:avLst/>
          </a:prstGeom>
          <a:ln w="889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682240" y="1848267"/>
            <a:ext cx="0" cy="342163"/>
          </a:xfrm>
          <a:prstGeom prst="line">
            <a:avLst/>
          </a:prstGeom>
          <a:ln w="889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09600" y="2190430"/>
            <a:ext cx="296091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09600" y="2190430"/>
            <a:ext cx="0" cy="342163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05691" y="2190430"/>
            <a:ext cx="296091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05691" y="2190430"/>
            <a:ext cx="0" cy="342163"/>
          </a:xfrm>
          <a:prstGeom prst="line">
            <a:avLst/>
          </a:prstGeom>
          <a:ln w="889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201782" y="2190430"/>
            <a:ext cx="0" cy="342163"/>
          </a:xfrm>
          <a:prstGeom prst="line">
            <a:avLst/>
          </a:prstGeom>
          <a:ln w="889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090057" y="2190430"/>
            <a:ext cx="296091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090057" y="2190430"/>
            <a:ext cx="0" cy="342163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386148" y="2190430"/>
            <a:ext cx="296092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386148" y="2190430"/>
            <a:ext cx="0" cy="342163"/>
          </a:xfrm>
          <a:prstGeom prst="line">
            <a:avLst/>
          </a:prstGeom>
          <a:ln w="889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682240" y="2190430"/>
            <a:ext cx="0" cy="342163"/>
          </a:xfrm>
          <a:prstGeom prst="line">
            <a:avLst/>
          </a:prstGeom>
          <a:ln w="889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09600" y="2532593"/>
            <a:ext cx="296091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09600" y="2532593"/>
            <a:ext cx="0" cy="342162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05691" y="2532593"/>
            <a:ext cx="296091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05691" y="2532593"/>
            <a:ext cx="0" cy="342162"/>
          </a:xfrm>
          <a:prstGeom prst="line">
            <a:avLst/>
          </a:prstGeom>
          <a:ln w="889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01782" y="2532593"/>
            <a:ext cx="296092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1782" y="2532593"/>
            <a:ext cx="0" cy="342162"/>
          </a:xfrm>
          <a:prstGeom prst="line">
            <a:avLst/>
          </a:prstGeom>
          <a:ln w="889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497874" y="2532593"/>
            <a:ext cx="296091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497874" y="2532593"/>
            <a:ext cx="0" cy="342162"/>
          </a:xfrm>
          <a:prstGeom prst="line">
            <a:avLst/>
          </a:prstGeom>
          <a:ln w="889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793965" y="2532593"/>
            <a:ext cx="296092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793965" y="2532593"/>
            <a:ext cx="0" cy="342162"/>
          </a:xfrm>
          <a:prstGeom prst="line">
            <a:avLst/>
          </a:prstGeom>
          <a:ln w="889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90057" y="2532593"/>
            <a:ext cx="296091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90057" y="2532593"/>
            <a:ext cx="0" cy="342162"/>
          </a:xfrm>
          <a:prstGeom prst="line">
            <a:avLst/>
          </a:prstGeom>
          <a:ln w="889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386148" y="2532593"/>
            <a:ext cx="296092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386148" y="2532593"/>
            <a:ext cx="0" cy="342162"/>
          </a:xfrm>
          <a:prstGeom prst="line">
            <a:avLst/>
          </a:prstGeom>
          <a:ln w="889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682240" y="2532593"/>
            <a:ext cx="0" cy="342162"/>
          </a:xfrm>
          <a:prstGeom prst="line">
            <a:avLst/>
          </a:prstGeom>
          <a:ln w="889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09600" y="2874755"/>
            <a:ext cx="296091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09600" y="2874755"/>
            <a:ext cx="0" cy="342163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05691" y="2874755"/>
            <a:ext cx="0" cy="342163"/>
          </a:xfrm>
          <a:prstGeom prst="line">
            <a:avLst/>
          </a:prstGeom>
          <a:ln w="889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201782" y="2874755"/>
            <a:ext cx="296092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201782" y="2874755"/>
            <a:ext cx="0" cy="342163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497874" y="2874755"/>
            <a:ext cx="296091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497874" y="2874755"/>
            <a:ext cx="0" cy="342163"/>
          </a:xfrm>
          <a:prstGeom prst="line">
            <a:avLst/>
          </a:prstGeom>
          <a:ln w="889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793965" y="2874755"/>
            <a:ext cx="296092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793965" y="2874755"/>
            <a:ext cx="0" cy="342163"/>
          </a:xfrm>
          <a:prstGeom prst="line">
            <a:avLst/>
          </a:prstGeom>
          <a:ln w="889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90057" y="2874755"/>
            <a:ext cx="296091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90057" y="2874755"/>
            <a:ext cx="0" cy="342163"/>
          </a:xfrm>
          <a:prstGeom prst="line">
            <a:avLst/>
          </a:prstGeom>
          <a:ln w="889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386148" y="2874755"/>
            <a:ext cx="296092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386148" y="2874755"/>
            <a:ext cx="0" cy="342163"/>
          </a:xfrm>
          <a:prstGeom prst="line">
            <a:avLst/>
          </a:prstGeom>
          <a:ln w="889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682240" y="2874755"/>
            <a:ext cx="0" cy="342163"/>
          </a:xfrm>
          <a:prstGeom prst="line">
            <a:avLst/>
          </a:prstGeom>
          <a:ln w="889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609600" y="3216918"/>
            <a:ext cx="296091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905691" y="3216918"/>
            <a:ext cx="296091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201782" y="3216918"/>
            <a:ext cx="296092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497874" y="3216918"/>
            <a:ext cx="296091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793965" y="3216918"/>
            <a:ext cx="296092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90057" y="3216918"/>
            <a:ext cx="296091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386148" y="3216918"/>
            <a:ext cx="296092" cy="0"/>
          </a:xfrm>
          <a:prstGeom prst="line">
            <a:avLst/>
          </a:prstGeom>
          <a:ln w="19050">
            <a:solidFill>
              <a:srgbClr val="7FB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05691" y="2874755"/>
            <a:ext cx="296091" cy="0"/>
          </a:xfrm>
          <a:prstGeom prst="line">
            <a:avLst/>
          </a:prstGeom>
          <a:ln w="13970">
            <a:solidFill>
              <a:srgbClr val="C700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19538" y="2840557"/>
            <a:ext cx="68397" cy="68397"/>
          </a:xfrm>
          <a:prstGeom prst="line">
            <a:avLst/>
          </a:prstGeom>
          <a:ln w="1524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19538" y="2840557"/>
            <a:ext cx="68397" cy="68397"/>
          </a:xfrm>
          <a:prstGeom prst="line">
            <a:avLst/>
          </a:prstGeom>
          <a:ln w="1524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552395" y="1448900"/>
            <a:ext cx="114409" cy="114409"/>
          </a:xfrm>
          <a:prstGeom prst="ellipse">
            <a:avLst/>
          </a:prstGeom>
          <a:solidFill>
            <a:srgbClr val="7FB4D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48486" y="1448900"/>
            <a:ext cx="114409" cy="114409"/>
          </a:xfrm>
          <a:prstGeom prst="ellipse">
            <a:avLst/>
          </a:prstGeom>
          <a:solidFill>
            <a:srgbClr val="7FB4D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44577" y="1448900"/>
            <a:ext cx="114409" cy="114409"/>
          </a:xfrm>
          <a:prstGeom prst="ellipse">
            <a:avLst/>
          </a:prstGeom>
          <a:solidFill>
            <a:srgbClr val="7FB4D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440669" y="1448900"/>
            <a:ext cx="114409" cy="114409"/>
          </a:xfrm>
          <a:prstGeom prst="ellipse">
            <a:avLst/>
          </a:prstGeom>
          <a:solidFill>
            <a:srgbClr val="4E94C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736760" y="1448900"/>
            <a:ext cx="114409" cy="114409"/>
          </a:xfrm>
          <a:prstGeom prst="ellipse">
            <a:avLst/>
          </a:prstGeom>
          <a:solidFill>
            <a:srgbClr val="4E94C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2032852" y="1448900"/>
            <a:ext cx="114409" cy="114409"/>
          </a:xfrm>
          <a:prstGeom prst="ellipse">
            <a:avLst/>
          </a:prstGeom>
          <a:solidFill>
            <a:srgbClr val="2A6FA8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2328943" y="1448900"/>
            <a:ext cx="114409" cy="114409"/>
          </a:xfrm>
          <a:prstGeom prst="ellipse">
            <a:avLst/>
          </a:prstGeom>
          <a:solidFill>
            <a:srgbClr val="2A6FA8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2625035" y="1448900"/>
            <a:ext cx="114409" cy="114409"/>
          </a:xfrm>
          <a:prstGeom prst="ellipse">
            <a:avLst/>
          </a:prstGeom>
          <a:solidFill>
            <a:srgbClr val="2A6FA8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52395" y="1791063"/>
            <a:ext cx="114409" cy="114409"/>
          </a:xfrm>
          <a:prstGeom prst="ellipse">
            <a:avLst/>
          </a:prstGeom>
          <a:solidFill>
            <a:srgbClr val="AFD0E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48486" y="1791063"/>
            <a:ext cx="114409" cy="114409"/>
          </a:xfrm>
          <a:prstGeom prst="ellipse">
            <a:avLst/>
          </a:prstGeom>
          <a:solidFill>
            <a:srgbClr val="7FB4D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44577" y="1791063"/>
            <a:ext cx="114409" cy="114409"/>
          </a:xfrm>
          <a:prstGeom prst="ellipse">
            <a:avLst/>
          </a:prstGeom>
          <a:solidFill>
            <a:srgbClr val="7FB4D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440669" y="1791063"/>
            <a:ext cx="114409" cy="114409"/>
          </a:xfrm>
          <a:prstGeom prst="ellipse">
            <a:avLst/>
          </a:prstGeom>
          <a:solidFill>
            <a:srgbClr val="7FB4D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736760" y="1791063"/>
            <a:ext cx="114409" cy="114409"/>
          </a:xfrm>
          <a:prstGeom prst="ellipse">
            <a:avLst/>
          </a:prstGeom>
          <a:solidFill>
            <a:srgbClr val="4E94C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032852" y="1791063"/>
            <a:ext cx="114409" cy="114409"/>
          </a:xfrm>
          <a:prstGeom prst="ellipse">
            <a:avLst/>
          </a:prstGeom>
          <a:solidFill>
            <a:srgbClr val="4E94C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2328943" y="1791063"/>
            <a:ext cx="114409" cy="114409"/>
          </a:xfrm>
          <a:prstGeom prst="ellipse">
            <a:avLst/>
          </a:prstGeom>
          <a:solidFill>
            <a:srgbClr val="2A6FA8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2625035" y="1791063"/>
            <a:ext cx="114409" cy="114409"/>
          </a:xfrm>
          <a:prstGeom prst="ellipse">
            <a:avLst/>
          </a:prstGeom>
          <a:solidFill>
            <a:srgbClr val="2A6FA8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52395" y="2133225"/>
            <a:ext cx="114409" cy="114409"/>
          </a:xfrm>
          <a:prstGeom prst="ellipse">
            <a:avLst/>
          </a:prstGeom>
          <a:solidFill>
            <a:srgbClr val="AFD0E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48486" y="2133225"/>
            <a:ext cx="114409" cy="114409"/>
          </a:xfrm>
          <a:prstGeom prst="ellipse">
            <a:avLst/>
          </a:prstGeom>
          <a:solidFill>
            <a:srgbClr val="AFD0E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44577" y="2133225"/>
            <a:ext cx="114409" cy="114409"/>
          </a:xfrm>
          <a:prstGeom prst="ellipse">
            <a:avLst/>
          </a:prstGeom>
          <a:solidFill>
            <a:srgbClr val="7FB4D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435695" y="2128251"/>
            <a:ext cx="124358" cy="12435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>
            <a:off x="1459323" y="2151879"/>
            <a:ext cx="77102" cy="77102"/>
          </a:xfrm>
          <a:prstGeom prst="line">
            <a:avLst/>
          </a:prstGeom>
          <a:ln w="1651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459323" y="2151879"/>
            <a:ext cx="77102" cy="77102"/>
          </a:xfrm>
          <a:prstGeom prst="line">
            <a:avLst/>
          </a:prstGeom>
          <a:ln w="1651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731786" y="2128251"/>
            <a:ext cx="124358" cy="12435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755414" y="2151879"/>
            <a:ext cx="77102" cy="77102"/>
          </a:xfrm>
          <a:prstGeom prst="line">
            <a:avLst/>
          </a:prstGeom>
          <a:ln w="1651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755414" y="2151879"/>
            <a:ext cx="77102" cy="77102"/>
          </a:xfrm>
          <a:prstGeom prst="line">
            <a:avLst/>
          </a:prstGeom>
          <a:ln w="1651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Oval 112"/>
          <p:cNvSpPr/>
          <p:nvPr/>
        </p:nvSpPr>
        <p:spPr>
          <a:xfrm>
            <a:off x="2032852" y="2133225"/>
            <a:ext cx="114409" cy="114409"/>
          </a:xfrm>
          <a:prstGeom prst="ellipse">
            <a:avLst/>
          </a:prstGeom>
          <a:solidFill>
            <a:srgbClr val="4E94C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2328943" y="2133225"/>
            <a:ext cx="114409" cy="114409"/>
          </a:xfrm>
          <a:prstGeom prst="ellipse">
            <a:avLst/>
          </a:prstGeom>
          <a:solidFill>
            <a:srgbClr val="4E94C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2625035" y="2133225"/>
            <a:ext cx="114409" cy="114409"/>
          </a:xfrm>
          <a:prstGeom prst="ellipse">
            <a:avLst/>
          </a:prstGeom>
          <a:solidFill>
            <a:srgbClr val="2A6FA8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52395" y="2475388"/>
            <a:ext cx="114409" cy="114409"/>
          </a:xfrm>
          <a:prstGeom prst="ellipse">
            <a:avLst/>
          </a:prstGeom>
          <a:solidFill>
            <a:srgbClr val="DCE7F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8486" y="2475388"/>
            <a:ext cx="114409" cy="114409"/>
          </a:xfrm>
          <a:prstGeom prst="ellipse">
            <a:avLst/>
          </a:prstGeom>
          <a:solidFill>
            <a:srgbClr val="AFD0E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44577" y="2475388"/>
            <a:ext cx="114409" cy="114409"/>
          </a:xfrm>
          <a:prstGeom prst="ellipse">
            <a:avLst/>
          </a:prstGeom>
          <a:solidFill>
            <a:srgbClr val="AFD0E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440669" y="2475388"/>
            <a:ext cx="114409" cy="114409"/>
          </a:xfrm>
          <a:prstGeom prst="ellipse">
            <a:avLst/>
          </a:prstGeom>
          <a:solidFill>
            <a:srgbClr val="7FB4D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736760" y="2475388"/>
            <a:ext cx="114409" cy="114409"/>
          </a:xfrm>
          <a:prstGeom prst="ellipse">
            <a:avLst/>
          </a:prstGeom>
          <a:solidFill>
            <a:srgbClr val="7FB4D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2032852" y="2475388"/>
            <a:ext cx="114409" cy="114409"/>
          </a:xfrm>
          <a:prstGeom prst="ellipse">
            <a:avLst/>
          </a:prstGeom>
          <a:solidFill>
            <a:srgbClr val="7FB4D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2328943" y="2475388"/>
            <a:ext cx="114409" cy="114409"/>
          </a:xfrm>
          <a:prstGeom prst="ellipse">
            <a:avLst/>
          </a:prstGeom>
          <a:solidFill>
            <a:srgbClr val="4E94C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625035" y="2475388"/>
            <a:ext cx="114409" cy="114409"/>
          </a:xfrm>
          <a:prstGeom prst="ellipse">
            <a:avLst/>
          </a:prstGeom>
          <a:solidFill>
            <a:srgbClr val="4E94C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52395" y="2817550"/>
            <a:ext cx="114409" cy="114409"/>
          </a:xfrm>
          <a:prstGeom prst="ellipse">
            <a:avLst/>
          </a:prstGeom>
          <a:solidFill>
            <a:srgbClr val="DCE7F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48486" y="2817550"/>
            <a:ext cx="114409" cy="114409"/>
          </a:xfrm>
          <a:prstGeom prst="ellipse">
            <a:avLst/>
          </a:prstGeom>
          <a:solidFill>
            <a:srgbClr val="DCE7F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44577" y="2817550"/>
            <a:ext cx="114409" cy="114409"/>
          </a:xfrm>
          <a:prstGeom prst="ellipse">
            <a:avLst/>
          </a:prstGeom>
          <a:solidFill>
            <a:srgbClr val="AFD0E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440669" y="2817550"/>
            <a:ext cx="114409" cy="114409"/>
          </a:xfrm>
          <a:prstGeom prst="ellipse">
            <a:avLst/>
          </a:prstGeom>
          <a:solidFill>
            <a:srgbClr val="AFD0E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736760" y="2817550"/>
            <a:ext cx="114409" cy="114409"/>
          </a:xfrm>
          <a:prstGeom prst="ellipse">
            <a:avLst/>
          </a:prstGeom>
          <a:solidFill>
            <a:srgbClr val="7FB4D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2032852" y="2817550"/>
            <a:ext cx="114409" cy="114409"/>
          </a:xfrm>
          <a:prstGeom prst="ellipse">
            <a:avLst/>
          </a:prstGeom>
          <a:solidFill>
            <a:srgbClr val="7FB4D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2328943" y="2817550"/>
            <a:ext cx="114409" cy="114409"/>
          </a:xfrm>
          <a:prstGeom prst="ellipse">
            <a:avLst/>
          </a:prstGeom>
          <a:solidFill>
            <a:srgbClr val="7FB4D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2625035" y="2817550"/>
            <a:ext cx="114409" cy="114409"/>
          </a:xfrm>
          <a:prstGeom prst="ellipse">
            <a:avLst/>
          </a:prstGeom>
          <a:solidFill>
            <a:srgbClr val="4E94C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52395" y="3159713"/>
            <a:ext cx="114409" cy="114409"/>
          </a:xfrm>
          <a:prstGeom prst="ellipse">
            <a:avLst/>
          </a:prstGeom>
          <a:solidFill>
            <a:srgbClr val="DCE7F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48486" y="3159713"/>
            <a:ext cx="114409" cy="114409"/>
          </a:xfrm>
          <a:prstGeom prst="ellipse">
            <a:avLst/>
          </a:prstGeom>
          <a:solidFill>
            <a:srgbClr val="DCE7F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44577" y="3159713"/>
            <a:ext cx="114409" cy="114409"/>
          </a:xfrm>
          <a:prstGeom prst="ellipse">
            <a:avLst/>
          </a:prstGeom>
          <a:solidFill>
            <a:srgbClr val="DCE7F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440669" y="3159713"/>
            <a:ext cx="114409" cy="114409"/>
          </a:xfrm>
          <a:prstGeom prst="ellipse">
            <a:avLst/>
          </a:prstGeom>
          <a:solidFill>
            <a:srgbClr val="AFD0E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736760" y="3159713"/>
            <a:ext cx="114409" cy="114409"/>
          </a:xfrm>
          <a:prstGeom prst="ellipse">
            <a:avLst/>
          </a:prstGeom>
          <a:solidFill>
            <a:srgbClr val="AFD0E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2032852" y="3159713"/>
            <a:ext cx="114409" cy="114409"/>
          </a:xfrm>
          <a:prstGeom prst="ellipse">
            <a:avLst/>
          </a:prstGeom>
          <a:solidFill>
            <a:srgbClr val="7FB4D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2328943" y="3159713"/>
            <a:ext cx="114409" cy="114409"/>
          </a:xfrm>
          <a:prstGeom prst="ellipse">
            <a:avLst/>
          </a:prstGeom>
          <a:solidFill>
            <a:srgbClr val="7FB4D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2625035" y="3159713"/>
            <a:ext cx="114409" cy="114409"/>
          </a:xfrm>
          <a:prstGeom prst="ellipse">
            <a:avLst/>
          </a:prstGeom>
          <a:solidFill>
            <a:srgbClr val="7FB4D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5-Point Star 139"/>
          <p:cNvSpPr/>
          <p:nvPr/>
        </p:nvSpPr>
        <p:spPr>
          <a:xfrm>
            <a:off x="531876" y="3139194"/>
            <a:ext cx="155448" cy="155448"/>
          </a:xfrm>
          <a:prstGeom prst="star5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09086" y="3125478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60" b="1">
                <a:solidFill>
                  <a:srgbClr val="C7000B"/>
                </a:solidFill>
                <a:latin typeface="Microsoft YaHei"/>
              </a:rPr>
              <a:t>根 = BFS 源点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02336" y="3493008"/>
            <a:ext cx="24871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100"/>
              </a:spcAft>
            </a:pPr>
            <a:r>
              <a:rPr sz="780" b="0">
                <a:solidFill>
                  <a:srgbClr val="5A6673"/>
                </a:solidFill>
                <a:latin typeface="Microsoft YaHei"/>
              </a:rPr>
              <a:t>蓝边 = BFS 树（只给高度）　浅灰 = 其余存活链路（路径可用）</a:t>
            </a:r>
          </a:p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80" b="0">
                <a:solidFill>
                  <a:srgbClr val="5A6673"/>
                </a:solidFill>
                <a:latin typeface="Microsoft YaHei"/>
              </a:rPr>
              <a:t>节点颜色由浅到深 = 高度 label 0 → 12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999232" y="1353312"/>
            <a:ext cx="2889504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60" b="1">
                <a:solidFill>
                  <a:srgbClr val="1E7F4F"/>
                </a:solidFill>
                <a:latin typeface="Microsoft YaHei"/>
              </a:rPr>
              <a:t>① 只在残图上做 BFS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80" b="0">
                <a:solidFill>
                  <a:srgbClr val="5A6673"/>
                </a:solidFill>
                <a:latin typeface="Microsoft YaHei"/>
              </a:rPr>
              <a:t>死 router / 断链不进邻接表，label = 到根的跳数由残图算出，树自然从洞的两侧绕过去。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60" b="1">
                <a:solidFill>
                  <a:srgbClr val="1E7F4F"/>
                </a:solidFill>
                <a:latin typeface="Microsoft YaHei"/>
              </a:rPr>
              <a:t>② 不依赖方向，所以能绕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80" b="0">
                <a:solidFill>
                  <a:srgbClr val="5A6673"/>
                </a:solidFill>
                <a:latin typeface="Microsoft YaHei"/>
              </a:rPr>
              <a:t>XY / East-first 把某类方向写死，洞挡住即无解；Up*/Down* 只看高度差，四个方向都能走 ⇒ 残图连通就建得出表。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60" b="1">
                <a:solidFill>
                  <a:srgbClr val="1E7F4F"/>
                </a:solidFill>
                <a:latin typeface="Microsoft YaHei"/>
              </a:rPr>
              <a:t>③ 路径不限于树边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80" b="0">
                <a:solidFill>
                  <a:srgbClr val="5A6673"/>
                </a:solidFill>
                <a:latin typeface="Microsoft YaHei"/>
              </a:rPr>
              <a:t>树只用来定高度，任意存活链路都能走，不会退化成树上绕远。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60" b="1">
                <a:solidFill>
                  <a:srgbClr val="C87209"/>
                </a:solidFill>
                <a:latin typeface="Microsoft YaHei"/>
              </a:rPr>
              <a:t>④ 只有残图断开才牺牲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80" b="0">
                <a:solidFill>
                  <a:srgbClr val="C87209"/>
                </a:solidFill>
                <a:latin typeface="Microsoft YaHei"/>
              </a:rPr>
              <a:t>44 场景牺牲中位 0 / 最差 4；36/36 目录格零牺牲。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163056" y="969264"/>
            <a:ext cx="5754319" cy="3035808"/>
          </a:xfrm>
          <a:prstGeom prst="roundRect">
            <a:avLst>
              <a:gd name="adj" fmla="val 1204"/>
            </a:avLst>
          </a:prstGeom>
          <a:solidFill>
            <a:srgbClr val="F7F8FA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6163056" y="969264"/>
            <a:ext cx="5754319" cy="310896"/>
          </a:xfrm>
          <a:prstGeom prst="roundRect">
            <a:avLst>
              <a:gd name="adj" fmla="val 11764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163056" y="969264"/>
            <a:ext cx="50292" cy="3108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309360" y="996696"/>
            <a:ext cx="547999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>
                <a:solidFill>
                  <a:srgbClr val="1F2933"/>
                </a:solidFill>
                <a:latin typeface="Microsoft YaHei"/>
              </a:rPr>
              <a:t>② 如何解死锁：禁 down→up，高度严格单调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6696456" y="1737897"/>
            <a:ext cx="540512" cy="0"/>
          </a:xfrm>
          <a:prstGeom prst="line">
            <a:avLst/>
          </a:prstGeom>
          <a:ln w="1016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6696456" y="1737897"/>
            <a:ext cx="0" cy="575535"/>
          </a:xfrm>
          <a:prstGeom prst="line">
            <a:avLst/>
          </a:prstGeom>
          <a:ln w="1016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7236968" y="1737897"/>
            <a:ext cx="540512" cy="0"/>
          </a:xfrm>
          <a:prstGeom prst="line">
            <a:avLst/>
          </a:prstGeom>
          <a:ln w="1016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7236968" y="1737897"/>
            <a:ext cx="0" cy="575535"/>
          </a:xfrm>
          <a:prstGeom prst="line">
            <a:avLst/>
          </a:prstGeom>
          <a:ln w="1016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7777480" y="1737897"/>
            <a:ext cx="540512" cy="0"/>
          </a:xfrm>
          <a:prstGeom prst="line">
            <a:avLst/>
          </a:prstGeom>
          <a:ln w="1016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7777480" y="1737897"/>
            <a:ext cx="0" cy="575535"/>
          </a:xfrm>
          <a:prstGeom prst="line">
            <a:avLst/>
          </a:prstGeom>
          <a:ln w="1016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8317992" y="1737897"/>
            <a:ext cx="0" cy="575535"/>
          </a:xfrm>
          <a:prstGeom prst="line">
            <a:avLst/>
          </a:prstGeom>
          <a:ln w="1016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6696456" y="2313432"/>
            <a:ext cx="540512" cy="0"/>
          </a:xfrm>
          <a:prstGeom prst="line">
            <a:avLst/>
          </a:prstGeom>
          <a:ln w="1016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6696456" y="2313432"/>
            <a:ext cx="0" cy="575534"/>
          </a:xfrm>
          <a:prstGeom prst="line">
            <a:avLst/>
          </a:prstGeom>
          <a:ln w="1016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7236968" y="2313432"/>
            <a:ext cx="540512" cy="0"/>
          </a:xfrm>
          <a:prstGeom prst="line">
            <a:avLst/>
          </a:prstGeom>
          <a:ln w="1016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7236968" y="2313432"/>
            <a:ext cx="0" cy="575534"/>
          </a:xfrm>
          <a:prstGeom prst="line">
            <a:avLst/>
          </a:prstGeom>
          <a:ln w="1016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7777480" y="2313432"/>
            <a:ext cx="540512" cy="0"/>
          </a:xfrm>
          <a:prstGeom prst="line">
            <a:avLst/>
          </a:prstGeom>
          <a:ln w="1016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7777480" y="2313432"/>
            <a:ext cx="0" cy="575534"/>
          </a:xfrm>
          <a:prstGeom prst="line">
            <a:avLst/>
          </a:prstGeom>
          <a:ln w="1016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8317992" y="2313432"/>
            <a:ext cx="0" cy="575534"/>
          </a:xfrm>
          <a:prstGeom prst="line">
            <a:avLst/>
          </a:prstGeom>
          <a:ln w="1016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6696456" y="2888966"/>
            <a:ext cx="540512" cy="0"/>
          </a:xfrm>
          <a:prstGeom prst="line">
            <a:avLst/>
          </a:prstGeom>
          <a:ln w="1016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7236968" y="2888966"/>
            <a:ext cx="540512" cy="0"/>
          </a:xfrm>
          <a:prstGeom prst="line">
            <a:avLst/>
          </a:prstGeom>
          <a:ln w="1016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7777480" y="2888966"/>
            <a:ext cx="540512" cy="0"/>
          </a:xfrm>
          <a:prstGeom prst="line">
            <a:avLst/>
          </a:prstGeom>
          <a:ln w="10160">
            <a:solidFill>
              <a:srgbClr val="DC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H="1">
            <a:off x="7928823" y="1737897"/>
            <a:ext cx="237825" cy="0"/>
          </a:xfrm>
          <a:prstGeom prst="line">
            <a:avLst/>
          </a:prstGeom>
          <a:ln w="27940">
            <a:solidFill>
              <a:srgbClr val="0B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H="1">
            <a:off x="7388311" y="1737897"/>
            <a:ext cx="237825" cy="0"/>
          </a:xfrm>
          <a:prstGeom prst="line">
            <a:avLst/>
          </a:prstGeom>
          <a:ln w="27940">
            <a:solidFill>
              <a:srgbClr val="0B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7236968" y="1889241"/>
            <a:ext cx="0" cy="272847"/>
          </a:xfrm>
          <a:prstGeom prst="line">
            <a:avLst/>
          </a:prstGeom>
          <a:ln w="27940">
            <a:solidFill>
              <a:srgbClr val="C872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7236968" y="2464775"/>
            <a:ext cx="0" cy="272847"/>
          </a:xfrm>
          <a:prstGeom prst="line">
            <a:avLst/>
          </a:prstGeom>
          <a:ln w="27940">
            <a:solidFill>
              <a:srgbClr val="C872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H="1">
            <a:off x="6847799" y="2313432"/>
            <a:ext cx="237825" cy="0"/>
          </a:xfrm>
          <a:prstGeom prst="line">
            <a:avLst/>
          </a:prstGeom>
          <a:ln w="20320">
            <a:solidFill>
              <a:srgbClr val="9AA5B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6898132" y="2244852"/>
            <a:ext cx="137160" cy="137160"/>
          </a:xfrm>
          <a:prstGeom prst="line">
            <a:avLst/>
          </a:prstGeom>
          <a:ln w="2413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898132" y="2244852"/>
            <a:ext cx="137160" cy="137160"/>
          </a:xfrm>
          <a:prstGeom prst="line">
            <a:avLst/>
          </a:prstGeom>
          <a:ln w="2413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Oval 171"/>
          <p:cNvSpPr/>
          <p:nvPr/>
        </p:nvSpPr>
        <p:spPr>
          <a:xfrm>
            <a:off x="6561328" y="1602769"/>
            <a:ext cx="270256" cy="270256"/>
          </a:xfrm>
          <a:prstGeom prst="ellipse">
            <a:avLst/>
          </a:prstGeom>
          <a:solidFill>
            <a:srgbClr val="DCE7F5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561328" y="1654118"/>
            <a:ext cx="270256" cy="1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19" b="1">
                <a:solidFill>
                  <a:srgbClr val="1F2933"/>
                </a:solidFill>
                <a:latin typeface="Microsoft YaHei"/>
              </a:rPr>
              <a:t>0</a:t>
            </a:r>
          </a:p>
        </p:txBody>
      </p:sp>
      <p:sp>
        <p:nvSpPr>
          <p:cNvPr id="174" name="Oval 173"/>
          <p:cNvSpPr/>
          <p:nvPr/>
        </p:nvSpPr>
        <p:spPr>
          <a:xfrm>
            <a:off x="7101840" y="1602769"/>
            <a:ext cx="270256" cy="270256"/>
          </a:xfrm>
          <a:prstGeom prst="ellipse">
            <a:avLst/>
          </a:prstGeom>
          <a:solidFill>
            <a:srgbClr val="AFD0EA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7101840" y="1654118"/>
            <a:ext cx="270256" cy="1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19" b="1">
                <a:solidFill>
                  <a:srgbClr val="1F2933"/>
                </a:solidFill>
                <a:latin typeface="Microsoft YaHei"/>
              </a:rPr>
              <a:t>1</a:t>
            </a:r>
          </a:p>
        </p:txBody>
      </p:sp>
      <p:sp>
        <p:nvSpPr>
          <p:cNvPr id="176" name="Oval 175"/>
          <p:cNvSpPr/>
          <p:nvPr/>
        </p:nvSpPr>
        <p:spPr>
          <a:xfrm>
            <a:off x="7642352" y="1602769"/>
            <a:ext cx="270256" cy="270256"/>
          </a:xfrm>
          <a:prstGeom prst="ellipse">
            <a:avLst/>
          </a:prstGeom>
          <a:solidFill>
            <a:srgbClr val="7FB4D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7642352" y="1654118"/>
            <a:ext cx="270256" cy="1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19" b="1">
                <a:solidFill>
                  <a:srgbClr val="1F2933"/>
                </a:solidFill>
                <a:latin typeface="Microsoft YaHei"/>
              </a:rPr>
              <a:t>2</a:t>
            </a:r>
          </a:p>
        </p:txBody>
      </p:sp>
      <p:sp>
        <p:nvSpPr>
          <p:cNvPr id="178" name="Oval 177"/>
          <p:cNvSpPr/>
          <p:nvPr/>
        </p:nvSpPr>
        <p:spPr>
          <a:xfrm>
            <a:off x="8182864" y="1602769"/>
            <a:ext cx="270256" cy="270256"/>
          </a:xfrm>
          <a:prstGeom prst="ellipse">
            <a:avLst/>
          </a:prstGeom>
          <a:solidFill>
            <a:srgbClr val="4E94CC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8182864" y="1654118"/>
            <a:ext cx="270256" cy="1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80" name="Oval 179"/>
          <p:cNvSpPr/>
          <p:nvPr/>
        </p:nvSpPr>
        <p:spPr>
          <a:xfrm>
            <a:off x="6561328" y="2178304"/>
            <a:ext cx="270256" cy="270256"/>
          </a:xfrm>
          <a:prstGeom prst="ellipse">
            <a:avLst/>
          </a:prstGeom>
          <a:solidFill>
            <a:srgbClr val="AFD0EA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561328" y="2229652"/>
            <a:ext cx="270256" cy="1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19" b="1">
                <a:solidFill>
                  <a:srgbClr val="1F2933"/>
                </a:solidFill>
                <a:latin typeface="Microsoft YaHei"/>
              </a:rPr>
              <a:t>1</a:t>
            </a:r>
          </a:p>
        </p:txBody>
      </p:sp>
      <p:sp>
        <p:nvSpPr>
          <p:cNvPr id="182" name="Oval 181"/>
          <p:cNvSpPr/>
          <p:nvPr/>
        </p:nvSpPr>
        <p:spPr>
          <a:xfrm>
            <a:off x="7101840" y="2178304"/>
            <a:ext cx="270256" cy="270256"/>
          </a:xfrm>
          <a:prstGeom prst="ellipse">
            <a:avLst/>
          </a:prstGeom>
          <a:solidFill>
            <a:srgbClr val="7FB4D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7101840" y="2229652"/>
            <a:ext cx="270256" cy="1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19" b="1">
                <a:solidFill>
                  <a:srgbClr val="1F2933"/>
                </a:solidFill>
                <a:latin typeface="Microsoft YaHei"/>
              </a:rPr>
              <a:t>2</a:t>
            </a:r>
          </a:p>
        </p:txBody>
      </p:sp>
      <p:sp>
        <p:nvSpPr>
          <p:cNvPr id="184" name="Oval 183"/>
          <p:cNvSpPr/>
          <p:nvPr/>
        </p:nvSpPr>
        <p:spPr>
          <a:xfrm>
            <a:off x="7642352" y="2178304"/>
            <a:ext cx="270256" cy="270256"/>
          </a:xfrm>
          <a:prstGeom prst="ellipse">
            <a:avLst/>
          </a:prstGeom>
          <a:solidFill>
            <a:srgbClr val="4E94CC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7642352" y="2229652"/>
            <a:ext cx="270256" cy="1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86" name="Oval 185"/>
          <p:cNvSpPr/>
          <p:nvPr/>
        </p:nvSpPr>
        <p:spPr>
          <a:xfrm>
            <a:off x="8182864" y="2178304"/>
            <a:ext cx="270256" cy="270256"/>
          </a:xfrm>
          <a:prstGeom prst="ellipse">
            <a:avLst/>
          </a:prstGeom>
          <a:solidFill>
            <a:srgbClr val="2A6FA8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8182864" y="2229652"/>
            <a:ext cx="270256" cy="1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88" name="Oval 187"/>
          <p:cNvSpPr/>
          <p:nvPr/>
        </p:nvSpPr>
        <p:spPr>
          <a:xfrm>
            <a:off x="6561328" y="2753838"/>
            <a:ext cx="270256" cy="270256"/>
          </a:xfrm>
          <a:prstGeom prst="ellipse">
            <a:avLst/>
          </a:prstGeom>
          <a:solidFill>
            <a:srgbClr val="7FB4D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561328" y="2805186"/>
            <a:ext cx="270256" cy="1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19" b="1">
                <a:solidFill>
                  <a:srgbClr val="1F2933"/>
                </a:solidFill>
                <a:latin typeface="Microsoft YaHei"/>
              </a:rPr>
              <a:t>2</a:t>
            </a:r>
          </a:p>
        </p:txBody>
      </p:sp>
      <p:sp>
        <p:nvSpPr>
          <p:cNvPr id="190" name="Oval 189"/>
          <p:cNvSpPr/>
          <p:nvPr/>
        </p:nvSpPr>
        <p:spPr>
          <a:xfrm>
            <a:off x="7101840" y="2753838"/>
            <a:ext cx="270256" cy="270256"/>
          </a:xfrm>
          <a:prstGeom prst="ellipse">
            <a:avLst/>
          </a:prstGeom>
          <a:solidFill>
            <a:srgbClr val="4E94CC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7101840" y="2805186"/>
            <a:ext cx="270256" cy="1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2" name="Oval 191"/>
          <p:cNvSpPr/>
          <p:nvPr/>
        </p:nvSpPr>
        <p:spPr>
          <a:xfrm>
            <a:off x="7642352" y="2753838"/>
            <a:ext cx="270256" cy="270256"/>
          </a:xfrm>
          <a:prstGeom prst="ellipse">
            <a:avLst/>
          </a:prstGeom>
          <a:solidFill>
            <a:srgbClr val="2A6FA8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7642352" y="2805186"/>
            <a:ext cx="270256" cy="1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94" name="Oval 193"/>
          <p:cNvSpPr/>
          <p:nvPr/>
        </p:nvSpPr>
        <p:spPr>
          <a:xfrm>
            <a:off x="8182864" y="2753838"/>
            <a:ext cx="270256" cy="270256"/>
          </a:xfrm>
          <a:prstGeom prst="ellipse">
            <a:avLst/>
          </a:prstGeom>
          <a:solidFill>
            <a:srgbClr val="2A6FA8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8182864" y="2805186"/>
            <a:ext cx="270256" cy="1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196" name="5-Point Star 195"/>
          <p:cNvSpPr/>
          <p:nvPr/>
        </p:nvSpPr>
        <p:spPr>
          <a:xfrm>
            <a:off x="6442415" y="1483857"/>
            <a:ext cx="156748" cy="156748"/>
          </a:xfrm>
          <a:prstGeom prst="star5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5994400" y="1412777"/>
            <a:ext cx="548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60" b="1">
                <a:solidFill>
                  <a:srgbClr val="C7000B"/>
                </a:solidFill>
                <a:latin typeface="Microsoft YaHei"/>
              </a:rPr>
              <a:t>根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8043672" y="1401601"/>
            <a:ext cx="548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40" b="1">
                <a:solidFill>
                  <a:srgbClr val="0B6BA8"/>
                </a:solidFill>
                <a:latin typeface="Microsoft YaHei"/>
              </a:rPr>
              <a:t>S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962648" y="3060670"/>
            <a:ext cx="548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40" b="1">
                <a:solidFill>
                  <a:srgbClr val="C87209"/>
                </a:solidFill>
                <a:latin typeface="Microsoft YaHei"/>
              </a:rPr>
              <a:t>D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734048" y="1401601"/>
            <a:ext cx="10058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60" b="1">
                <a:solidFill>
                  <a:srgbClr val="1E7F4F"/>
                </a:solidFill>
                <a:latin typeface="Microsoft YaHei"/>
              </a:rPr>
              <a:t>唯一拐点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244295" y="2435047"/>
            <a:ext cx="11338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60" b="1">
                <a:solidFill>
                  <a:srgbClr val="C7000B"/>
                </a:solidFill>
                <a:latin typeface="Microsoft YaHei"/>
              </a:rPr>
              <a:t>禁 down→up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6291072" y="3364992"/>
            <a:ext cx="243230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100"/>
              </a:spcAft>
            </a:pPr>
            <a:r>
              <a:rPr sz="780" b="0">
                <a:solidFill>
                  <a:srgbClr val="5A6673"/>
                </a:solidFill>
                <a:latin typeface="Microsoft YaHei"/>
              </a:rPr>
              <a:t>蓝 = up（label 递减，朝根）　橙 = down（label 递增，离根）</a:t>
            </a:r>
          </a:p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40" b="1">
                <a:solidFill>
                  <a:srgbClr val="1F2933"/>
                </a:solidFill>
                <a:latin typeface="Microsoft YaHei"/>
              </a:rPr>
              <a:t>合法路径形如 up* → down*，拐点最多一个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8869680" y="1353312"/>
            <a:ext cx="2901391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60" b="1">
                <a:solidFill>
                  <a:srgbClr val="C7000B"/>
                </a:solidFill>
                <a:latin typeface="Microsoft YaHei"/>
              </a:rPr>
              <a:t>唯一规则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80" b="0">
                <a:solidFill>
                  <a:srgbClr val="5A6673"/>
                </a:solidFill>
                <a:latin typeface="Microsoft YaHei"/>
              </a:rPr>
              <a:t>先沿 label 递减方向走（up），一旦开始递增（down）就再也不许 up。实现是带相位的 BFS：相位 1 里禁掉所有 up 边。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60" b="1">
                <a:solidFill>
                  <a:srgbClr val="C7000B"/>
                </a:solidFill>
                <a:latin typeface="Microsoft YaHei"/>
              </a:rPr>
              <a:t>为什么这样就无死锁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880" b="0">
                <a:solidFill>
                  <a:srgbClr val="5A6673"/>
                </a:solidFill>
                <a:latin typeface="Microsoft YaHei"/>
              </a:rPr>
              <a:t>mesh 按 x+y 奇偶是二分图 ⇒ 相邻节点 label 必差 1，没有同层边，于是 up 通道 label 严格递减、down 严格递增。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880" b="0">
                <a:solidFill>
                  <a:srgbClr val="5A6673"/>
                </a:solidFill>
                <a:latin typeface="Microsoft YaHei"/>
              </a:rPr>
              <a:t>CDG 只剩 up→up、up→down、down→down：段内 label 单调、跨段只能 up→down 单向 ⇒ 依赖链回不到起点，无环（构造性，1 VC）。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80" b="1">
                <a:solidFill>
                  <a:srgbClr val="1E7F4F"/>
                </a:solidFill>
                <a:latin typeface="Microsoft YaHei"/>
              </a:rPr>
              <a:t>→ 实测：48 个根 × 健康图与故障残图，同层边 0 条、CDG 成环 0 例。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274320" y="4133087"/>
            <a:ext cx="11643055" cy="1572768"/>
          </a:xfrm>
          <a:prstGeom prst="roundRect">
            <a:avLst>
              <a:gd name="adj" fmla="val 2325"/>
            </a:avLst>
          </a:prstGeom>
          <a:solidFill>
            <a:srgbClr val="F7F8FA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5" name="Rounded Rectangle 204"/>
          <p:cNvSpPr/>
          <p:nvPr/>
        </p:nvSpPr>
        <p:spPr>
          <a:xfrm>
            <a:off x="274320" y="4133087"/>
            <a:ext cx="11643055" cy="292608"/>
          </a:xfrm>
          <a:prstGeom prst="roundRect">
            <a:avLst>
              <a:gd name="adj" fmla="val 125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274320" y="4133087"/>
            <a:ext cx="50292" cy="292608"/>
          </a:xfrm>
          <a:prstGeom prst="rect">
            <a:avLst/>
          </a:prstGeom>
          <a:solidFill>
            <a:srgbClr val="0B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420623" y="4160520"/>
            <a:ext cx="113687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>
                <a:solidFill>
                  <a:srgbClr val="1F2933"/>
                </a:solidFill>
                <a:latin typeface="Microsoft YaHei"/>
              </a:rPr>
              <a:t>③ M3′ 相对 M3 的唯一增量：把「根」当自由参数搜一遍（可行性与无死锁完全不变）</a:t>
            </a:r>
          </a:p>
        </p:txBody>
      </p:sp>
      <p:cxnSp>
        <p:nvCxnSpPr>
          <p:cNvPr id="208" name="Connector 207"/>
          <p:cNvCxnSpPr/>
          <p:nvPr/>
        </p:nvCxnSpPr>
        <p:spPr>
          <a:xfrm>
            <a:off x="576834" y="4549997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576834" y="454999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799991" y="4549997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799991" y="454999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023148" y="4549997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023148" y="454999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246305" y="4549997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246305" y="454999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1469462" y="4549997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1469462" y="454999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1692619" y="4549997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1692619" y="454999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1915776" y="4549997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1915776" y="454999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2138933" y="454999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576834" y="4701444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576834" y="4701444"/>
            <a:ext cx="0" cy="151448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799991" y="4701444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799991" y="4701444"/>
            <a:ext cx="0" cy="151448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1023148" y="4701444"/>
            <a:ext cx="0" cy="151448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1692619" y="4701444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1692619" y="4701444"/>
            <a:ext cx="0" cy="151448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1915776" y="4701444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1915776" y="4701444"/>
            <a:ext cx="0" cy="151448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2138933" y="4701444"/>
            <a:ext cx="0" cy="151448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576834" y="4852892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576834" y="4852892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799991" y="4852892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799991" y="4852892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1692619" y="4852892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1692619" y="4852892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1915776" y="4852892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1915776" y="4852892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2138933" y="4852892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576834" y="5004339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576834" y="5004339"/>
            <a:ext cx="0" cy="151448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799991" y="5004339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799991" y="5004339"/>
            <a:ext cx="0" cy="151448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1023148" y="5004339"/>
            <a:ext cx="0" cy="151448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246305" y="5004339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246305" y="5004339"/>
            <a:ext cx="0" cy="151448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1469462" y="5004339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1469462" y="5004339"/>
            <a:ext cx="0" cy="151448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1692619" y="5004339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1692619" y="5004339"/>
            <a:ext cx="0" cy="151448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1915776" y="5004339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1915776" y="5004339"/>
            <a:ext cx="0" cy="151448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2138933" y="5004339"/>
            <a:ext cx="0" cy="151448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576834" y="5155787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576834" y="515578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799991" y="515578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1023148" y="5155787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1023148" y="515578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246305" y="5155787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1246305" y="515578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1469462" y="5155787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469462" y="515578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692619" y="5155787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1692619" y="515578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1915776" y="5155787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1915776" y="515578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2138933" y="515578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576834" y="5307234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799991" y="5307234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1023148" y="5307234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1246305" y="5307234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1469462" y="5307234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1692619" y="5307234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1915776" y="5307234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1023148" y="4701444"/>
            <a:ext cx="223157" cy="0"/>
          </a:xfrm>
          <a:prstGeom prst="line">
            <a:avLst/>
          </a:prstGeom>
          <a:ln w="2413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1246305" y="4701444"/>
            <a:ext cx="223157" cy="0"/>
          </a:xfrm>
          <a:prstGeom prst="line">
            <a:avLst/>
          </a:prstGeom>
          <a:ln w="2413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1469462" y="4701444"/>
            <a:ext cx="223157" cy="0"/>
          </a:xfrm>
          <a:prstGeom prst="line">
            <a:avLst/>
          </a:prstGeom>
          <a:ln w="2413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1023148" y="4852892"/>
            <a:ext cx="0" cy="151447"/>
          </a:xfrm>
          <a:prstGeom prst="line">
            <a:avLst/>
          </a:prstGeom>
          <a:ln w="2413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1023148" y="5004339"/>
            <a:ext cx="223157" cy="0"/>
          </a:xfrm>
          <a:prstGeom prst="line">
            <a:avLst/>
          </a:prstGeom>
          <a:ln w="2413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" name="Oval 281"/>
          <p:cNvSpPr/>
          <p:nvPr/>
        </p:nvSpPr>
        <p:spPr>
          <a:xfrm>
            <a:off x="551087" y="452425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774245" y="452425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997402" y="452425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220559" y="452425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443716" y="452425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666873" y="452425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890030" y="452425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2113187" y="452425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551087" y="467569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774245" y="467569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997402" y="467569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220559" y="467569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443716" y="467569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1666873" y="467569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1890030" y="467569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2113187" y="467569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551087" y="4827146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774245" y="4827146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997402" y="4827146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1666873" y="4827146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1890030" y="4827146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2113187" y="4827146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551087" y="4978593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774245" y="4978593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997402" y="4978593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220559" y="4978593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1443716" y="4978593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666873" y="4978593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890030" y="4978593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2113187" y="4978593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551087" y="513004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774245" y="513004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997402" y="513004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1220559" y="513004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1443716" y="513004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1666873" y="513004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1890030" y="513004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113187" y="513004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551087" y="528148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774245" y="528148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997402" y="528148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1220559" y="528148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1443716" y="528148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1666873" y="528148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1890030" y="528148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2113187" y="528148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8" name="Connector 327"/>
          <p:cNvCxnSpPr/>
          <p:nvPr/>
        </p:nvCxnSpPr>
        <p:spPr>
          <a:xfrm>
            <a:off x="1217984" y="4824571"/>
            <a:ext cx="56642" cy="56641"/>
          </a:xfrm>
          <a:prstGeom prst="line">
            <a:avLst/>
          </a:prstGeom>
          <a:ln w="1270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1217984" y="4824571"/>
            <a:ext cx="56642" cy="56641"/>
          </a:xfrm>
          <a:prstGeom prst="line">
            <a:avLst/>
          </a:prstGeom>
          <a:ln w="1270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1441141" y="4824571"/>
            <a:ext cx="56642" cy="56641"/>
          </a:xfrm>
          <a:prstGeom prst="line">
            <a:avLst/>
          </a:prstGeom>
          <a:ln w="1270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1441141" y="4824571"/>
            <a:ext cx="56642" cy="56641"/>
          </a:xfrm>
          <a:prstGeom prst="line">
            <a:avLst/>
          </a:prstGeom>
          <a:ln w="1270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" name="5-Point Star 331"/>
          <p:cNvSpPr/>
          <p:nvPr/>
        </p:nvSpPr>
        <p:spPr>
          <a:xfrm>
            <a:off x="740775" y="4642228"/>
            <a:ext cx="118431" cy="118431"/>
          </a:xfrm>
          <a:prstGeom prst="star5">
            <a:avLst/>
          </a:prstGeom>
          <a:solidFill>
            <a:srgbClr val="5A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420624" y="541324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50"/>
              </a:spcAft>
            </a:pPr>
            <a:r>
              <a:rPr sz="800" b="1">
                <a:solidFill>
                  <a:srgbClr val="5A6673"/>
                </a:solidFill>
                <a:latin typeface="Microsoft YaHei"/>
              </a:rPr>
              <a:t>M3：根 = 度最大点</a:t>
            </a:r>
          </a:p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00" b="1">
                <a:solidFill>
                  <a:srgbClr val="5A6673"/>
                </a:solidFill>
                <a:latin typeface="Microsoft YaHei"/>
              </a:rPr>
              <a:t>峰值链路负载 258</a:t>
            </a:r>
          </a:p>
        </p:txBody>
      </p:sp>
      <p:cxnSp>
        <p:nvCxnSpPr>
          <p:cNvPr id="334" name="Connector 333"/>
          <p:cNvCxnSpPr/>
          <p:nvPr/>
        </p:nvCxnSpPr>
        <p:spPr>
          <a:xfrm>
            <a:off x="2551938" y="4549997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2551938" y="454999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2775095" y="4549997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2775095" y="454999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2998252" y="4549997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2998252" y="454999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3221409" y="4549997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3221409" y="454999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3444566" y="4549997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3444566" y="454999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3667723" y="4549997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3667723" y="454999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3890880" y="4549997"/>
            <a:ext cx="223158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3890880" y="454999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4114038" y="454999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2551938" y="4701444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2551938" y="4701444"/>
            <a:ext cx="0" cy="151448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2775095" y="4701444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2775095" y="4701444"/>
            <a:ext cx="0" cy="151448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2998252" y="4701444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2998252" y="4701444"/>
            <a:ext cx="0" cy="151448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3221409" y="4701444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3444566" y="4701444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3667723" y="4701444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3667723" y="4701444"/>
            <a:ext cx="0" cy="151448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3890880" y="4701444"/>
            <a:ext cx="223158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3890880" y="4701444"/>
            <a:ext cx="0" cy="151448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4114038" y="4701444"/>
            <a:ext cx="0" cy="151448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2551938" y="4852892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2551938" y="4852892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2775095" y="4852892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2775095" y="4852892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3667723" y="4852892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3890880" y="4852892"/>
            <a:ext cx="223158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3890880" y="4852892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4114038" y="4852892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2551938" y="5004339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2551938" y="5004339"/>
            <a:ext cx="0" cy="151448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2775095" y="5004339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2775095" y="5004339"/>
            <a:ext cx="0" cy="151448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2998252" y="5004339"/>
            <a:ext cx="0" cy="151448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3221409" y="5004339"/>
            <a:ext cx="0" cy="151448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>
            <a:off x="3444566" y="5004339"/>
            <a:ext cx="0" cy="151448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>
            <a:off x="3667723" y="5004339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>
            <a:off x="3667723" y="5004339"/>
            <a:ext cx="0" cy="151448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3890880" y="5004339"/>
            <a:ext cx="223158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>
            <a:off x="3890880" y="5004339"/>
            <a:ext cx="0" cy="151448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4114038" y="5004339"/>
            <a:ext cx="0" cy="151448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>
            <a:off x="2551938" y="5155787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2551938" y="515578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>
            <a:off x="2775095" y="515578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>
            <a:off x="2998252" y="5155787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>
            <a:off x="2998252" y="515578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>
            <a:off x="3221409" y="5155787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>
            <a:off x="3221409" y="515578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>
            <a:off x="3444566" y="5155787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>
            <a:off x="3444566" y="515578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>
            <a:off x="3667723" y="5155787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>
            <a:off x="3667723" y="515578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>
            <a:off x="3890880" y="5155787"/>
            <a:ext cx="223158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>
            <a:off x="3890880" y="515578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>
            <a:off x="4114038" y="5155787"/>
            <a:ext cx="0" cy="151447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>
            <a:off x="2551938" y="5307234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>
            <a:off x="2775095" y="5307234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>
            <a:off x="2998252" y="5307234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>
            <a:off x="3221409" y="5307234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>
            <a:off x="3444566" y="5307234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>
            <a:off x="3667723" y="5307234"/>
            <a:ext cx="223157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>
            <a:off x="3890880" y="5307234"/>
            <a:ext cx="223158" cy="0"/>
          </a:xfrm>
          <a:prstGeom prst="line">
            <a:avLst/>
          </a:prstGeom>
          <a:ln w="762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>
            <a:off x="2998252" y="4852892"/>
            <a:ext cx="0" cy="151447"/>
          </a:xfrm>
          <a:prstGeom prst="line">
            <a:avLst/>
          </a:prstGeom>
          <a:ln w="2413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>
            <a:off x="3667723" y="4852892"/>
            <a:ext cx="0" cy="151447"/>
          </a:xfrm>
          <a:prstGeom prst="line">
            <a:avLst/>
          </a:prstGeom>
          <a:ln w="2413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>
            <a:off x="2998252" y="5004339"/>
            <a:ext cx="223157" cy="0"/>
          </a:xfrm>
          <a:prstGeom prst="line">
            <a:avLst/>
          </a:prstGeom>
          <a:ln w="2413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>
            <a:off x="3221409" y="5004339"/>
            <a:ext cx="223157" cy="0"/>
          </a:xfrm>
          <a:prstGeom prst="line">
            <a:avLst/>
          </a:prstGeom>
          <a:ln w="2413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>
            <a:off x="3444566" y="5004339"/>
            <a:ext cx="223157" cy="0"/>
          </a:xfrm>
          <a:prstGeom prst="line">
            <a:avLst/>
          </a:prstGeom>
          <a:ln w="2413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8" name="Oval 407"/>
          <p:cNvSpPr/>
          <p:nvPr/>
        </p:nvSpPr>
        <p:spPr>
          <a:xfrm>
            <a:off x="2526191" y="452425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2749349" y="452425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2972506" y="452425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3195663" y="452425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3418820" y="452425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3641977" y="452425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3865134" y="452425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4088291" y="452425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2526191" y="467569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2749349" y="467569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2972506" y="467569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3195663" y="467569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3418820" y="467569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3641977" y="467569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3865134" y="467569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4088291" y="467569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2526191" y="4827146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2749349" y="4827146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2972506" y="4827146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3641977" y="4827146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3865134" y="4827146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4088291" y="4827146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2526191" y="4978593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2749349" y="4978593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2972506" y="4978593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3195663" y="4978593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3418820" y="4978593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3641977" y="4978593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3865134" y="4978593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4088291" y="4978593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2526191" y="513004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2749349" y="513004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2972506" y="513004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3195663" y="513004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3418820" y="513004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3641977" y="513004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3865134" y="513004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4088291" y="5130041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2526191" y="528148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2749349" y="528148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2972506" y="528148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3195663" y="528148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3418820" y="528148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3641977" y="528148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3865134" y="528148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4088291" y="5281488"/>
            <a:ext cx="51492" cy="514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4" name="Connector 453"/>
          <p:cNvCxnSpPr/>
          <p:nvPr/>
        </p:nvCxnSpPr>
        <p:spPr>
          <a:xfrm>
            <a:off x="3193088" y="4824571"/>
            <a:ext cx="56642" cy="56641"/>
          </a:xfrm>
          <a:prstGeom prst="line">
            <a:avLst/>
          </a:prstGeom>
          <a:ln w="1270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 flipV="1">
            <a:off x="3193088" y="4824571"/>
            <a:ext cx="56642" cy="56641"/>
          </a:xfrm>
          <a:prstGeom prst="line">
            <a:avLst/>
          </a:prstGeom>
          <a:ln w="1270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3416245" y="4824571"/>
            <a:ext cx="56642" cy="56641"/>
          </a:xfrm>
          <a:prstGeom prst="line">
            <a:avLst/>
          </a:prstGeom>
          <a:ln w="1270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 flipV="1">
            <a:off x="3416245" y="4824571"/>
            <a:ext cx="56642" cy="56641"/>
          </a:xfrm>
          <a:prstGeom prst="line">
            <a:avLst/>
          </a:prstGeom>
          <a:ln w="1270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8" name="5-Point Star 457"/>
          <p:cNvSpPr/>
          <p:nvPr/>
        </p:nvSpPr>
        <p:spPr>
          <a:xfrm>
            <a:off x="2492722" y="5248018"/>
            <a:ext cx="118431" cy="118431"/>
          </a:xfrm>
          <a:prstGeom prst="star5">
            <a:avLst/>
          </a:prstGeom>
          <a:solidFill>
            <a:srgbClr val="0B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2395728" y="541324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50"/>
              </a:spcAft>
            </a:pPr>
            <a:r>
              <a:rPr sz="800" b="1">
                <a:solidFill>
                  <a:srgbClr val="0B6BA8"/>
                </a:solidFill>
                <a:latin typeface="Microsoft YaHei"/>
              </a:rPr>
              <a:t>M3′：根 = 负载最优</a:t>
            </a:r>
          </a:p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00" b="1">
                <a:solidFill>
                  <a:srgbClr val="0B6BA8"/>
                </a:solidFill>
                <a:latin typeface="Microsoft YaHei"/>
              </a:rPr>
              <a:t>峰值链路负载 204</a:t>
            </a:r>
          </a:p>
        </p:txBody>
      </p:sp>
      <p:sp>
        <p:nvSpPr>
          <p:cNvPr id="460" name="TextBox 459"/>
          <p:cNvSpPr txBox="1"/>
          <p:nvPr/>
        </p:nvSpPr>
        <p:spPr>
          <a:xfrm>
            <a:off x="4480560" y="4480559"/>
            <a:ext cx="3703320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40" b="1">
                <a:solidFill>
                  <a:srgbClr val="0B6BA8"/>
                </a:solidFill>
                <a:latin typeface="Microsoft YaHei"/>
              </a:rPr>
              <a:t>搜索方式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880" b="0">
                <a:solidFill>
                  <a:srgbClr val="5A6673"/>
                </a:solidFill>
                <a:latin typeface="Microsoft YaHei"/>
              </a:rPr>
              <a:t>枚举残图上每个存活 router 当根 → 各建一张完整表 → 全表校验 → 按 (max_link_load, 总跳数, root id) 取最小。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Microsoft YaHei"/>
              </a:rPr>
              <a:t>离线一次算完，运行时仍是一张静态表，不增加任何硬件。</a:t>
            </a:r>
          </a:p>
        </p:txBody>
      </p:sp>
      <p:sp>
        <p:nvSpPr>
          <p:cNvPr id="461" name="TextBox 460"/>
          <p:cNvSpPr txBox="1"/>
          <p:nvPr/>
        </p:nvSpPr>
        <p:spPr>
          <a:xfrm>
            <a:off x="8321040" y="4480559"/>
            <a:ext cx="3450031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40" b="1">
                <a:solidFill>
                  <a:srgbClr val="0B6BA8"/>
                </a:solidFill>
                <a:latin typeface="Microsoft YaHei"/>
              </a:rPr>
              <a:t>为什么换根有效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880" b="0">
                <a:solidFill>
                  <a:srgbClr val="5A6673"/>
                </a:solidFill>
                <a:latin typeface="Microsoft YaHei"/>
              </a:rPr>
              <a:t>根附近的链路要承担所有跨区流量。根放在度最大的中心点时，全阵流量挤过中心「脊」；把根挪到边角，高度层沿对角展开，峰值链路负载显著下降。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80" b="1">
                <a:solidFill>
                  <a:srgbClr val="1E7F4F"/>
                </a:solidFill>
                <a:latin typeface="Microsoft YaHei"/>
              </a:rPr>
              <a:t>本例（2 洞 + 1 断链）：峰值 258 → 204，低 21%。</a:t>
            </a:r>
          </a:p>
        </p:txBody>
      </p:sp>
      <p:sp>
        <p:nvSpPr>
          <p:cNvPr id="462" name="Rounded Rectangle 461"/>
          <p:cNvSpPr/>
          <p:nvPr/>
        </p:nvSpPr>
        <p:spPr>
          <a:xfrm>
            <a:off x="274320" y="5852160"/>
            <a:ext cx="11643055" cy="822960"/>
          </a:xfrm>
          <a:prstGeom prst="roundRect">
            <a:avLst>
              <a:gd name="adj" fmla="val 4444"/>
            </a:avLst>
          </a:prstGeom>
          <a:solidFill>
            <a:srgbClr val="FBF0F0"/>
          </a:solidFill>
          <a:ln w="1143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274320" y="5852160"/>
            <a:ext cx="50292" cy="8229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4" name="TextBox 463"/>
          <p:cNvSpPr txBox="1"/>
          <p:nvPr/>
        </p:nvSpPr>
        <p:spPr>
          <a:xfrm>
            <a:off x="438912" y="5943600"/>
            <a:ext cx="530352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50"/>
              </a:spcAft>
            </a:pPr>
            <a:r>
              <a:rPr sz="960" b="1">
                <a:solidFill>
                  <a:srgbClr val="C7000B"/>
                </a:solidFill>
                <a:latin typeface="Microsoft YaHei"/>
              </a:rPr>
              <a:t>第三条性质：保序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Microsoft YaHei"/>
              </a:rPr>
              <a:t>每对源宿的路径由离线 BFS 唯一确定，运行时不自适应、单 VC 不换道 ⇒ 同一对的 flit 天然按序到达。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5989320" y="5943600"/>
            <a:ext cx="5790895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50"/>
              </a:spcAft>
            </a:pPr>
            <a:r>
              <a:rPr sz="960" b="1">
                <a:solidFill>
                  <a:srgbClr val="C7000B"/>
                </a:solidFill>
                <a:latin typeface="Microsoft YaHei"/>
              </a:rPr>
              <a:t>端到端收益（44 场景，物理 1 VC，area 0.897，与 M3 同硬件）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Microsoft YaHei"/>
              </a:rPr>
              <a:t>最差 T_e2e：M3 893 ns → M3′ 790 ns（−11.5%）；中位 621 → 574 ns。轻载 m0=1 时 M3′ 是 1 VC 方案里的 Pareto 前沿点。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91440"/>
            <a:ext cx="11521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M3′ Up*/Down*：容错能力的严格证明 · 与 XY 基线的负载热点对比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502920"/>
            <a:ext cx="11521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C3CBD4"/>
                </a:solidFill>
                <a:latin typeface="Microsoft YaHei"/>
              </a:rPr>
              <a:t>定理 1：残图连通 ⇒ 零牺牲（容错达理论上界）· 定理 2：转向集已极大 · 代价：峰值链路负载 1.41× 割界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914400"/>
            <a:ext cx="6272784" cy="3328416"/>
          </a:xfrm>
          <a:prstGeom prst="roundRect">
            <a:avLst>
              <a:gd name="adj" fmla="val 1098"/>
            </a:avLst>
          </a:prstGeom>
          <a:solidFill>
            <a:srgbClr val="F7F8FA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914400"/>
            <a:ext cx="6272784" cy="310896"/>
          </a:xfrm>
          <a:prstGeom prst="roundRect">
            <a:avLst>
              <a:gd name="adj" fmla="val 11764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50292" cy="310896"/>
          </a:xfrm>
          <a:prstGeom prst="rect">
            <a:avLst/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3" y="941832"/>
            <a:ext cx="59984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>
                <a:solidFill>
                  <a:srgbClr val="1F2933"/>
                </a:solidFill>
                <a:latin typeface="Microsoft YaHei"/>
              </a:rPr>
              <a:t>① 定理 1 与证明：残图连通 ⇒ 表一定建得出，且单 VC 无死锁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1298448"/>
            <a:ext cx="598017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50" b="1">
                <a:solidFill>
                  <a:srgbClr val="1E7F4F"/>
                </a:solidFill>
                <a:latin typeface="Microsoft YaHei"/>
              </a:rPr>
              <a:t>定理 1（容错达理论上界）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830" b="0">
                <a:solidFill>
                  <a:srgbClr val="5A6673"/>
                </a:solidFill>
                <a:latin typeface="Microsoft YaHei"/>
              </a:rPr>
              <a:t>残图 G′ = 删去死 router 及其链路、断链之后的存活图。若 G′ 连通，则对任意根 r 都能建出覆盖全部 (s,d) 的合法表、牺牲 0；若 G′ 不连通，任何路由都无法跨分量通信。故 M3′ 可容忍的故障集合 = {F : G′ 连通}，即理论最大集合。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50" b="1">
                <a:solidFill>
                  <a:srgbClr val="1E7F4F"/>
                </a:solidFill>
                <a:latin typeface="Microsoft YaHei"/>
              </a:rPr>
              <a:t>证明</a:t>
            </a:r>
          </a:p>
          <a:p>
            <a:pPr algn="l">
              <a:lnSpc>
                <a:spcPct val="118000"/>
              </a:lnSpc>
              <a:spcAft>
                <a:spcPts val="160"/>
              </a:spcAft>
            </a:pPr>
            <a:r>
              <a:rPr sz="830" b="0">
                <a:solidFill>
                  <a:srgbClr val="5A6673"/>
                </a:solidFill>
                <a:latin typeface="Microsoft YaHei"/>
              </a:rPr>
              <a:t>① 标号：G′ 连通 ⇒ BFS 得有限 ℓ(v)=dist(r,v)，每个 v≠r 都有父节点 u 使 ℓ(u)=ℓ(v)−1。</a:t>
            </a:r>
          </a:p>
          <a:p>
            <a:pPr algn="l">
              <a:lnSpc>
                <a:spcPct val="118000"/>
              </a:lnSpc>
              <a:spcAft>
                <a:spcPts val="160"/>
              </a:spcAft>
            </a:pPr>
            <a:r>
              <a:rPr sz="830" b="0">
                <a:solidFill>
                  <a:srgbClr val="5A6673"/>
                </a:solidFill>
                <a:latin typeface="Microsoft YaHei"/>
              </a:rPr>
              <a:t>② 可达：s 沿父链升到 r（全 up），再沿 d 的父链降到 d（全 down），拼成 up*·down* ⇒ 合法。故每对至少一条合法路径（≤ ℓ(s)+ℓ(d) 跳），表必然建成。</a:t>
            </a:r>
          </a:p>
          <a:p>
            <a:pPr algn="l">
              <a:lnSpc>
                <a:spcPct val="118000"/>
              </a:lnSpc>
              <a:spcAft>
                <a:spcPts val="160"/>
              </a:spcAft>
            </a:pPr>
            <a:r>
              <a:rPr sz="830" b="0">
                <a:solidFill>
                  <a:srgbClr val="5A6673"/>
                </a:solidFill>
                <a:latin typeface="Microsoft YaHei"/>
              </a:rPr>
              <a:t>③ 无死锁：定通道势能 Φ(u→v) = (0, −ℓ(v)) 若 up、(1, +ℓ(v)) 若 down（字典序）。合法衔接只有 up→up / up→down / down→down，三者都严格增大 Φ ⇒ CDG 每条边升势 ⇒ 有限集内无环 ⇒ Dally–Seitz 成立，单 VC 即安全。（mesh 按 x+y 二分，无同层边；一般图改用 (ℓ, id) 字典序。）</a:t>
            </a:r>
          </a:p>
          <a:p>
            <a:pPr algn="l">
              <a:lnSpc>
                <a:spcPct val="118000"/>
              </a:lnSpc>
              <a:spcAft>
                <a:spcPts val="160"/>
              </a:spcAft>
            </a:pPr>
            <a:r>
              <a:rPr sz="830" b="0">
                <a:solidFill>
                  <a:srgbClr val="5A6673"/>
                </a:solidFill>
                <a:latin typeface="Microsoft YaHei"/>
              </a:rPr>
              <a:t>④ 保序：每对唯一静态路径 + 单 VC + 每跳 FIFO ⇒ flit 天然按序。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830" b="0">
                <a:solidFill>
                  <a:srgbClr val="5A6673"/>
                </a:solidFill>
                <a:latin typeface="Microsoft YaHei"/>
              </a:rPr>
              <a:t>⑤ 与根无关：①–④ 对任意 r∈V′ 成立 ⇒ 48 个候选根全部合法；best-root 只在合法解里挑峰值最小者，搜索绝不返回空。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30" b="1">
                <a:solidFill>
                  <a:srgbClr val="C87209"/>
                </a:solidFill>
                <a:latin typeface="Microsoft YaHei"/>
              </a:rPr>
              <a:t>实测校核（44 场景 ≤4R/≤8L）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30" b="0">
                <a:solidFill>
                  <a:srgbClr val="C87209"/>
                </a:solidFill>
                <a:latin typeface="Microsoft YaHei"/>
              </a:rPr>
              <a:t>41 个场景残图连通 → 全部零牺牲、CDG 成环 0 例、反例 0 个；3 个场景残图本身断开（孤立 1/2/1 个好节点）⇒ 牺牲是信息论下界。同目录下 XY 零牺牲 0/44。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93408" y="914400"/>
            <a:ext cx="5223967" cy="3328416"/>
          </a:xfrm>
          <a:prstGeom prst="roundRect">
            <a:avLst>
              <a:gd name="adj" fmla="val 1098"/>
            </a:avLst>
          </a:prstGeom>
          <a:solidFill>
            <a:srgbClr val="F7F8FA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93408" y="914400"/>
            <a:ext cx="5223967" cy="310896"/>
          </a:xfrm>
          <a:prstGeom prst="roundRect">
            <a:avLst>
              <a:gd name="adj" fmla="val 11764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93408" y="914400"/>
            <a:ext cx="50292" cy="3108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712" y="941832"/>
            <a:ext cx="494964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>
                <a:solidFill>
                  <a:srgbClr val="1F2933"/>
                </a:solidFill>
                <a:latin typeface="Microsoft YaHei"/>
              </a:rPr>
              <a:t>② 无故障 all-to-all 链路负载热点（同 1 VC）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1472184"/>
            <a:ext cx="2359152" cy="1874519"/>
          </a:xfrm>
          <a:prstGeom prst="rect">
            <a:avLst/>
          </a:prstGeom>
          <a:solidFill>
            <a:srgbClr val="FDFDFE"/>
          </a:solidFill>
          <a:ln w="6350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84848" y="1280160"/>
            <a:ext cx="23591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60" b="1">
                <a:solidFill>
                  <a:srgbClr val="0B6BA8"/>
                </a:solidFill>
                <a:latin typeface="Microsoft YaHei"/>
              </a:rPr>
              <a:t>XY 基线（不容错）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69600" y="1502228"/>
            <a:ext cx="0" cy="296092"/>
          </a:xfrm>
          <a:prstGeom prst="line">
            <a:avLst/>
          </a:prstGeom>
          <a:ln w="20461">
            <a:solidFill>
              <a:srgbClr val="AEC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253836" y="1502228"/>
            <a:ext cx="0" cy="296092"/>
          </a:xfrm>
          <a:prstGeom prst="line">
            <a:avLst/>
          </a:prstGeom>
          <a:ln w="20461">
            <a:solidFill>
              <a:srgbClr val="AEC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38071" y="1502228"/>
            <a:ext cx="0" cy="296092"/>
          </a:xfrm>
          <a:prstGeom prst="line">
            <a:avLst/>
          </a:prstGeom>
          <a:ln w="20461">
            <a:solidFill>
              <a:srgbClr val="AEC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22306" y="1502228"/>
            <a:ext cx="0" cy="296092"/>
          </a:xfrm>
          <a:prstGeom prst="line">
            <a:avLst/>
          </a:prstGeom>
          <a:ln w="20461">
            <a:solidFill>
              <a:srgbClr val="AEC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106541" y="1502228"/>
            <a:ext cx="0" cy="296092"/>
          </a:xfrm>
          <a:prstGeom prst="line">
            <a:avLst/>
          </a:prstGeom>
          <a:ln w="20461">
            <a:solidFill>
              <a:srgbClr val="AEC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390776" y="1502228"/>
            <a:ext cx="0" cy="296092"/>
          </a:xfrm>
          <a:prstGeom prst="line">
            <a:avLst/>
          </a:prstGeom>
          <a:ln w="20461">
            <a:solidFill>
              <a:srgbClr val="AEC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75011" y="1502228"/>
            <a:ext cx="0" cy="296092"/>
          </a:xfrm>
          <a:prstGeom prst="line">
            <a:avLst/>
          </a:prstGeom>
          <a:ln w="20461">
            <a:solidFill>
              <a:srgbClr val="AEC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959247" y="1502228"/>
            <a:ext cx="0" cy="296092"/>
          </a:xfrm>
          <a:prstGeom prst="line">
            <a:avLst/>
          </a:prstGeom>
          <a:ln w="20461">
            <a:solidFill>
              <a:srgbClr val="AEC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969600" y="2686594"/>
            <a:ext cx="0" cy="296091"/>
          </a:xfrm>
          <a:prstGeom prst="line">
            <a:avLst/>
          </a:prstGeom>
          <a:ln w="20461">
            <a:solidFill>
              <a:srgbClr val="AEC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253836" y="2686594"/>
            <a:ext cx="0" cy="296091"/>
          </a:xfrm>
          <a:prstGeom prst="line">
            <a:avLst/>
          </a:prstGeom>
          <a:ln w="20461">
            <a:solidFill>
              <a:srgbClr val="AEC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538071" y="2686594"/>
            <a:ext cx="0" cy="296091"/>
          </a:xfrm>
          <a:prstGeom prst="line">
            <a:avLst/>
          </a:prstGeom>
          <a:ln w="20461">
            <a:solidFill>
              <a:srgbClr val="AEC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22306" y="2686594"/>
            <a:ext cx="0" cy="296091"/>
          </a:xfrm>
          <a:prstGeom prst="line">
            <a:avLst/>
          </a:prstGeom>
          <a:ln w="20461">
            <a:solidFill>
              <a:srgbClr val="AEC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106541" y="2686594"/>
            <a:ext cx="0" cy="296091"/>
          </a:xfrm>
          <a:prstGeom prst="line">
            <a:avLst/>
          </a:prstGeom>
          <a:ln w="20461">
            <a:solidFill>
              <a:srgbClr val="AEC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390776" y="2686594"/>
            <a:ext cx="0" cy="296091"/>
          </a:xfrm>
          <a:prstGeom prst="line">
            <a:avLst/>
          </a:prstGeom>
          <a:ln w="20461">
            <a:solidFill>
              <a:srgbClr val="AEC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675011" y="2686594"/>
            <a:ext cx="0" cy="296091"/>
          </a:xfrm>
          <a:prstGeom prst="line">
            <a:avLst/>
          </a:prstGeom>
          <a:ln w="20461">
            <a:solidFill>
              <a:srgbClr val="AEC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959247" y="2686594"/>
            <a:ext cx="0" cy="296091"/>
          </a:xfrm>
          <a:prstGeom prst="line">
            <a:avLst/>
          </a:prstGeom>
          <a:ln w="20461">
            <a:solidFill>
              <a:srgbClr val="AEC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69600" y="1502228"/>
            <a:ext cx="284236" cy="0"/>
          </a:xfrm>
          <a:prstGeom prst="line">
            <a:avLst/>
          </a:prstGeom>
          <a:ln w="20912">
            <a:solidFill>
              <a:srgbClr val="B2CA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675011" y="1502228"/>
            <a:ext cx="284236" cy="0"/>
          </a:xfrm>
          <a:prstGeom prst="line">
            <a:avLst/>
          </a:prstGeom>
          <a:ln w="20912">
            <a:solidFill>
              <a:srgbClr val="B2CA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969600" y="1798320"/>
            <a:ext cx="284236" cy="0"/>
          </a:xfrm>
          <a:prstGeom prst="line">
            <a:avLst/>
          </a:prstGeom>
          <a:ln w="20912">
            <a:solidFill>
              <a:srgbClr val="B2CA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675011" y="1798320"/>
            <a:ext cx="284236" cy="0"/>
          </a:xfrm>
          <a:prstGeom prst="line">
            <a:avLst/>
          </a:prstGeom>
          <a:ln w="20912">
            <a:solidFill>
              <a:srgbClr val="B2CA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969600" y="2094411"/>
            <a:ext cx="284236" cy="0"/>
          </a:xfrm>
          <a:prstGeom prst="line">
            <a:avLst/>
          </a:prstGeom>
          <a:ln w="20912">
            <a:solidFill>
              <a:srgbClr val="B2CA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675011" y="2094411"/>
            <a:ext cx="284236" cy="0"/>
          </a:xfrm>
          <a:prstGeom prst="line">
            <a:avLst/>
          </a:prstGeom>
          <a:ln w="20912">
            <a:solidFill>
              <a:srgbClr val="B2CA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969600" y="2390502"/>
            <a:ext cx="284236" cy="0"/>
          </a:xfrm>
          <a:prstGeom prst="line">
            <a:avLst/>
          </a:prstGeom>
          <a:ln w="20912">
            <a:solidFill>
              <a:srgbClr val="B2CA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675011" y="2390502"/>
            <a:ext cx="284236" cy="0"/>
          </a:xfrm>
          <a:prstGeom prst="line">
            <a:avLst/>
          </a:prstGeom>
          <a:ln w="20912">
            <a:solidFill>
              <a:srgbClr val="B2CA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969600" y="2686594"/>
            <a:ext cx="284236" cy="0"/>
          </a:xfrm>
          <a:prstGeom prst="line">
            <a:avLst/>
          </a:prstGeom>
          <a:ln w="20912">
            <a:solidFill>
              <a:srgbClr val="B2CA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675011" y="2686594"/>
            <a:ext cx="284236" cy="0"/>
          </a:xfrm>
          <a:prstGeom prst="line">
            <a:avLst/>
          </a:prstGeom>
          <a:ln w="20912">
            <a:solidFill>
              <a:srgbClr val="B2CA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969600" y="2982685"/>
            <a:ext cx="284236" cy="0"/>
          </a:xfrm>
          <a:prstGeom prst="line">
            <a:avLst/>
          </a:prstGeom>
          <a:ln w="20912">
            <a:solidFill>
              <a:srgbClr val="B2CA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675011" y="2982685"/>
            <a:ext cx="284236" cy="0"/>
          </a:xfrm>
          <a:prstGeom prst="line">
            <a:avLst/>
          </a:prstGeom>
          <a:ln w="20912">
            <a:solidFill>
              <a:srgbClr val="B2CA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969600" y="1798320"/>
            <a:ext cx="0" cy="296091"/>
          </a:xfrm>
          <a:prstGeom prst="line">
            <a:avLst/>
          </a:prstGeom>
          <a:ln w="25879">
            <a:solidFill>
              <a:srgbClr val="E4C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53836" y="1798320"/>
            <a:ext cx="0" cy="296091"/>
          </a:xfrm>
          <a:prstGeom prst="line">
            <a:avLst/>
          </a:prstGeom>
          <a:ln w="25879">
            <a:solidFill>
              <a:srgbClr val="E4C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538071" y="1798320"/>
            <a:ext cx="0" cy="296091"/>
          </a:xfrm>
          <a:prstGeom prst="line">
            <a:avLst/>
          </a:prstGeom>
          <a:ln w="25879">
            <a:solidFill>
              <a:srgbClr val="E4C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822306" y="1798320"/>
            <a:ext cx="0" cy="296091"/>
          </a:xfrm>
          <a:prstGeom prst="line">
            <a:avLst/>
          </a:prstGeom>
          <a:ln w="25879">
            <a:solidFill>
              <a:srgbClr val="E4C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106541" y="1798320"/>
            <a:ext cx="0" cy="296091"/>
          </a:xfrm>
          <a:prstGeom prst="line">
            <a:avLst/>
          </a:prstGeom>
          <a:ln w="25879">
            <a:solidFill>
              <a:srgbClr val="E4C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390776" y="1798320"/>
            <a:ext cx="0" cy="296091"/>
          </a:xfrm>
          <a:prstGeom prst="line">
            <a:avLst/>
          </a:prstGeom>
          <a:ln w="25879">
            <a:solidFill>
              <a:srgbClr val="E4C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675011" y="1798320"/>
            <a:ext cx="0" cy="296091"/>
          </a:xfrm>
          <a:prstGeom prst="line">
            <a:avLst/>
          </a:prstGeom>
          <a:ln w="25879">
            <a:solidFill>
              <a:srgbClr val="E4C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959247" y="1798320"/>
            <a:ext cx="0" cy="296091"/>
          </a:xfrm>
          <a:prstGeom prst="line">
            <a:avLst/>
          </a:prstGeom>
          <a:ln w="25879">
            <a:solidFill>
              <a:srgbClr val="E4C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969600" y="2390502"/>
            <a:ext cx="0" cy="296092"/>
          </a:xfrm>
          <a:prstGeom prst="line">
            <a:avLst/>
          </a:prstGeom>
          <a:ln w="25879">
            <a:solidFill>
              <a:srgbClr val="E4C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253836" y="2390502"/>
            <a:ext cx="0" cy="296092"/>
          </a:xfrm>
          <a:prstGeom prst="line">
            <a:avLst/>
          </a:prstGeom>
          <a:ln w="25879">
            <a:solidFill>
              <a:srgbClr val="E4C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538071" y="2390502"/>
            <a:ext cx="0" cy="296092"/>
          </a:xfrm>
          <a:prstGeom prst="line">
            <a:avLst/>
          </a:prstGeom>
          <a:ln w="25879">
            <a:solidFill>
              <a:srgbClr val="E4C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822306" y="2390502"/>
            <a:ext cx="0" cy="296092"/>
          </a:xfrm>
          <a:prstGeom prst="line">
            <a:avLst/>
          </a:prstGeom>
          <a:ln w="25879">
            <a:solidFill>
              <a:srgbClr val="E4C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106541" y="2390502"/>
            <a:ext cx="0" cy="296092"/>
          </a:xfrm>
          <a:prstGeom prst="line">
            <a:avLst/>
          </a:prstGeom>
          <a:ln w="25879">
            <a:solidFill>
              <a:srgbClr val="E4C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390776" y="2390502"/>
            <a:ext cx="0" cy="296092"/>
          </a:xfrm>
          <a:prstGeom prst="line">
            <a:avLst/>
          </a:prstGeom>
          <a:ln w="25879">
            <a:solidFill>
              <a:srgbClr val="E4C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675011" y="2390502"/>
            <a:ext cx="0" cy="296092"/>
          </a:xfrm>
          <a:prstGeom prst="line">
            <a:avLst/>
          </a:prstGeom>
          <a:ln w="25879">
            <a:solidFill>
              <a:srgbClr val="E4C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959247" y="2390502"/>
            <a:ext cx="0" cy="296092"/>
          </a:xfrm>
          <a:prstGeom prst="line">
            <a:avLst/>
          </a:prstGeom>
          <a:ln w="25879">
            <a:solidFill>
              <a:srgbClr val="E4C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253836" y="1502228"/>
            <a:ext cx="284235" cy="0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390776" y="1502228"/>
            <a:ext cx="284235" cy="0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253836" y="1798320"/>
            <a:ext cx="284235" cy="0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390776" y="1798320"/>
            <a:ext cx="284235" cy="0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969600" y="2094411"/>
            <a:ext cx="0" cy="296091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253836" y="2094411"/>
            <a:ext cx="284235" cy="0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253836" y="2094411"/>
            <a:ext cx="0" cy="296091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538071" y="2094411"/>
            <a:ext cx="0" cy="296091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7822306" y="2094411"/>
            <a:ext cx="0" cy="296091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106541" y="2094411"/>
            <a:ext cx="0" cy="296091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390776" y="2094411"/>
            <a:ext cx="284235" cy="0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390776" y="2094411"/>
            <a:ext cx="0" cy="296091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675011" y="2094411"/>
            <a:ext cx="0" cy="296091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959247" y="2094411"/>
            <a:ext cx="0" cy="296091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253836" y="2390502"/>
            <a:ext cx="284235" cy="0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390776" y="2390502"/>
            <a:ext cx="284235" cy="0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253836" y="2686594"/>
            <a:ext cx="284235" cy="0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390776" y="2686594"/>
            <a:ext cx="284235" cy="0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253836" y="2982685"/>
            <a:ext cx="284235" cy="0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390776" y="2982685"/>
            <a:ext cx="284235" cy="0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538071" y="1502228"/>
            <a:ext cx="284235" cy="0"/>
          </a:xfrm>
          <a:prstGeom prst="line">
            <a:avLst/>
          </a:prstGeom>
          <a:ln w="31750">
            <a:solidFill>
              <a:srgbClr val="EAA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106541" y="1502228"/>
            <a:ext cx="284235" cy="0"/>
          </a:xfrm>
          <a:prstGeom prst="line">
            <a:avLst/>
          </a:prstGeom>
          <a:ln w="31750">
            <a:solidFill>
              <a:srgbClr val="EAA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538071" y="1798320"/>
            <a:ext cx="284235" cy="0"/>
          </a:xfrm>
          <a:prstGeom prst="line">
            <a:avLst/>
          </a:prstGeom>
          <a:ln w="31750">
            <a:solidFill>
              <a:srgbClr val="EAA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06541" y="1798320"/>
            <a:ext cx="284235" cy="0"/>
          </a:xfrm>
          <a:prstGeom prst="line">
            <a:avLst/>
          </a:prstGeom>
          <a:ln w="31750">
            <a:solidFill>
              <a:srgbClr val="EAA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7538071" y="2094411"/>
            <a:ext cx="284235" cy="0"/>
          </a:xfrm>
          <a:prstGeom prst="line">
            <a:avLst/>
          </a:prstGeom>
          <a:ln w="31750">
            <a:solidFill>
              <a:srgbClr val="EAA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06541" y="2094411"/>
            <a:ext cx="284235" cy="0"/>
          </a:xfrm>
          <a:prstGeom prst="line">
            <a:avLst/>
          </a:prstGeom>
          <a:ln w="31750">
            <a:solidFill>
              <a:srgbClr val="EAA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7538071" y="2390502"/>
            <a:ext cx="284235" cy="0"/>
          </a:xfrm>
          <a:prstGeom prst="line">
            <a:avLst/>
          </a:prstGeom>
          <a:ln w="31750">
            <a:solidFill>
              <a:srgbClr val="EAA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106541" y="2390502"/>
            <a:ext cx="284235" cy="0"/>
          </a:xfrm>
          <a:prstGeom prst="line">
            <a:avLst/>
          </a:prstGeom>
          <a:ln w="31750">
            <a:solidFill>
              <a:srgbClr val="EAA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538071" y="2686594"/>
            <a:ext cx="284235" cy="0"/>
          </a:xfrm>
          <a:prstGeom prst="line">
            <a:avLst/>
          </a:prstGeom>
          <a:ln w="31750">
            <a:solidFill>
              <a:srgbClr val="EAA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106541" y="2686594"/>
            <a:ext cx="284235" cy="0"/>
          </a:xfrm>
          <a:prstGeom prst="line">
            <a:avLst/>
          </a:prstGeom>
          <a:ln w="31750">
            <a:solidFill>
              <a:srgbClr val="EAA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7538071" y="2982685"/>
            <a:ext cx="284235" cy="0"/>
          </a:xfrm>
          <a:prstGeom prst="line">
            <a:avLst/>
          </a:prstGeom>
          <a:ln w="31750">
            <a:solidFill>
              <a:srgbClr val="EAA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106541" y="2982685"/>
            <a:ext cx="284235" cy="0"/>
          </a:xfrm>
          <a:prstGeom prst="line">
            <a:avLst/>
          </a:prstGeom>
          <a:ln w="31750">
            <a:solidFill>
              <a:srgbClr val="EAA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822306" y="1502228"/>
            <a:ext cx="284235" cy="0"/>
          </a:xfrm>
          <a:prstGeom prst="line">
            <a:avLst/>
          </a:prstGeom>
          <a:ln w="33104">
            <a:solidFill>
              <a:srgbClr val="E89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822306" y="1798320"/>
            <a:ext cx="284235" cy="0"/>
          </a:xfrm>
          <a:prstGeom prst="line">
            <a:avLst/>
          </a:prstGeom>
          <a:ln w="33104">
            <a:solidFill>
              <a:srgbClr val="E89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822306" y="2094411"/>
            <a:ext cx="284235" cy="0"/>
          </a:xfrm>
          <a:prstGeom prst="line">
            <a:avLst/>
          </a:prstGeom>
          <a:ln w="33104">
            <a:solidFill>
              <a:srgbClr val="E89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7822306" y="2390502"/>
            <a:ext cx="284235" cy="0"/>
          </a:xfrm>
          <a:prstGeom prst="line">
            <a:avLst/>
          </a:prstGeom>
          <a:ln w="33104">
            <a:solidFill>
              <a:srgbClr val="E89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822306" y="2686594"/>
            <a:ext cx="284235" cy="0"/>
          </a:xfrm>
          <a:prstGeom prst="line">
            <a:avLst/>
          </a:prstGeom>
          <a:ln w="33104">
            <a:solidFill>
              <a:srgbClr val="E89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822306" y="2982685"/>
            <a:ext cx="284235" cy="0"/>
          </a:xfrm>
          <a:prstGeom prst="line">
            <a:avLst/>
          </a:prstGeom>
          <a:ln w="33104">
            <a:solidFill>
              <a:srgbClr val="E89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6926965" y="1459593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211200" y="1459593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495435" y="1459593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779671" y="1459593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063906" y="1459593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348141" y="1459593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632376" y="1459593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916611" y="1459593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926965" y="1755684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211200" y="1755684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95435" y="1755684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779671" y="1755684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063906" y="1755684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8348141" y="1755684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632376" y="1755684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916611" y="1755684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6926965" y="2051776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7211200" y="2051776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495435" y="2051776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779671" y="2051776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063906" y="2051776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348141" y="2051776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632376" y="2051776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916611" y="2051776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6926965" y="2347867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7211200" y="2347867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7495435" y="2347867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7779671" y="2347867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063906" y="2347867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348141" y="2347867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8632376" y="2347867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8916611" y="2347867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6926965" y="2643959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211200" y="2643959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7495435" y="2643959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7779671" y="2643959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8063906" y="2643959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8348141" y="2643959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8632376" y="2643959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8916611" y="2643959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926965" y="2940050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7211200" y="2940050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7495435" y="2940050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7779671" y="2940050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8063906" y="2940050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8348141" y="2940050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8632376" y="2940050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8916611" y="2940050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784848" y="3346704"/>
            <a:ext cx="23591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峰值 96 = 割界，均匀铺满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418320" y="1472184"/>
            <a:ext cx="2359152" cy="1874519"/>
          </a:xfrm>
          <a:prstGeom prst="rect">
            <a:avLst/>
          </a:prstGeom>
          <a:solidFill>
            <a:srgbClr val="FDFDFE"/>
          </a:solidFill>
          <a:ln w="6350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418320" y="1280160"/>
            <a:ext cx="23591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60" b="1">
                <a:solidFill>
                  <a:srgbClr val="C7000B"/>
                </a:solidFill>
                <a:latin typeface="Microsoft YaHei"/>
              </a:rPr>
              <a:t>M3′ best-root（★=根）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11592719" y="1502228"/>
            <a:ext cx="0" cy="296092"/>
          </a:xfrm>
          <a:prstGeom prst="line">
            <a:avLst/>
          </a:prstGeom>
          <a:ln w="12558">
            <a:solidFill>
              <a:srgbClr val="E1E9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1592719" y="2686594"/>
            <a:ext cx="0" cy="296091"/>
          </a:xfrm>
          <a:prstGeom prst="line">
            <a:avLst/>
          </a:prstGeom>
          <a:ln w="12558">
            <a:solidFill>
              <a:srgbClr val="E1E9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1592719" y="1798320"/>
            <a:ext cx="0" cy="296091"/>
          </a:xfrm>
          <a:prstGeom prst="line">
            <a:avLst/>
          </a:prstGeom>
          <a:ln w="13236">
            <a:solidFill>
              <a:srgbClr val="DB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1592719" y="2390502"/>
            <a:ext cx="0" cy="296092"/>
          </a:xfrm>
          <a:prstGeom prst="line">
            <a:avLst/>
          </a:prstGeom>
          <a:ln w="13236">
            <a:solidFill>
              <a:srgbClr val="DB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1592719" y="2094411"/>
            <a:ext cx="0" cy="296091"/>
          </a:xfrm>
          <a:prstGeom prst="line">
            <a:avLst/>
          </a:prstGeom>
          <a:ln w="13462">
            <a:solidFill>
              <a:srgbClr val="DA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11308483" y="1502228"/>
            <a:ext cx="0" cy="296092"/>
          </a:xfrm>
          <a:prstGeom prst="line">
            <a:avLst/>
          </a:prstGeom>
          <a:ln w="14816">
            <a:solidFill>
              <a:srgbClr val="D0D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1308483" y="2686594"/>
            <a:ext cx="0" cy="296091"/>
          </a:xfrm>
          <a:prstGeom prst="line">
            <a:avLst/>
          </a:prstGeom>
          <a:ln w="14816">
            <a:solidFill>
              <a:srgbClr val="D0D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11308483" y="1798320"/>
            <a:ext cx="0" cy="296091"/>
          </a:xfrm>
          <a:prstGeom prst="line">
            <a:avLst/>
          </a:prstGeom>
          <a:ln w="16848">
            <a:solidFill>
              <a:srgbClr val="C0D7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11308483" y="2390502"/>
            <a:ext cx="0" cy="296092"/>
          </a:xfrm>
          <a:prstGeom prst="line">
            <a:avLst/>
          </a:prstGeom>
          <a:ln w="16848">
            <a:solidFill>
              <a:srgbClr val="C0D7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1024248" y="1502228"/>
            <a:ext cx="0" cy="296092"/>
          </a:xfrm>
          <a:prstGeom prst="line">
            <a:avLst/>
          </a:prstGeom>
          <a:ln w="17074">
            <a:solidFill>
              <a:srgbClr val="BF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1024248" y="2686594"/>
            <a:ext cx="0" cy="296091"/>
          </a:xfrm>
          <a:prstGeom prst="line">
            <a:avLst/>
          </a:prstGeom>
          <a:ln w="17074">
            <a:solidFill>
              <a:srgbClr val="BF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1308483" y="2094411"/>
            <a:ext cx="0" cy="296091"/>
          </a:xfrm>
          <a:prstGeom prst="line">
            <a:avLst/>
          </a:prstGeom>
          <a:ln w="17526">
            <a:solidFill>
              <a:srgbClr val="BB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740013" y="1502228"/>
            <a:ext cx="0" cy="296092"/>
          </a:xfrm>
          <a:prstGeom prst="line">
            <a:avLst/>
          </a:prstGeom>
          <a:ln w="19332">
            <a:solidFill>
              <a:srgbClr val="AEC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740013" y="2686594"/>
            <a:ext cx="0" cy="296091"/>
          </a:xfrm>
          <a:prstGeom prst="line">
            <a:avLst/>
          </a:prstGeom>
          <a:ln w="19332">
            <a:solidFill>
              <a:srgbClr val="AEC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1024248" y="1798320"/>
            <a:ext cx="0" cy="296091"/>
          </a:xfrm>
          <a:prstGeom prst="line">
            <a:avLst/>
          </a:prstGeom>
          <a:ln w="20461">
            <a:solidFill>
              <a:srgbClr val="AEC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1024248" y="2390502"/>
            <a:ext cx="0" cy="296092"/>
          </a:xfrm>
          <a:prstGeom prst="line">
            <a:avLst/>
          </a:prstGeom>
          <a:ln w="20461">
            <a:solidFill>
              <a:srgbClr val="AEC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9603072" y="1502228"/>
            <a:ext cx="284236" cy="0"/>
          </a:xfrm>
          <a:prstGeom prst="line">
            <a:avLst/>
          </a:prstGeom>
          <a:ln w="20912">
            <a:solidFill>
              <a:srgbClr val="B2CA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1308483" y="1502228"/>
            <a:ext cx="284236" cy="0"/>
          </a:xfrm>
          <a:prstGeom prst="line">
            <a:avLst/>
          </a:prstGeom>
          <a:ln w="20912">
            <a:solidFill>
              <a:srgbClr val="B2CA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9603072" y="1798320"/>
            <a:ext cx="284236" cy="0"/>
          </a:xfrm>
          <a:prstGeom prst="line">
            <a:avLst/>
          </a:prstGeom>
          <a:ln w="20912">
            <a:solidFill>
              <a:srgbClr val="B2CA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1308483" y="1798320"/>
            <a:ext cx="284236" cy="0"/>
          </a:xfrm>
          <a:prstGeom prst="line">
            <a:avLst/>
          </a:prstGeom>
          <a:ln w="20912">
            <a:solidFill>
              <a:srgbClr val="B2CA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9603072" y="2094411"/>
            <a:ext cx="284236" cy="0"/>
          </a:xfrm>
          <a:prstGeom prst="line">
            <a:avLst/>
          </a:prstGeom>
          <a:ln w="20912">
            <a:solidFill>
              <a:srgbClr val="B2CA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1308483" y="2094411"/>
            <a:ext cx="284236" cy="0"/>
          </a:xfrm>
          <a:prstGeom prst="line">
            <a:avLst/>
          </a:prstGeom>
          <a:ln w="20912">
            <a:solidFill>
              <a:srgbClr val="B2CA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9603072" y="2390502"/>
            <a:ext cx="284236" cy="0"/>
          </a:xfrm>
          <a:prstGeom prst="line">
            <a:avLst/>
          </a:prstGeom>
          <a:ln w="20912">
            <a:solidFill>
              <a:srgbClr val="B2CA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1308483" y="2390502"/>
            <a:ext cx="284236" cy="0"/>
          </a:xfrm>
          <a:prstGeom prst="line">
            <a:avLst/>
          </a:prstGeom>
          <a:ln w="20912">
            <a:solidFill>
              <a:srgbClr val="B2CA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9603072" y="2686594"/>
            <a:ext cx="284236" cy="0"/>
          </a:xfrm>
          <a:prstGeom prst="line">
            <a:avLst/>
          </a:prstGeom>
          <a:ln w="20912">
            <a:solidFill>
              <a:srgbClr val="B2CA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1308483" y="2686594"/>
            <a:ext cx="284236" cy="0"/>
          </a:xfrm>
          <a:prstGeom prst="line">
            <a:avLst/>
          </a:prstGeom>
          <a:ln w="20912">
            <a:solidFill>
              <a:srgbClr val="B2CA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9603072" y="2982685"/>
            <a:ext cx="284236" cy="0"/>
          </a:xfrm>
          <a:prstGeom prst="line">
            <a:avLst/>
          </a:prstGeom>
          <a:ln w="20912">
            <a:solidFill>
              <a:srgbClr val="B2CA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1308483" y="2982685"/>
            <a:ext cx="284236" cy="0"/>
          </a:xfrm>
          <a:prstGeom prst="line">
            <a:avLst/>
          </a:prstGeom>
          <a:ln w="20912">
            <a:solidFill>
              <a:srgbClr val="B2CA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0455778" y="1502228"/>
            <a:ext cx="0" cy="296092"/>
          </a:xfrm>
          <a:prstGeom prst="line">
            <a:avLst/>
          </a:prstGeom>
          <a:ln w="21590">
            <a:solidFill>
              <a:srgbClr val="B9CA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1024248" y="2094411"/>
            <a:ext cx="0" cy="296091"/>
          </a:xfrm>
          <a:prstGeom prst="line">
            <a:avLst/>
          </a:prstGeom>
          <a:ln w="21590">
            <a:solidFill>
              <a:srgbClr val="B9CA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10455778" y="2686594"/>
            <a:ext cx="0" cy="296091"/>
          </a:xfrm>
          <a:prstGeom prst="line">
            <a:avLst/>
          </a:prstGeom>
          <a:ln w="21590">
            <a:solidFill>
              <a:srgbClr val="B9CA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10171543" y="1502228"/>
            <a:ext cx="0" cy="296092"/>
          </a:xfrm>
          <a:prstGeom prst="line">
            <a:avLst/>
          </a:prstGeom>
          <a:ln w="23847">
            <a:solidFill>
              <a:srgbClr val="D0CC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10171543" y="2686594"/>
            <a:ext cx="0" cy="296091"/>
          </a:xfrm>
          <a:prstGeom prst="line">
            <a:avLst/>
          </a:prstGeom>
          <a:ln w="23847">
            <a:solidFill>
              <a:srgbClr val="D0CC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10740013" y="1798320"/>
            <a:ext cx="0" cy="296091"/>
          </a:xfrm>
          <a:prstGeom prst="line">
            <a:avLst/>
          </a:prstGeom>
          <a:ln w="24073">
            <a:solidFill>
              <a:srgbClr val="D2C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10740013" y="2390502"/>
            <a:ext cx="0" cy="296092"/>
          </a:xfrm>
          <a:prstGeom prst="line">
            <a:avLst/>
          </a:prstGeom>
          <a:ln w="24073">
            <a:solidFill>
              <a:srgbClr val="D2C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10740013" y="2094411"/>
            <a:ext cx="0" cy="296091"/>
          </a:xfrm>
          <a:prstGeom prst="line">
            <a:avLst/>
          </a:prstGeom>
          <a:ln w="25654">
            <a:solidFill>
              <a:srgbClr val="E2C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9887308" y="1502228"/>
            <a:ext cx="0" cy="296092"/>
          </a:xfrm>
          <a:prstGeom prst="line">
            <a:avLst/>
          </a:prstGeom>
          <a:ln w="26105">
            <a:solidFill>
              <a:srgbClr val="E6C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9887308" y="2686594"/>
            <a:ext cx="0" cy="296091"/>
          </a:xfrm>
          <a:prstGeom prst="line">
            <a:avLst/>
          </a:prstGeom>
          <a:ln w="26105">
            <a:solidFill>
              <a:srgbClr val="E6C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9887308" y="1502228"/>
            <a:ext cx="284235" cy="0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11024248" y="1502228"/>
            <a:ext cx="284235" cy="0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9887308" y="1798320"/>
            <a:ext cx="284235" cy="0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10455778" y="1798320"/>
            <a:ext cx="0" cy="296091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11024248" y="1798320"/>
            <a:ext cx="284235" cy="0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9887308" y="2094411"/>
            <a:ext cx="284235" cy="0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11024248" y="2094411"/>
            <a:ext cx="284235" cy="0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9887308" y="2390502"/>
            <a:ext cx="284235" cy="0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10455778" y="2390502"/>
            <a:ext cx="0" cy="296092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11024248" y="2390502"/>
            <a:ext cx="284235" cy="0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9887308" y="2686594"/>
            <a:ext cx="284235" cy="0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11024248" y="2686594"/>
            <a:ext cx="284235" cy="0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9887308" y="2982685"/>
            <a:ext cx="284235" cy="0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11024248" y="2982685"/>
            <a:ext cx="284235" cy="0"/>
          </a:xfrm>
          <a:prstGeom prst="line">
            <a:avLst/>
          </a:prstGeom>
          <a:ln w="27686">
            <a:solidFill>
              <a:srgbClr val="F1C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9603072" y="1502228"/>
            <a:ext cx="0" cy="296092"/>
          </a:xfrm>
          <a:prstGeom prst="line">
            <a:avLst/>
          </a:prstGeom>
          <a:ln w="28363">
            <a:solidFill>
              <a:srgbClr val="F0C4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9603072" y="2686594"/>
            <a:ext cx="0" cy="296091"/>
          </a:xfrm>
          <a:prstGeom prst="line">
            <a:avLst/>
          </a:prstGeom>
          <a:ln w="28363">
            <a:solidFill>
              <a:srgbClr val="F0C4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10455778" y="2094411"/>
            <a:ext cx="0" cy="296091"/>
          </a:xfrm>
          <a:prstGeom prst="line">
            <a:avLst/>
          </a:prstGeom>
          <a:ln w="29718">
            <a:solidFill>
              <a:srgbClr val="EEB5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10171543" y="1798320"/>
            <a:ext cx="0" cy="296091"/>
          </a:xfrm>
          <a:prstGeom prst="line">
            <a:avLst/>
          </a:prstGeom>
          <a:ln w="31298">
            <a:solidFill>
              <a:srgbClr val="EBA5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10171543" y="2390502"/>
            <a:ext cx="0" cy="296092"/>
          </a:xfrm>
          <a:prstGeom prst="line">
            <a:avLst/>
          </a:prstGeom>
          <a:ln w="31298">
            <a:solidFill>
              <a:srgbClr val="EBA5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10171543" y="1502228"/>
            <a:ext cx="284235" cy="0"/>
          </a:xfrm>
          <a:prstGeom prst="line">
            <a:avLst/>
          </a:prstGeom>
          <a:ln w="31750">
            <a:solidFill>
              <a:srgbClr val="EAA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0740013" y="1502228"/>
            <a:ext cx="284235" cy="0"/>
          </a:xfrm>
          <a:prstGeom prst="line">
            <a:avLst/>
          </a:prstGeom>
          <a:ln w="31750">
            <a:solidFill>
              <a:srgbClr val="EAA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0171543" y="1798320"/>
            <a:ext cx="284235" cy="0"/>
          </a:xfrm>
          <a:prstGeom prst="line">
            <a:avLst/>
          </a:prstGeom>
          <a:ln w="31750">
            <a:solidFill>
              <a:srgbClr val="EAA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0740013" y="1798320"/>
            <a:ext cx="284235" cy="0"/>
          </a:xfrm>
          <a:prstGeom prst="line">
            <a:avLst/>
          </a:prstGeom>
          <a:ln w="31750">
            <a:solidFill>
              <a:srgbClr val="EAA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0171543" y="2094411"/>
            <a:ext cx="284235" cy="0"/>
          </a:xfrm>
          <a:prstGeom prst="line">
            <a:avLst/>
          </a:prstGeom>
          <a:ln w="31750">
            <a:solidFill>
              <a:srgbClr val="EAA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0740013" y="2094411"/>
            <a:ext cx="284235" cy="0"/>
          </a:xfrm>
          <a:prstGeom prst="line">
            <a:avLst/>
          </a:prstGeom>
          <a:ln w="31750">
            <a:solidFill>
              <a:srgbClr val="EAA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0171543" y="2390502"/>
            <a:ext cx="284235" cy="0"/>
          </a:xfrm>
          <a:prstGeom prst="line">
            <a:avLst/>
          </a:prstGeom>
          <a:ln w="31750">
            <a:solidFill>
              <a:srgbClr val="EAA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0740013" y="2390502"/>
            <a:ext cx="284235" cy="0"/>
          </a:xfrm>
          <a:prstGeom prst="line">
            <a:avLst/>
          </a:prstGeom>
          <a:ln w="31750">
            <a:solidFill>
              <a:srgbClr val="EAA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10171543" y="2686594"/>
            <a:ext cx="284235" cy="0"/>
          </a:xfrm>
          <a:prstGeom prst="line">
            <a:avLst/>
          </a:prstGeom>
          <a:ln w="31750">
            <a:solidFill>
              <a:srgbClr val="EAA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10740013" y="2686594"/>
            <a:ext cx="284235" cy="0"/>
          </a:xfrm>
          <a:prstGeom prst="line">
            <a:avLst/>
          </a:prstGeom>
          <a:ln w="31750">
            <a:solidFill>
              <a:srgbClr val="EAA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10171543" y="2982685"/>
            <a:ext cx="284235" cy="0"/>
          </a:xfrm>
          <a:prstGeom prst="line">
            <a:avLst/>
          </a:prstGeom>
          <a:ln w="31750">
            <a:solidFill>
              <a:srgbClr val="EAA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10740013" y="2982685"/>
            <a:ext cx="284235" cy="0"/>
          </a:xfrm>
          <a:prstGeom prst="line">
            <a:avLst/>
          </a:prstGeom>
          <a:ln w="31750">
            <a:solidFill>
              <a:srgbClr val="EAA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10455778" y="1502228"/>
            <a:ext cx="284235" cy="0"/>
          </a:xfrm>
          <a:prstGeom prst="line">
            <a:avLst/>
          </a:prstGeom>
          <a:ln w="33104">
            <a:solidFill>
              <a:srgbClr val="E89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10455778" y="1798320"/>
            <a:ext cx="284235" cy="0"/>
          </a:xfrm>
          <a:prstGeom prst="line">
            <a:avLst/>
          </a:prstGeom>
          <a:ln w="33104">
            <a:solidFill>
              <a:srgbClr val="E89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10455778" y="2094411"/>
            <a:ext cx="284235" cy="0"/>
          </a:xfrm>
          <a:prstGeom prst="line">
            <a:avLst/>
          </a:prstGeom>
          <a:ln w="33104">
            <a:solidFill>
              <a:srgbClr val="E89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10455778" y="2390502"/>
            <a:ext cx="284235" cy="0"/>
          </a:xfrm>
          <a:prstGeom prst="line">
            <a:avLst/>
          </a:prstGeom>
          <a:ln w="33104">
            <a:solidFill>
              <a:srgbClr val="E89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10455778" y="2686594"/>
            <a:ext cx="284235" cy="0"/>
          </a:xfrm>
          <a:prstGeom prst="line">
            <a:avLst/>
          </a:prstGeom>
          <a:ln w="33104">
            <a:solidFill>
              <a:srgbClr val="E89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10455778" y="2982685"/>
            <a:ext cx="284235" cy="0"/>
          </a:xfrm>
          <a:prstGeom prst="line">
            <a:avLst/>
          </a:prstGeom>
          <a:ln w="33104">
            <a:solidFill>
              <a:srgbClr val="E89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10171543" y="2094411"/>
            <a:ext cx="0" cy="296091"/>
          </a:xfrm>
          <a:prstGeom prst="line">
            <a:avLst/>
          </a:prstGeom>
          <a:ln w="33781">
            <a:solidFill>
              <a:srgbClr val="E68B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9887308" y="1798320"/>
            <a:ext cx="0" cy="296091"/>
          </a:xfrm>
          <a:prstGeom prst="line">
            <a:avLst/>
          </a:prstGeom>
          <a:ln w="34910">
            <a:solidFill>
              <a:srgbClr val="E37E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9887308" y="2390502"/>
            <a:ext cx="0" cy="296092"/>
          </a:xfrm>
          <a:prstGeom prst="line">
            <a:avLst/>
          </a:prstGeom>
          <a:ln w="34910">
            <a:solidFill>
              <a:srgbClr val="E37E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9887308" y="2094411"/>
            <a:ext cx="0" cy="296091"/>
          </a:xfrm>
          <a:prstGeom prst="line">
            <a:avLst/>
          </a:prstGeom>
          <a:ln w="37846">
            <a:solidFill>
              <a:srgbClr val="CD58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9603072" y="1798320"/>
            <a:ext cx="0" cy="296091"/>
          </a:xfrm>
          <a:prstGeom prst="line">
            <a:avLst/>
          </a:prstGeom>
          <a:ln w="38523">
            <a:solidFill>
              <a:srgbClr val="C74F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9603072" y="2390502"/>
            <a:ext cx="0" cy="296092"/>
          </a:xfrm>
          <a:prstGeom prst="line">
            <a:avLst/>
          </a:prstGeom>
          <a:ln w="38523">
            <a:solidFill>
              <a:srgbClr val="C74F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9603072" y="2094411"/>
            <a:ext cx="0" cy="296091"/>
          </a:xfrm>
          <a:prstGeom prst="line">
            <a:avLst/>
          </a:prstGeom>
          <a:ln w="41910">
            <a:solidFill>
              <a:srgbClr val="AE2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Oval 232"/>
          <p:cNvSpPr/>
          <p:nvPr/>
        </p:nvSpPr>
        <p:spPr>
          <a:xfrm>
            <a:off x="9560437" y="1459593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9844672" y="1459593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128907" y="1459593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413143" y="1459593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697378" y="1459593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981613" y="1459593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1265848" y="1459593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1550083" y="1459593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560437" y="1755684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844672" y="1755684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128907" y="1755684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413143" y="1755684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0697378" y="1755684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0981613" y="1755684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265848" y="1755684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550083" y="1755684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9560437" y="2051776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9844672" y="2051776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0128907" y="2051776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0413143" y="2051776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0697378" y="2051776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0981613" y="2051776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265848" y="2051776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550083" y="2051776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9560437" y="2347867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9844672" y="2347867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0128907" y="2347867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0413143" y="2347867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0697378" y="2347867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0981613" y="2347867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265848" y="2347867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550083" y="2347867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9560437" y="2643959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9844672" y="2643959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0128907" y="2643959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0413143" y="2643959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0697378" y="2643959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0981613" y="2643959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1265848" y="2643959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1550083" y="2643959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9560437" y="2940050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9844672" y="2940050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0128907" y="2940050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0413143" y="2940050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0697378" y="2940050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0981613" y="2940050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1265848" y="2940050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1550083" y="2940050"/>
            <a:ext cx="85270" cy="85270"/>
          </a:xfrm>
          <a:prstGeom prst="ellipse">
            <a:avLst/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5-Point Star 280"/>
          <p:cNvSpPr/>
          <p:nvPr/>
        </p:nvSpPr>
        <p:spPr>
          <a:xfrm>
            <a:off x="9496484" y="2876097"/>
            <a:ext cx="213176" cy="213176"/>
          </a:xfrm>
          <a:prstGeom prst="star5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9418320" y="3346704"/>
            <a:ext cx="23591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峰值 135 = 1.41× 割界，向根聚拢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7927848" y="3675887"/>
            <a:ext cx="69951" cy="118872"/>
          </a:xfrm>
          <a:prstGeom prst="rect">
            <a:avLst/>
          </a:prstGeom>
          <a:solidFill>
            <a:srgbClr val="E9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7996427" y="3675887"/>
            <a:ext cx="69951" cy="118872"/>
          </a:xfrm>
          <a:prstGeom prst="rect">
            <a:avLst/>
          </a:prstGeom>
          <a:solidFill>
            <a:srgbClr val="E3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8065008" y="3675887"/>
            <a:ext cx="69951" cy="118872"/>
          </a:xfrm>
          <a:prstGeom prst="rect">
            <a:avLst/>
          </a:prstGeom>
          <a:solidFill>
            <a:srgbClr val="DD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8133588" y="3675887"/>
            <a:ext cx="69951" cy="118872"/>
          </a:xfrm>
          <a:prstGeom prst="rect">
            <a:avLst/>
          </a:prstGeom>
          <a:solidFill>
            <a:srgbClr val="D7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8202168" y="3675887"/>
            <a:ext cx="69951" cy="118872"/>
          </a:xfrm>
          <a:prstGeom prst="rect">
            <a:avLst/>
          </a:prstGeom>
          <a:solidFill>
            <a:srgbClr val="D2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8270748" y="3675887"/>
            <a:ext cx="69951" cy="118872"/>
          </a:xfrm>
          <a:prstGeom prst="rect">
            <a:avLst/>
          </a:prstGeom>
          <a:solidFill>
            <a:srgbClr val="CCD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8339327" y="3675887"/>
            <a:ext cx="69951" cy="118872"/>
          </a:xfrm>
          <a:prstGeom prst="rect">
            <a:avLst/>
          </a:prstGeom>
          <a:solidFill>
            <a:srgbClr val="C6D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8407908" y="3675887"/>
            <a:ext cx="69951" cy="118872"/>
          </a:xfrm>
          <a:prstGeom prst="rect">
            <a:avLst/>
          </a:prstGeom>
          <a:solidFill>
            <a:srgbClr val="C0D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8476488" y="3675887"/>
            <a:ext cx="69951" cy="118872"/>
          </a:xfrm>
          <a:prstGeom prst="rect">
            <a:avLst/>
          </a:prstGeom>
          <a:solidFill>
            <a:srgbClr val="BAD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8545068" y="3675887"/>
            <a:ext cx="69951" cy="118872"/>
          </a:xfrm>
          <a:prstGeom prst="rect">
            <a:avLst/>
          </a:prstGeom>
          <a:solidFill>
            <a:srgbClr val="B4D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8613648" y="3675887"/>
            <a:ext cx="69951" cy="118872"/>
          </a:xfrm>
          <a:prstGeom prst="rect">
            <a:avLst/>
          </a:prstGeom>
          <a:solidFill>
            <a:srgbClr val="AEC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8682228" y="3675887"/>
            <a:ext cx="69951" cy="118872"/>
          </a:xfrm>
          <a:prstGeom prst="rect">
            <a:avLst/>
          </a:prstGeom>
          <a:solidFill>
            <a:srgbClr val="AAC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8750808" y="3675887"/>
            <a:ext cx="69951" cy="118872"/>
          </a:xfrm>
          <a:prstGeom prst="rect">
            <a:avLst/>
          </a:prstGeom>
          <a:solidFill>
            <a:srgbClr val="B1C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8819388" y="3675887"/>
            <a:ext cx="69951" cy="118872"/>
          </a:xfrm>
          <a:prstGeom prst="rect">
            <a:avLst/>
          </a:prstGeom>
          <a:solidFill>
            <a:srgbClr val="B9C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8887968" y="3675887"/>
            <a:ext cx="69951" cy="118872"/>
          </a:xfrm>
          <a:prstGeom prst="rect">
            <a:avLst/>
          </a:prstGeom>
          <a:solidFill>
            <a:srgbClr val="C1C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8956548" y="3675887"/>
            <a:ext cx="69951" cy="118872"/>
          </a:xfrm>
          <a:prstGeom prst="rect">
            <a:avLst/>
          </a:prstGeom>
          <a:solidFill>
            <a:srgbClr val="C9CC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9025128" y="3675887"/>
            <a:ext cx="69951" cy="118872"/>
          </a:xfrm>
          <a:prstGeom prst="rect">
            <a:avLst/>
          </a:prstGeom>
          <a:solidFill>
            <a:srgbClr val="D1C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9093708" y="3675887"/>
            <a:ext cx="69951" cy="118872"/>
          </a:xfrm>
          <a:prstGeom prst="rect">
            <a:avLst/>
          </a:prstGeom>
          <a:solidFill>
            <a:srgbClr val="D8CD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9162288" y="3675887"/>
            <a:ext cx="69951" cy="118872"/>
          </a:xfrm>
          <a:prstGeom prst="rect">
            <a:avLst/>
          </a:prstGeom>
          <a:solidFill>
            <a:srgbClr val="E0C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9230868" y="3675887"/>
            <a:ext cx="69951" cy="118872"/>
          </a:xfrm>
          <a:prstGeom prst="rect">
            <a:avLst/>
          </a:prstGeom>
          <a:solidFill>
            <a:srgbClr val="E8C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9299448" y="3675887"/>
            <a:ext cx="69951" cy="118872"/>
          </a:xfrm>
          <a:prstGeom prst="rect">
            <a:avLst/>
          </a:prstGeom>
          <a:solidFill>
            <a:srgbClr val="F0C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9368028" y="3675887"/>
            <a:ext cx="69951" cy="118872"/>
          </a:xfrm>
          <a:prstGeom prst="rect">
            <a:avLst/>
          </a:prstGeom>
          <a:solidFill>
            <a:srgbClr val="F1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9436608" y="3675887"/>
            <a:ext cx="69951" cy="118872"/>
          </a:xfrm>
          <a:prstGeom prst="rect">
            <a:avLst/>
          </a:prstGeom>
          <a:solidFill>
            <a:srgbClr val="F0C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9505188" y="3675887"/>
            <a:ext cx="69951" cy="118872"/>
          </a:xfrm>
          <a:prstGeom prst="rect">
            <a:avLst/>
          </a:prstGeom>
          <a:solidFill>
            <a:srgbClr val="EEB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9573768" y="3675887"/>
            <a:ext cx="69951" cy="118872"/>
          </a:xfrm>
          <a:prstGeom prst="rect">
            <a:avLst/>
          </a:prstGeom>
          <a:solidFill>
            <a:srgbClr val="EDB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9642348" y="3675887"/>
            <a:ext cx="69951" cy="118872"/>
          </a:xfrm>
          <a:prstGeom prst="rect">
            <a:avLst/>
          </a:prstGeom>
          <a:solidFill>
            <a:srgbClr val="EB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9710928" y="3675887"/>
            <a:ext cx="69951" cy="118872"/>
          </a:xfrm>
          <a:prstGeom prst="rect">
            <a:avLst/>
          </a:prstGeom>
          <a:solidFill>
            <a:srgbClr val="EAA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9779508" y="3675887"/>
            <a:ext cx="69951" cy="118872"/>
          </a:xfrm>
          <a:prstGeom prst="rect">
            <a:avLst/>
          </a:prstGeom>
          <a:solidFill>
            <a:srgbClr val="E99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9848088" y="3675887"/>
            <a:ext cx="69951" cy="118872"/>
          </a:xfrm>
          <a:prstGeom prst="rect">
            <a:avLst/>
          </a:prstGeom>
          <a:solidFill>
            <a:srgbClr val="E78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9916667" y="3675887"/>
            <a:ext cx="69951" cy="118872"/>
          </a:xfrm>
          <a:prstGeom prst="rect">
            <a:avLst/>
          </a:prstGeom>
          <a:solidFill>
            <a:srgbClr val="E68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9985248" y="3675887"/>
            <a:ext cx="69951" cy="118872"/>
          </a:xfrm>
          <a:prstGeom prst="rect">
            <a:avLst/>
          </a:prstGeom>
          <a:solidFill>
            <a:srgbClr val="E37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0053828" y="3675887"/>
            <a:ext cx="69951" cy="118872"/>
          </a:xfrm>
          <a:prstGeom prst="rect">
            <a:avLst/>
          </a:prstGeom>
          <a:solidFill>
            <a:srgbClr val="DD7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0122408" y="3675887"/>
            <a:ext cx="69951" cy="118872"/>
          </a:xfrm>
          <a:prstGeom prst="rect">
            <a:avLst/>
          </a:prstGeom>
          <a:solidFill>
            <a:srgbClr val="D76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10190988" y="3675887"/>
            <a:ext cx="69951" cy="118872"/>
          </a:xfrm>
          <a:prstGeom prst="rect">
            <a:avLst/>
          </a:prstGeom>
          <a:solidFill>
            <a:srgbClr val="D16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0259567" y="3675887"/>
            <a:ext cx="69951" cy="118872"/>
          </a:xfrm>
          <a:prstGeom prst="rect">
            <a:avLst/>
          </a:prstGeom>
          <a:solidFill>
            <a:srgbClr val="CB5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0328148" y="3675887"/>
            <a:ext cx="69951" cy="118872"/>
          </a:xfrm>
          <a:prstGeom prst="rect">
            <a:avLst/>
          </a:prstGeom>
          <a:solidFill>
            <a:srgbClr val="C64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0396728" y="3675887"/>
            <a:ext cx="69951" cy="118872"/>
          </a:xfrm>
          <a:prstGeom prst="rect">
            <a:avLst/>
          </a:prstGeom>
          <a:solidFill>
            <a:srgbClr val="C04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0465308" y="3675887"/>
            <a:ext cx="69951" cy="118872"/>
          </a:xfrm>
          <a:prstGeom prst="rect">
            <a:avLst/>
          </a:prstGeom>
          <a:solidFill>
            <a:srgbClr val="BA3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0533888" y="3675887"/>
            <a:ext cx="69951" cy="118872"/>
          </a:xfrm>
          <a:prstGeom prst="rect">
            <a:avLst/>
          </a:prstGeom>
          <a:solidFill>
            <a:srgbClr val="B42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0602467" y="3675887"/>
            <a:ext cx="69951" cy="118872"/>
          </a:xfrm>
          <a:prstGeom prst="rect">
            <a:avLst/>
          </a:prstGeom>
          <a:solidFill>
            <a:srgbClr val="AE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7927848" y="3675887"/>
            <a:ext cx="2743200" cy="118872"/>
          </a:xfrm>
          <a:prstGeom prst="rect">
            <a:avLst/>
          </a:prstGeom>
          <a:noFill/>
          <a:ln w="635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324" name="Connector 323"/>
          <p:cNvCxnSpPr/>
          <p:nvPr/>
        </p:nvCxnSpPr>
        <p:spPr>
          <a:xfrm>
            <a:off x="7927848" y="3794759"/>
            <a:ext cx="0" cy="45720"/>
          </a:xfrm>
          <a:prstGeom prst="line">
            <a:avLst/>
          </a:prstGeom>
          <a:ln w="7620">
            <a:solidFill>
              <a:srgbClr val="5A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" name="TextBox 324"/>
          <p:cNvSpPr txBox="1"/>
          <p:nvPr/>
        </p:nvSpPr>
        <p:spPr>
          <a:xfrm>
            <a:off x="7653527" y="3840479"/>
            <a:ext cx="5486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660" b="0">
                <a:solidFill>
                  <a:srgbClr val="5A6673"/>
                </a:solidFill>
                <a:latin typeface="Microsoft YaHei"/>
              </a:rPr>
              <a:t>0</a:t>
            </a:r>
          </a:p>
        </p:txBody>
      </p:sp>
      <p:cxnSp>
        <p:nvCxnSpPr>
          <p:cNvPr id="326" name="Connector 325"/>
          <p:cNvCxnSpPr/>
          <p:nvPr/>
        </p:nvCxnSpPr>
        <p:spPr>
          <a:xfrm>
            <a:off x="8903208" y="3794759"/>
            <a:ext cx="0" cy="45720"/>
          </a:xfrm>
          <a:prstGeom prst="line">
            <a:avLst/>
          </a:prstGeom>
          <a:ln w="7620">
            <a:solidFill>
              <a:srgbClr val="5A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TextBox 326"/>
          <p:cNvSpPr txBox="1"/>
          <p:nvPr/>
        </p:nvSpPr>
        <p:spPr>
          <a:xfrm>
            <a:off x="8628888" y="3840479"/>
            <a:ext cx="5486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660" b="0">
                <a:solidFill>
                  <a:srgbClr val="5A6673"/>
                </a:solidFill>
                <a:latin typeface="Microsoft YaHei"/>
              </a:rPr>
              <a:t>48</a:t>
            </a:r>
          </a:p>
        </p:txBody>
      </p:sp>
      <p:cxnSp>
        <p:nvCxnSpPr>
          <p:cNvPr id="328" name="Connector 327"/>
          <p:cNvCxnSpPr/>
          <p:nvPr/>
        </p:nvCxnSpPr>
        <p:spPr>
          <a:xfrm>
            <a:off x="9878568" y="3794759"/>
            <a:ext cx="0" cy="45720"/>
          </a:xfrm>
          <a:prstGeom prst="line">
            <a:avLst/>
          </a:prstGeom>
          <a:ln w="7620">
            <a:solidFill>
              <a:srgbClr val="5A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9" name="TextBox 328"/>
          <p:cNvSpPr txBox="1"/>
          <p:nvPr/>
        </p:nvSpPr>
        <p:spPr>
          <a:xfrm>
            <a:off x="9604247" y="3840479"/>
            <a:ext cx="5486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660" b="0">
                <a:solidFill>
                  <a:srgbClr val="5A6673"/>
                </a:solidFill>
                <a:latin typeface="Microsoft YaHei"/>
              </a:rPr>
              <a:t>96</a:t>
            </a:r>
          </a:p>
        </p:txBody>
      </p:sp>
      <p:cxnSp>
        <p:nvCxnSpPr>
          <p:cNvPr id="330" name="Connector 329"/>
          <p:cNvCxnSpPr/>
          <p:nvPr/>
        </p:nvCxnSpPr>
        <p:spPr>
          <a:xfrm>
            <a:off x="10671048" y="3794759"/>
            <a:ext cx="0" cy="45720"/>
          </a:xfrm>
          <a:prstGeom prst="line">
            <a:avLst/>
          </a:prstGeom>
          <a:ln w="7620">
            <a:solidFill>
              <a:srgbClr val="5A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1" name="TextBox 330"/>
          <p:cNvSpPr txBox="1"/>
          <p:nvPr/>
        </p:nvSpPr>
        <p:spPr>
          <a:xfrm>
            <a:off x="10396728" y="3840479"/>
            <a:ext cx="5486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660" b="0">
                <a:solidFill>
                  <a:srgbClr val="5A6673"/>
                </a:solidFill>
                <a:latin typeface="Microsoft YaHei"/>
              </a:rPr>
              <a:t>135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6803136" y="3931920"/>
            <a:ext cx="500451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20" b="0">
                <a:solidFill>
                  <a:srgbClr val="5A6673"/>
                </a:solidFill>
                <a:latin typeface="Microsoft YaHei"/>
              </a:rPr>
              <a:t>色标 = 该链路承载的 (s,d) 对数（两方向取大者，两图共用）；最热 10 条链路有 3 条落在根的 ≤2 跳邻域内。</a:t>
            </a:r>
          </a:p>
        </p:txBody>
      </p:sp>
      <p:sp>
        <p:nvSpPr>
          <p:cNvPr id="333" name="Rounded Rectangle 332"/>
          <p:cNvSpPr/>
          <p:nvPr/>
        </p:nvSpPr>
        <p:spPr>
          <a:xfrm>
            <a:off x="274320" y="4352544"/>
            <a:ext cx="7406640" cy="164592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4" name="Rounded Rectangle 333"/>
          <p:cNvSpPr/>
          <p:nvPr/>
        </p:nvSpPr>
        <p:spPr>
          <a:xfrm>
            <a:off x="274320" y="4352544"/>
            <a:ext cx="7406640" cy="274320"/>
          </a:xfrm>
          <a:prstGeom prst="roundRect">
            <a:avLst>
              <a:gd name="adj" fmla="val 13333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274320" y="4352544"/>
            <a:ext cx="50292" cy="274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420623" y="4379976"/>
            <a:ext cx="7132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>
                <a:solidFill>
                  <a:srgbClr val="1F2933"/>
                </a:solidFill>
                <a:latin typeface="Microsoft YaHei"/>
              </a:rPr>
              <a:t>③ 负载不均的定量代价（无故障 8×6，物理 1 VC）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384048" y="4663440"/>
            <a:ext cx="7040880" cy="237744"/>
          </a:xfrm>
          <a:prstGeom prst="rect">
            <a:avLst/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420623" y="4663440"/>
            <a:ext cx="1682495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20" b="1">
                <a:solidFill>
                  <a:srgbClr val="1F2933"/>
                </a:solidFill>
                <a:latin typeface="Microsoft YaHei"/>
              </a:rPr>
              <a:t>方案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2176272" y="4663440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20" b="1">
                <a:solidFill>
                  <a:srgbClr val="1F2933"/>
                </a:solidFill>
                <a:latin typeface="Microsoft YaHei"/>
              </a:rPr>
              <a:t>峰值链路负载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2999232" y="4663440"/>
            <a:ext cx="49377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20" b="1">
                <a:solidFill>
                  <a:srgbClr val="1F2933"/>
                </a:solidFill>
                <a:latin typeface="Microsoft YaHei"/>
              </a:rPr>
              <a:t>÷割界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566160" y="4663440"/>
            <a:ext cx="40233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20" b="1">
                <a:solidFill>
                  <a:srgbClr val="1F2933"/>
                </a:solidFill>
                <a:latin typeface="Microsoft YaHei"/>
              </a:rPr>
              <a:t>CV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4041648" y="4663440"/>
            <a:ext cx="58521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20" b="1">
                <a:solidFill>
                  <a:srgbClr val="1F2933"/>
                </a:solidFill>
                <a:latin typeface="Microsoft YaHei"/>
              </a:rPr>
              <a:t>归一吞吐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4700016" y="4663440"/>
            <a:ext cx="71323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20" b="1">
                <a:solidFill>
                  <a:srgbClr val="1F2933"/>
                </a:solidFill>
                <a:latin typeface="Microsoft YaHei"/>
              </a:rPr>
              <a:t>mk m=1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5486400" y="4663440"/>
            <a:ext cx="71323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20" b="1">
                <a:solidFill>
                  <a:srgbClr val="1F2933"/>
                </a:solidFill>
                <a:latin typeface="Microsoft YaHei"/>
              </a:rPr>
              <a:t>mk m=13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6272784" y="4663440"/>
            <a:ext cx="111556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20" b="1">
                <a:solidFill>
                  <a:srgbClr val="1F2933"/>
                </a:solidFill>
                <a:latin typeface="Microsoft YaHei"/>
              </a:rPr>
              <a:t>44 场景零牺牲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384048" y="4901183"/>
            <a:ext cx="7040880" cy="2148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429768" y="4901183"/>
            <a:ext cx="1664207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40" b="1">
                <a:solidFill>
                  <a:srgbClr val="1F2933"/>
                </a:solidFill>
                <a:latin typeface="Microsoft YaHei"/>
              </a:rPr>
              <a:t>XY（不容错基线）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2185415" y="4901183"/>
            <a:ext cx="73152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96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3008375" y="4901183"/>
            <a:ext cx="47548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1.00×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3575303" y="4901183"/>
            <a:ext cx="38404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0.30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4050791" y="4901183"/>
            <a:ext cx="56692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1.00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4709159" y="4901183"/>
            <a:ext cx="694944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188 cy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5495544" y="4901183"/>
            <a:ext cx="694944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2179 cy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6281928" y="4901183"/>
            <a:ext cx="109728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0/44</a:t>
            </a:r>
          </a:p>
        </p:txBody>
      </p:sp>
      <p:cxnSp>
        <p:nvCxnSpPr>
          <p:cNvPr id="355" name="Connector 354"/>
          <p:cNvCxnSpPr/>
          <p:nvPr/>
        </p:nvCxnSpPr>
        <p:spPr>
          <a:xfrm>
            <a:off x="384048" y="4901183"/>
            <a:ext cx="7040880" cy="0"/>
          </a:xfrm>
          <a:prstGeom prst="line">
            <a:avLst/>
          </a:prstGeom>
          <a:ln w="5080">
            <a:solidFill>
              <a:srgbClr val="D9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6" name="Rectangle 355"/>
          <p:cNvSpPr/>
          <p:nvPr/>
        </p:nvSpPr>
        <p:spPr>
          <a:xfrm>
            <a:off x="384048" y="5116068"/>
            <a:ext cx="7040880" cy="214884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7" name="TextBox 356"/>
          <p:cNvSpPr txBox="1"/>
          <p:nvPr/>
        </p:nvSpPr>
        <p:spPr>
          <a:xfrm>
            <a:off x="429768" y="5116068"/>
            <a:ext cx="1664207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40" b="1">
                <a:solidFill>
                  <a:srgbClr val="1F2933"/>
                </a:solidFill>
                <a:latin typeface="Microsoft YaHei"/>
              </a:rPr>
              <a:t>M3：根 = 度最大点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2185415" y="5116068"/>
            <a:ext cx="73152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224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3008375" y="5116068"/>
            <a:ext cx="47548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2.33×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3575303" y="5116068"/>
            <a:ext cx="38404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0.67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4050791" y="5116068"/>
            <a:ext cx="56692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0.43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4709159" y="5116068"/>
            <a:ext cx="694944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348 cy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5495544" y="5116068"/>
            <a:ext cx="694944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5303 cy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6281928" y="5116068"/>
            <a:ext cx="109728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41/44</a:t>
            </a:r>
          </a:p>
        </p:txBody>
      </p:sp>
      <p:cxnSp>
        <p:nvCxnSpPr>
          <p:cNvPr id="365" name="Connector 364"/>
          <p:cNvCxnSpPr/>
          <p:nvPr/>
        </p:nvCxnSpPr>
        <p:spPr>
          <a:xfrm>
            <a:off x="384048" y="5116068"/>
            <a:ext cx="7040880" cy="0"/>
          </a:xfrm>
          <a:prstGeom prst="line">
            <a:avLst/>
          </a:prstGeom>
          <a:ln w="5080">
            <a:solidFill>
              <a:srgbClr val="D9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6" name="Rectangle 365"/>
          <p:cNvSpPr/>
          <p:nvPr/>
        </p:nvSpPr>
        <p:spPr>
          <a:xfrm>
            <a:off x="384048" y="5330952"/>
            <a:ext cx="7040880" cy="214884"/>
          </a:xfrm>
          <a:prstGeom prst="rect">
            <a:avLst/>
          </a:prstGeom>
          <a:solidFill>
            <a:srgbClr val="FF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384048" y="5330952"/>
            <a:ext cx="32004" cy="214884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429768" y="5330952"/>
            <a:ext cx="1664207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40" b="1">
                <a:solidFill>
                  <a:srgbClr val="1F2933"/>
                </a:solidFill>
                <a:latin typeface="Microsoft YaHei"/>
              </a:rPr>
              <a:t>M3′：根 = 负载最优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2185415" y="5330952"/>
            <a:ext cx="73152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1">
                <a:solidFill>
                  <a:srgbClr val="1F2933"/>
                </a:solidFill>
                <a:latin typeface="Microsoft YaHei"/>
              </a:rPr>
              <a:t>135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3008375" y="5330952"/>
            <a:ext cx="47548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1">
                <a:solidFill>
                  <a:srgbClr val="1F2933"/>
                </a:solidFill>
                <a:latin typeface="Microsoft YaHei"/>
              </a:rPr>
              <a:t>1.41×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3575303" y="5330952"/>
            <a:ext cx="38404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1">
                <a:solidFill>
                  <a:srgbClr val="1F2933"/>
                </a:solidFill>
                <a:latin typeface="Microsoft YaHei"/>
              </a:rPr>
              <a:t>0.47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4050791" y="5330952"/>
            <a:ext cx="56692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1">
                <a:solidFill>
                  <a:srgbClr val="1F2933"/>
                </a:solidFill>
                <a:latin typeface="Microsoft YaHei"/>
              </a:rPr>
              <a:t>0.71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4709159" y="5330952"/>
            <a:ext cx="694944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1">
                <a:solidFill>
                  <a:srgbClr val="1F2933"/>
                </a:solidFill>
                <a:latin typeface="Microsoft YaHei"/>
              </a:rPr>
              <a:t>233 cy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5495544" y="5330952"/>
            <a:ext cx="694944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1">
                <a:solidFill>
                  <a:srgbClr val="1F2933"/>
                </a:solidFill>
                <a:latin typeface="Microsoft YaHei"/>
              </a:rPr>
              <a:t>4579 cy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6281928" y="5330952"/>
            <a:ext cx="109728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1">
                <a:solidFill>
                  <a:srgbClr val="1F2933"/>
                </a:solidFill>
                <a:latin typeface="Microsoft YaHei"/>
              </a:rPr>
              <a:t>41/44</a:t>
            </a:r>
          </a:p>
        </p:txBody>
      </p:sp>
      <p:cxnSp>
        <p:nvCxnSpPr>
          <p:cNvPr id="376" name="Connector 375"/>
          <p:cNvCxnSpPr/>
          <p:nvPr/>
        </p:nvCxnSpPr>
        <p:spPr>
          <a:xfrm>
            <a:off x="384048" y="5330952"/>
            <a:ext cx="7040880" cy="0"/>
          </a:xfrm>
          <a:prstGeom prst="line">
            <a:avLst/>
          </a:prstGeom>
          <a:ln w="5080">
            <a:solidFill>
              <a:srgbClr val="D9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7" name="Rectangle 376"/>
          <p:cNvSpPr/>
          <p:nvPr/>
        </p:nvSpPr>
        <p:spPr>
          <a:xfrm>
            <a:off x="384048" y="5545836"/>
            <a:ext cx="7040880" cy="214884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429768" y="5545836"/>
            <a:ext cx="1664207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40" b="1">
                <a:solidFill>
                  <a:srgbClr val="1F2933"/>
                </a:solidFill>
                <a:latin typeface="Microsoft YaHei"/>
              </a:rPr>
              <a:t>M3′ + min-max 选路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2185415" y="5545836"/>
            <a:ext cx="73152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111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3008375" y="5545836"/>
            <a:ext cx="47548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1.16×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3575303" y="5545836"/>
            <a:ext cx="38404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0.42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4050791" y="5545836"/>
            <a:ext cx="56692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0.86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4709159" y="5545836"/>
            <a:ext cx="694944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233 cy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5495544" y="5545836"/>
            <a:ext cx="694944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4561 cy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6281928" y="5545836"/>
            <a:ext cx="109728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41/44</a:t>
            </a:r>
          </a:p>
        </p:txBody>
      </p:sp>
      <p:cxnSp>
        <p:nvCxnSpPr>
          <p:cNvPr id="386" name="Connector 385"/>
          <p:cNvCxnSpPr/>
          <p:nvPr/>
        </p:nvCxnSpPr>
        <p:spPr>
          <a:xfrm>
            <a:off x="384048" y="5545836"/>
            <a:ext cx="7040880" cy="0"/>
          </a:xfrm>
          <a:prstGeom prst="line">
            <a:avLst/>
          </a:prstGeom>
          <a:ln w="5080">
            <a:solidFill>
              <a:srgbClr val="D9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7" name="Rectangle 386"/>
          <p:cNvSpPr/>
          <p:nvPr/>
        </p:nvSpPr>
        <p:spPr>
          <a:xfrm>
            <a:off x="384048" y="5760720"/>
            <a:ext cx="7040880" cy="2148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8" name="TextBox 387"/>
          <p:cNvSpPr txBox="1"/>
          <p:nvPr/>
        </p:nvSpPr>
        <p:spPr>
          <a:xfrm>
            <a:off x="429768" y="5760720"/>
            <a:ext cx="1664207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40" b="1">
                <a:solidFill>
                  <a:srgbClr val="1F2933"/>
                </a:solidFill>
                <a:latin typeface="Microsoft YaHei"/>
              </a:rPr>
              <a:t>割界（任何路由的下界）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2185415" y="5760720"/>
            <a:ext cx="73152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96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3008375" y="5760720"/>
            <a:ext cx="47548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1.00×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3575303" y="5760720"/>
            <a:ext cx="38404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—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4050791" y="5760720"/>
            <a:ext cx="56692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1.00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4709159" y="5760720"/>
            <a:ext cx="694944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—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5495544" y="5760720"/>
            <a:ext cx="694944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—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6281928" y="5760720"/>
            <a:ext cx="109728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—</a:t>
            </a:r>
          </a:p>
        </p:txBody>
      </p:sp>
      <p:cxnSp>
        <p:nvCxnSpPr>
          <p:cNvPr id="396" name="Connector 395"/>
          <p:cNvCxnSpPr/>
          <p:nvPr/>
        </p:nvCxnSpPr>
        <p:spPr>
          <a:xfrm>
            <a:off x="384048" y="5760720"/>
            <a:ext cx="7040880" cy="0"/>
          </a:xfrm>
          <a:prstGeom prst="line">
            <a:avLst/>
          </a:prstGeom>
          <a:ln w="5080">
            <a:solidFill>
              <a:srgbClr val="D9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7" name="Rectangle 396"/>
          <p:cNvSpPr/>
          <p:nvPr/>
        </p:nvSpPr>
        <p:spPr>
          <a:xfrm>
            <a:off x="384048" y="4663440"/>
            <a:ext cx="7040880" cy="1312164"/>
          </a:xfrm>
          <a:prstGeom prst="rect">
            <a:avLst/>
          </a:prstGeom>
          <a:noFill/>
          <a:ln w="762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8" name="Rounded Rectangle 397"/>
          <p:cNvSpPr/>
          <p:nvPr/>
        </p:nvSpPr>
        <p:spPr>
          <a:xfrm>
            <a:off x="7827264" y="4352544"/>
            <a:ext cx="4090111" cy="164592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9" name="Rounded Rectangle 398"/>
          <p:cNvSpPr/>
          <p:nvPr/>
        </p:nvSpPr>
        <p:spPr>
          <a:xfrm>
            <a:off x="7827264" y="4352544"/>
            <a:ext cx="4090111" cy="274320"/>
          </a:xfrm>
          <a:prstGeom prst="roundRect">
            <a:avLst>
              <a:gd name="adj" fmla="val 13333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7827264" y="4352544"/>
            <a:ext cx="50292" cy="274320"/>
          </a:xfrm>
          <a:prstGeom prst="rect">
            <a:avLst/>
          </a:prstGeom>
          <a:solidFill>
            <a:srgbClr val="0B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1" name="TextBox 400"/>
          <p:cNvSpPr txBox="1"/>
          <p:nvPr/>
        </p:nvSpPr>
        <p:spPr>
          <a:xfrm>
            <a:off x="7973568" y="4379976"/>
            <a:ext cx="381579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>
                <a:solidFill>
                  <a:srgbClr val="1F2933"/>
                </a:solidFill>
                <a:latin typeface="Microsoft YaHei"/>
              </a:rPr>
              <a:t>④ 这个代价该怎么读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7955280" y="4681728"/>
            <a:ext cx="3834079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860" b="1">
                <a:solidFill>
                  <a:srgbClr val="0B6BA8"/>
                </a:solidFill>
                <a:latin typeface="Microsoft YaHei"/>
              </a:rPr>
              <a:t>不是绕远，是选路集中。</a:t>
            </a:r>
          </a:p>
          <a:p>
            <a:pPr algn="l">
              <a:lnSpc>
                <a:spcPct val="118000"/>
              </a:lnSpc>
              <a:spcAft>
                <a:spcPts val="240"/>
              </a:spcAft>
            </a:pPr>
            <a:r>
              <a:rPr sz="819" b="0">
                <a:solidFill>
                  <a:srgbClr val="5A6673"/>
                </a:solidFill>
                <a:latin typeface="Microsoft YaHei"/>
              </a:rPr>
              <a:t>M3′ 总跳数 10528、平均 4.67 跳，与 XY 完全相同（都是最短路）⇒ 不均衡纯粹来自「同一最短路集合里怎么挑」。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860" b="1">
                <a:solidFill>
                  <a:srgbClr val="C7000B"/>
                </a:solidFill>
                <a:latin typeface="Microsoft YaHei"/>
              </a:rPr>
              <a:t>重载差距远大于 1.41×。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19" b="0">
                <a:solidFill>
                  <a:srgbClr val="5A6673"/>
                </a:solidFill>
                <a:latin typeface="Microsoft YaHei"/>
              </a:rPr>
              <a:t>m=13 时 4579 vs 2179 cy（+110%），远超峰值负载比 ⇒ 单 VC 共享 FIFO 下路径交织带来的 HOL 阻塞把不均衡进一步放大。</a:t>
            </a:r>
          </a:p>
        </p:txBody>
      </p:sp>
      <p:sp>
        <p:nvSpPr>
          <p:cNvPr id="403" name="Rounded Rectangle 402"/>
          <p:cNvSpPr/>
          <p:nvPr/>
        </p:nvSpPr>
        <p:spPr>
          <a:xfrm>
            <a:off x="274320" y="6089904"/>
            <a:ext cx="11643055" cy="658368"/>
          </a:xfrm>
          <a:prstGeom prst="roundRect">
            <a:avLst>
              <a:gd name="adj" fmla="val 5555"/>
            </a:avLst>
          </a:prstGeom>
          <a:solidFill>
            <a:srgbClr val="F2F7F4"/>
          </a:solidFill>
          <a:ln w="11430">
            <a:solidFill>
              <a:srgbClr val="1E7F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274320" y="6089904"/>
            <a:ext cx="50292" cy="658368"/>
          </a:xfrm>
          <a:prstGeom prst="rect">
            <a:avLst/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5" name="TextBox 404"/>
          <p:cNvSpPr txBox="1"/>
          <p:nvPr/>
        </p:nvSpPr>
        <p:spPr>
          <a:xfrm>
            <a:off x="438912" y="6163056"/>
            <a:ext cx="6949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20"/>
              </a:spcAft>
            </a:pPr>
            <a:r>
              <a:rPr sz="940" b="1">
                <a:solidFill>
                  <a:srgbClr val="1E7F4F"/>
                </a:solidFill>
                <a:latin typeface="Microsoft YaHei"/>
              </a:rPr>
              <a:t>定理 2（极大性）：M3′ 的转向集不可能再放宽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19" b="0">
                <a:solidFill>
                  <a:srgbClr val="1F2933"/>
                </a:solidFill>
                <a:latin typeface="Microsoft YaHei"/>
              </a:rPr>
              <a:t>任一被禁的 down→up 转向 (u→v→w) 一旦放开必成环：(v→w) 是 up 通道，可沿 up* 走到 ℓ 最小点、再沿 down* 回到 u，最后经 down 通道 (u→v) 回到起点。实测 48 个根 × 3360 条禁令逐条测试，可加入 0 条。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7498079" y="6163056"/>
            <a:ext cx="4282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20"/>
              </a:spcAft>
            </a:pPr>
            <a:r>
              <a:rPr sz="940" b="1">
                <a:solidFill>
                  <a:srgbClr val="1E7F4F"/>
                </a:solidFill>
                <a:latin typeface="Microsoft YaHei"/>
              </a:rPr>
              <a:t>所以问题只剩一个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19" b="0">
                <a:solidFill>
                  <a:srgbClr val="1F2933"/>
                </a:solidFill>
                <a:latin typeface="Microsoft YaHei"/>
              </a:rPr>
              <a:t>容错已达理论上界、死锁已构造性排除、保序天然成立；唯一的短板是负载不均。下一页：1 VC 下这块短板还能补到什么程度。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0B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91440"/>
            <a:ext cx="11521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M3′ 有超集吗？—— 转向不能再放宽，但选路可以：1 VC 的可行边界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502920"/>
            <a:ext cx="11521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C3CBD4"/>
                </a:solidFill>
                <a:latin typeface="Microsoft YaHei"/>
              </a:rPr>
              <a:t>① 不存在更宽松的 turn model 超集（定理 2）；② 合法集内 min-max 选路是唯一「免费」的超集：峰值 1.41×→1.16× 割界、故障场景轻载 −21%；③ 禁令换位能把峰值压到 1.05× 却因 HOL 更慢 ⇒ 不推荐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932688"/>
            <a:ext cx="11643055" cy="2212848"/>
          </a:xfrm>
          <a:prstGeom prst="roundRect">
            <a:avLst>
              <a:gd name="adj" fmla="val 1652"/>
            </a:avLst>
          </a:prstGeom>
          <a:solidFill>
            <a:srgbClr val="F7F8FA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932688"/>
            <a:ext cx="11643055" cy="274320"/>
          </a:xfrm>
          <a:prstGeom prst="roundRect">
            <a:avLst>
              <a:gd name="adj" fmla="val 13333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32688"/>
            <a:ext cx="50292" cy="274320"/>
          </a:xfrm>
          <a:prstGeom prst="rect">
            <a:avLst/>
          </a:prstGeom>
          <a:solidFill>
            <a:srgbClr val="0B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3" y="960120"/>
            <a:ext cx="1136873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>
                <a:solidFill>
                  <a:srgbClr val="1F2933"/>
                </a:solidFill>
                <a:latin typeface="Microsoft YaHei"/>
              </a:rPr>
              <a:t>① 五层设计空间，硬件同为物理 1 VC，自由参数逐层增加（mk = all-to-all DES makespan, cy）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" y="1243584"/>
            <a:ext cx="11155680" cy="237744"/>
          </a:xfrm>
          <a:prstGeom prst="rect">
            <a:avLst/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243584"/>
            <a:ext cx="197510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20" b="1">
                <a:solidFill>
                  <a:srgbClr val="1F2933"/>
                </a:solidFill>
                <a:latin typeface="Microsoft YaHei"/>
              </a:rPr>
              <a:t>层次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1243584"/>
            <a:ext cx="149961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20" b="1">
                <a:solidFill>
                  <a:srgbClr val="1F2933"/>
                </a:solidFill>
                <a:latin typeface="Microsoft YaHei"/>
              </a:rPr>
              <a:t>自由参数（搜索空间）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936" y="1243584"/>
            <a:ext cx="78638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20" b="1">
                <a:solidFill>
                  <a:srgbClr val="1F2933"/>
                </a:solidFill>
                <a:latin typeface="Microsoft YaHei"/>
              </a:rPr>
              <a:t>无故障 ÷割界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9472" y="1243584"/>
            <a:ext cx="65836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20" b="1">
                <a:solidFill>
                  <a:srgbClr val="1F2933"/>
                </a:solidFill>
                <a:latin typeface="Microsoft YaHei"/>
              </a:rPr>
              <a:t>mk m=1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50992" y="1243584"/>
            <a:ext cx="71323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20" b="1">
                <a:solidFill>
                  <a:srgbClr val="1F2933"/>
                </a:solidFill>
                <a:latin typeface="Microsoft YaHei"/>
              </a:rPr>
              <a:t>mk m=13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1243584"/>
            <a:ext cx="93268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20" b="1">
                <a:solidFill>
                  <a:srgbClr val="1F2933"/>
                </a:solidFill>
                <a:latin typeface="Microsoft YaHei"/>
              </a:rPr>
              <a:t>2洞1断链 ÷割界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5" y="1243584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20" b="1">
                <a:solidFill>
                  <a:srgbClr val="1F2933"/>
                </a:solidFill>
                <a:latin typeface="Microsoft YaHei"/>
              </a:rPr>
              <a:t>mk m=1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1243584"/>
            <a:ext cx="84124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20" b="1">
                <a:solidFill>
                  <a:srgbClr val="1F2933"/>
                </a:solidFill>
                <a:latin typeface="Microsoft YaHei"/>
              </a:rPr>
              <a:t>有洞可用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1243584"/>
            <a:ext cx="234086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20" b="1">
                <a:solidFill>
                  <a:srgbClr val="1F2933"/>
                </a:solidFill>
                <a:latin typeface="Microsoft YaHei"/>
              </a:rPr>
              <a:t>结论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" y="1481328"/>
            <a:ext cx="11155680" cy="2148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" y="1481328"/>
            <a:ext cx="1956816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40" b="1">
                <a:solidFill>
                  <a:srgbClr val="1F2933"/>
                </a:solidFill>
                <a:latin typeface="Microsoft YaHei"/>
              </a:rPr>
              <a:t>L0  XY / Glass–Ni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96312" y="1481328"/>
            <a:ext cx="148132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无：禁令写死在方向上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1481328"/>
            <a:ext cx="768096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1.00×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28616" y="1481328"/>
            <a:ext cx="64008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188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0136" y="1481328"/>
            <a:ext cx="694944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2179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1481328"/>
            <a:ext cx="91440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不可路由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1481328"/>
            <a:ext cx="73152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1481328"/>
            <a:ext cx="82296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0/44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1481328"/>
            <a:ext cx="2322576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最均衡也最快，但零容错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02336" y="1481328"/>
            <a:ext cx="11155680" cy="0"/>
          </a:xfrm>
          <a:prstGeom prst="line">
            <a:avLst/>
          </a:prstGeom>
          <a:ln w="5080">
            <a:solidFill>
              <a:srgbClr val="D9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02336" y="1696212"/>
            <a:ext cx="11155680" cy="214884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" y="1696212"/>
            <a:ext cx="1956816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40" b="1">
                <a:solidFill>
                  <a:srgbClr val="1F2933"/>
                </a:solidFill>
                <a:latin typeface="Microsoft YaHei"/>
              </a:rPr>
              <a:t>L1  M3 Up*/Down*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96312" y="1696212"/>
            <a:ext cx="148132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根 = 度最大点（1 个）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9080" y="1696212"/>
            <a:ext cx="768096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2.33×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28616" y="1696212"/>
            <a:ext cx="64008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348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0136" y="1696212"/>
            <a:ext cx="694944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5303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1696212"/>
            <a:ext cx="91440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2.43×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60" y="1696212"/>
            <a:ext cx="73152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435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1696212"/>
            <a:ext cx="82296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41/44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1696212"/>
            <a:ext cx="2322576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容错满分，最不均衡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02336" y="1696212"/>
            <a:ext cx="11155680" cy="0"/>
          </a:xfrm>
          <a:prstGeom prst="line">
            <a:avLst/>
          </a:prstGeom>
          <a:ln w="5080">
            <a:solidFill>
              <a:srgbClr val="D9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402336" y="1911095"/>
            <a:ext cx="11155680" cy="2148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056" y="1911095"/>
            <a:ext cx="1956816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40" b="1">
                <a:solidFill>
                  <a:srgbClr val="1F2933"/>
                </a:solidFill>
                <a:latin typeface="Microsoft YaHei"/>
              </a:rPr>
              <a:t>L2  M3′ best-root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96312" y="1911095"/>
            <a:ext cx="148132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根（48 个候选）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69080" y="1911095"/>
            <a:ext cx="768096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1.41×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28616" y="1911095"/>
            <a:ext cx="64008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233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0136" y="1911095"/>
            <a:ext cx="694944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4579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1911095"/>
            <a:ext cx="91440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1.93×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52360" y="1911095"/>
            <a:ext cx="73152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370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1911095"/>
            <a:ext cx="82296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41/44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1911095"/>
            <a:ext cx="2322576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现方案，容错满分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02336" y="1911095"/>
            <a:ext cx="11155680" cy="0"/>
          </a:xfrm>
          <a:prstGeom prst="line">
            <a:avLst/>
          </a:prstGeom>
          <a:ln w="5080">
            <a:solidFill>
              <a:srgbClr val="D9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402336" y="2125979"/>
            <a:ext cx="11155680" cy="214884"/>
          </a:xfrm>
          <a:prstGeom prst="rect">
            <a:avLst/>
          </a:prstGeom>
          <a:solidFill>
            <a:srgbClr val="FF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02336" y="2125979"/>
            <a:ext cx="32004" cy="214884"/>
          </a:xfrm>
          <a:prstGeom prst="rect">
            <a:avLst/>
          </a:prstGeom>
          <a:solidFill>
            <a:srgbClr val="0B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8056" y="2125979"/>
            <a:ext cx="1956816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40" b="1">
                <a:solidFill>
                  <a:srgbClr val="1F2933"/>
                </a:solidFill>
                <a:latin typeface="Microsoft YaHei"/>
              </a:rPr>
              <a:t>L3  L2 + min-max 选路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96312" y="2125979"/>
            <a:ext cx="148132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40" b="1">
                <a:solidFill>
                  <a:srgbClr val="1F2933"/>
                </a:solidFill>
                <a:latin typeface="Microsoft YaHei"/>
              </a:rPr>
              <a:t>路径：∏(s,d) 合法路径数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69080" y="2125979"/>
            <a:ext cx="768096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1">
                <a:solidFill>
                  <a:srgbClr val="1F2933"/>
                </a:solidFill>
                <a:latin typeface="Microsoft YaHei"/>
              </a:rPr>
              <a:t>1.16×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28616" y="2125979"/>
            <a:ext cx="64008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1">
                <a:solidFill>
                  <a:srgbClr val="1F2933"/>
                </a:solidFill>
                <a:latin typeface="Microsoft YaHei"/>
              </a:rPr>
              <a:t>233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0136" y="2125979"/>
            <a:ext cx="694944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1">
                <a:solidFill>
                  <a:srgbClr val="1F2933"/>
                </a:solidFill>
                <a:latin typeface="Microsoft YaHei"/>
              </a:rPr>
              <a:t>4561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46520" y="2125979"/>
            <a:ext cx="91440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1">
                <a:solidFill>
                  <a:srgbClr val="1F2933"/>
                </a:solidFill>
                <a:latin typeface="Microsoft YaHei"/>
              </a:rPr>
              <a:t>1.45×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52360" y="2125979"/>
            <a:ext cx="73152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1">
                <a:solidFill>
                  <a:srgbClr val="1F2933"/>
                </a:solidFill>
                <a:latin typeface="Microsoft YaHei"/>
              </a:rPr>
              <a:t>293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75320" y="2125979"/>
            <a:ext cx="82296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1">
                <a:solidFill>
                  <a:srgbClr val="1F2933"/>
                </a:solidFill>
                <a:latin typeface="Microsoft YaHei"/>
              </a:rPr>
              <a:t>41/44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9720" y="2125979"/>
            <a:ext cx="2322576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40" b="1">
                <a:solidFill>
                  <a:srgbClr val="1F2933"/>
                </a:solidFill>
                <a:latin typeface="Microsoft YaHei"/>
              </a:rPr>
              <a:t>✔ 免费，证明一字不改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402336" y="2125979"/>
            <a:ext cx="11155680" cy="0"/>
          </a:xfrm>
          <a:prstGeom prst="line">
            <a:avLst/>
          </a:prstGeom>
          <a:ln w="5080">
            <a:solidFill>
              <a:srgbClr val="D9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402336" y="2340863"/>
            <a:ext cx="11155680" cy="2148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8056" y="2340863"/>
            <a:ext cx="1956816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40" b="1">
                <a:solidFill>
                  <a:srgbClr val="1F2933"/>
                </a:solidFill>
                <a:latin typeface="Microsoft YaHei"/>
              </a:rPr>
              <a:t>L4  L3 + 禁令换位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96312" y="2340863"/>
            <a:ext cx="148132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禁令位置（70 条）：极大无环集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69080" y="2340863"/>
            <a:ext cx="768096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1.05×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28616" y="2340863"/>
            <a:ext cx="64008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245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60136" y="2340863"/>
            <a:ext cx="694944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6392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46520" y="2340863"/>
            <a:ext cx="91440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1.45×（无改进）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52360" y="2340863"/>
            <a:ext cx="73152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320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75320" y="2340863"/>
            <a:ext cx="82296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41/44（兜底）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89720" y="2340863"/>
            <a:ext cx="2322576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✘ 峰值更低，端到端反而更慢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402336" y="2340863"/>
            <a:ext cx="11155680" cy="0"/>
          </a:xfrm>
          <a:prstGeom prst="line">
            <a:avLst/>
          </a:prstGeom>
          <a:ln w="5080">
            <a:solidFill>
              <a:srgbClr val="D9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402336" y="2555747"/>
            <a:ext cx="11155680" cy="214884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8056" y="2555747"/>
            <a:ext cx="1956816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40" b="1">
                <a:solidFill>
                  <a:srgbClr val="1F2933"/>
                </a:solidFill>
                <a:latin typeface="Microsoft YaHei"/>
              </a:rPr>
              <a:t>割界（任何路由的下界）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496312" y="2555747"/>
            <a:ext cx="148132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69080" y="2555747"/>
            <a:ext cx="768096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1.00×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928616" y="2555747"/>
            <a:ext cx="64008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60136" y="2555747"/>
            <a:ext cx="694944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46520" y="2555747"/>
            <a:ext cx="91440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1.00×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52360" y="2555747"/>
            <a:ext cx="73152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75320" y="2555747"/>
            <a:ext cx="822960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89720" y="2555747"/>
            <a:ext cx="2322576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5A6673"/>
                </a:solidFill>
                <a:latin typeface="Microsoft YaHei"/>
              </a:rPr>
              <a:t>XY 达到，但不容错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402336" y="2555747"/>
            <a:ext cx="11155680" cy="0"/>
          </a:xfrm>
          <a:prstGeom prst="line">
            <a:avLst/>
          </a:prstGeom>
          <a:ln w="5080">
            <a:solidFill>
              <a:srgbClr val="D9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402336" y="1243584"/>
            <a:ext cx="11155680" cy="1527047"/>
          </a:xfrm>
          <a:prstGeom prst="rect">
            <a:avLst/>
          </a:prstGeom>
          <a:noFill/>
          <a:ln w="762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274320" y="3291840"/>
            <a:ext cx="3703320" cy="1975104"/>
          </a:xfrm>
          <a:prstGeom prst="roundRect">
            <a:avLst>
              <a:gd name="adj" fmla="val 1851"/>
            </a:avLst>
          </a:prstGeom>
          <a:solidFill>
            <a:srgbClr val="F7F8FA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274320" y="3291840"/>
            <a:ext cx="3703320" cy="274320"/>
          </a:xfrm>
          <a:prstGeom prst="roundRect">
            <a:avLst>
              <a:gd name="adj" fmla="val 13333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74320" y="3291840"/>
            <a:ext cx="50292" cy="274320"/>
          </a:xfrm>
          <a:prstGeom prst="rect">
            <a:avLst/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20623" y="3319272"/>
            <a:ext cx="3429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>
                <a:solidFill>
                  <a:srgbClr val="1F2933"/>
                </a:solidFill>
                <a:latin typeface="Microsoft YaHei"/>
              </a:rPr>
              <a:t>② 为什么没有「更宽松的超集」</a:t>
            </a:r>
          </a:p>
        </p:txBody>
      </p:sp>
      <p:cxnSp>
        <p:nvCxnSpPr>
          <p:cNvPr id="93" name="Connector 92"/>
          <p:cNvCxnSpPr/>
          <p:nvPr/>
        </p:nvCxnSpPr>
        <p:spPr>
          <a:xfrm flipV="1">
            <a:off x="665187" y="3922999"/>
            <a:ext cx="233615" cy="282286"/>
          </a:xfrm>
          <a:prstGeom prst="line">
            <a:avLst/>
          </a:prstGeom>
          <a:ln w="21590">
            <a:solidFill>
              <a:srgbClr val="C872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112877" y="3922999"/>
            <a:ext cx="233615" cy="282286"/>
          </a:xfrm>
          <a:prstGeom prst="line">
            <a:avLst/>
          </a:prstGeom>
          <a:ln w="24130">
            <a:solidFill>
              <a:srgbClr val="C7000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>
            <a:off x="1112877" y="4463958"/>
            <a:ext cx="233615" cy="282286"/>
          </a:xfrm>
          <a:prstGeom prst="line">
            <a:avLst/>
          </a:prstGeom>
          <a:ln w="21590">
            <a:solidFill>
              <a:srgbClr val="0B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 flipV="1">
            <a:off x="665187" y="4463958"/>
            <a:ext cx="233615" cy="282286"/>
          </a:xfrm>
          <a:prstGeom prst="line">
            <a:avLst/>
          </a:prstGeom>
          <a:ln w="21590">
            <a:solidFill>
              <a:srgbClr val="C872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893917" y="3681740"/>
            <a:ext cx="223845" cy="223845"/>
          </a:xfrm>
          <a:prstGeom prst="ellipse">
            <a:avLst/>
          </a:prstGeom>
          <a:solidFill>
            <a:srgbClr val="4E94CC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93917" y="3724270"/>
            <a:ext cx="223845" cy="145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</a:rPr>
              <a:t>v</a:t>
            </a:r>
          </a:p>
        </p:txBody>
      </p:sp>
      <p:sp>
        <p:nvSpPr>
          <p:cNvPr id="99" name="Oval 98"/>
          <p:cNvSpPr/>
          <p:nvPr/>
        </p:nvSpPr>
        <p:spPr>
          <a:xfrm>
            <a:off x="446227" y="4222699"/>
            <a:ext cx="223845" cy="223845"/>
          </a:xfrm>
          <a:prstGeom prst="ellipse">
            <a:avLst/>
          </a:prstGeom>
          <a:solidFill>
            <a:srgbClr val="AFD0EA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46227" y="4265229"/>
            <a:ext cx="223845" cy="145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00" b="1">
                <a:solidFill>
                  <a:srgbClr val="1F2933"/>
                </a:solidFill>
                <a:latin typeface="Microsoft YaHei"/>
              </a:rPr>
              <a:t>u</a:t>
            </a:r>
          </a:p>
        </p:txBody>
      </p:sp>
      <p:sp>
        <p:nvSpPr>
          <p:cNvPr id="101" name="Oval 100"/>
          <p:cNvSpPr/>
          <p:nvPr/>
        </p:nvSpPr>
        <p:spPr>
          <a:xfrm>
            <a:off x="1341607" y="4222699"/>
            <a:ext cx="223845" cy="223845"/>
          </a:xfrm>
          <a:prstGeom prst="ellipse">
            <a:avLst/>
          </a:prstGeom>
          <a:solidFill>
            <a:srgbClr val="AFD0EA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341607" y="4265229"/>
            <a:ext cx="223845" cy="145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00" b="1">
                <a:solidFill>
                  <a:srgbClr val="1F2933"/>
                </a:solidFill>
                <a:latin typeface="Microsoft YaHei"/>
              </a:rPr>
              <a:t>w</a:t>
            </a:r>
          </a:p>
        </p:txBody>
      </p:sp>
      <p:sp>
        <p:nvSpPr>
          <p:cNvPr id="103" name="Oval 102"/>
          <p:cNvSpPr/>
          <p:nvPr/>
        </p:nvSpPr>
        <p:spPr>
          <a:xfrm>
            <a:off x="893917" y="4763658"/>
            <a:ext cx="223845" cy="223845"/>
          </a:xfrm>
          <a:prstGeom prst="ellipse">
            <a:avLst/>
          </a:prstGeom>
          <a:solidFill>
            <a:srgbClr val="DCE7F5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93917" y="4806188"/>
            <a:ext cx="223845" cy="145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00" b="1">
                <a:solidFill>
                  <a:srgbClr val="1F2933"/>
                </a:solidFill>
                <a:latin typeface="Microsoft YaHei"/>
              </a:rPr>
              <a:t>m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1197681" y="3986418"/>
            <a:ext cx="100584" cy="100584"/>
          </a:xfrm>
          <a:prstGeom prst="line">
            <a:avLst/>
          </a:prstGeom>
          <a:ln w="2032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197681" y="3986418"/>
            <a:ext cx="100584" cy="100584"/>
          </a:xfrm>
          <a:prstGeom prst="line">
            <a:avLst/>
          </a:prstGeom>
          <a:ln w="2032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256032" y="5047488"/>
            <a:ext cx="14996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1">
                <a:solidFill>
                  <a:srgbClr val="C7000B"/>
                </a:solidFill>
                <a:latin typeface="Microsoft YaHei"/>
              </a:rPr>
              <a:t>必成环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719072" y="3621024"/>
            <a:ext cx="2148839" cy="1572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880" b="1">
                <a:solidFill>
                  <a:srgbClr val="1E7F4F"/>
                </a:solidFill>
                <a:latin typeface="Microsoft YaHei"/>
              </a:rPr>
              <a:t>定理 2</a:t>
            </a:r>
          </a:p>
          <a:p>
            <a:pPr algn="l">
              <a:lnSpc>
                <a:spcPct val="118000"/>
              </a:lnSpc>
              <a:spcAft>
                <a:spcPts val="220"/>
              </a:spcAft>
            </a:pPr>
            <a:r>
              <a:rPr sz="800" b="0">
                <a:solidFill>
                  <a:srgbClr val="5A6673"/>
                </a:solidFill>
                <a:latin typeface="Microsoft YaHei"/>
              </a:rPr>
              <a:t>左图 ℓ：v=3 &gt; u=w=2 &gt; m=0。放开任意一条 down→up（u→v→w），就能沿「up* 到最低点 m → down* 回 u」把依赖接回起点 ⇒ 必成环。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880" b="1">
                <a:solidFill>
                  <a:srgbClr val="1E7F4F"/>
                </a:solidFill>
                <a:latin typeface="Microsoft YaHei"/>
              </a:rPr>
              <a:t>而且它是「大」的极大集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>
                <a:solidFill>
                  <a:srgbClr val="5A6673"/>
                </a:solidFill>
                <a:latin typeface="Microsoft YaHei"/>
              </a:rPr>
              <a:t>允许 346/416 = 83%；随机生长的极大无环集只有 319–327 条。XY 只允许 276 条却更均衡 ⇒ 均衡度不取决于「留多少转向」，而取决于 70 条禁令放在哪（见 ③④）。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105655" y="3291840"/>
            <a:ext cx="3840480" cy="1975104"/>
          </a:xfrm>
          <a:prstGeom prst="roundRect">
            <a:avLst>
              <a:gd name="adj" fmla="val 1851"/>
            </a:avLst>
          </a:prstGeom>
          <a:solidFill>
            <a:srgbClr val="F7F8FA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4105655" y="3291840"/>
            <a:ext cx="3840480" cy="274320"/>
          </a:xfrm>
          <a:prstGeom prst="roundRect">
            <a:avLst>
              <a:gd name="adj" fmla="val 13333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105655" y="3291840"/>
            <a:ext cx="50292" cy="274320"/>
          </a:xfrm>
          <a:prstGeom prst="rect">
            <a:avLst/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251959" y="3319272"/>
            <a:ext cx="3566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>
                <a:solidFill>
                  <a:srgbClr val="1F2933"/>
                </a:solidFill>
                <a:latin typeface="Microsoft YaHei"/>
              </a:rPr>
              <a:t>③ 唯一免费的超集：L3 min-max 选路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233671" y="3621024"/>
            <a:ext cx="3584448" cy="1572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880" b="1">
                <a:solidFill>
                  <a:srgbClr val="1E7F4F"/>
                </a:solidFill>
                <a:latin typeface="Microsoft YaHei"/>
              </a:rPr>
              <a:t>为什么三条性质一字不改</a:t>
            </a:r>
          </a:p>
          <a:p>
            <a:pPr algn="l">
              <a:lnSpc>
                <a:spcPct val="118000"/>
              </a:lnSpc>
              <a:spcAft>
                <a:spcPts val="220"/>
              </a:spcAft>
            </a:pPr>
            <a:r>
              <a:rPr sz="800" b="0">
                <a:solidFill>
                  <a:srgbClr val="5A6673"/>
                </a:solidFill>
                <a:latin typeface="Microsoft YaHei"/>
              </a:rPr>
              <a:t>它只在 M3′ 已许可的转向集内换路径：CDG 仍是定理 2 那张无环图的子图 ⇒ 无死锁不变；每对仍是唯一静态路径 ⇒ 保序不变；仍取 up*·down* 形状 ⇒ 定理 1 的可达性构造不变、牺牲仍为 0。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880" b="1">
                <a:solidFill>
                  <a:srgbClr val="1E7F4F"/>
                </a:solidFill>
                <a:latin typeface="Microsoft YaHei"/>
              </a:rPr>
              <a:t>做法与收益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>
                <a:solidFill>
                  <a:srgbClr val="5A6673"/>
                </a:solidFill>
                <a:latin typeface="Microsoft YaHei"/>
              </a:rPr>
              <a:t>凸代价 (load+1)³ 的合法 Dijkstra + 拆环重路由，离线约 1 s、表规模不变。峰值 135→111（无故障，1.41×→1.16× 割界）、204→154（2洞1断链，1.93×→1.45×）；故障场景 m=1 makespan 370→293 cy（−21%）。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074152" y="3291840"/>
            <a:ext cx="3840480" cy="1975104"/>
          </a:xfrm>
          <a:prstGeom prst="roundRect">
            <a:avLst>
              <a:gd name="adj" fmla="val 1851"/>
            </a:avLst>
          </a:prstGeom>
          <a:solidFill>
            <a:srgbClr val="F7F8FA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8074152" y="3291840"/>
            <a:ext cx="3840480" cy="274320"/>
          </a:xfrm>
          <a:prstGeom prst="roundRect">
            <a:avLst>
              <a:gd name="adj" fmla="val 13333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074152" y="3291840"/>
            <a:ext cx="50292" cy="274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220456" y="3319272"/>
            <a:ext cx="3566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>
                <a:solidFill>
                  <a:srgbClr val="1F2933"/>
                </a:solidFill>
                <a:latin typeface="Microsoft YaHei"/>
              </a:rPr>
              <a:t>④ 负面结果：更均衡 ≠ 更快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202168" y="3621024"/>
            <a:ext cx="3584448" cy="1572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880" b="1">
                <a:solidFill>
                  <a:srgbClr val="C7000B"/>
                </a:solidFill>
                <a:latin typeface="Microsoft YaHei"/>
              </a:rPr>
              <a:t>三个独立方案都出现同一现象</a:t>
            </a:r>
          </a:p>
          <a:p>
            <a:pPr algn="l">
              <a:lnSpc>
                <a:spcPct val="118000"/>
              </a:lnSpc>
              <a:spcAft>
                <a:spcPts val="220"/>
              </a:spcAft>
            </a:pPr>
            <a:r>
              <a:rPr sz="800" b="0">
                <a:solidFill>
                  <a:srgbClr val="5A6673"/>
                </a:solidFill>
                <a:latin typeface="Microsoft YaHei"/>
              </a:rPr>
              <a:t>L4 禁令换位：峰值 111→101（1.05× 割界，最接近下界），但 m=13 makespan 6392 cy，比 L3 的 4561 cy 慢 40%。west-first：峰值 98（1.02×）却 5858 cy。XY-seeded 极大集：峰值 97 却 3320 cy，仍比纯 XY 慢 52%。</a:t>
            </a:r>
          </a:p>
          <a:p>
            <a:pPr algn="l">
              <a:lnSpc>
                <a:spcPct val="118000"/>
              </a:lnSpc>
              <a:spcAft>
                <a:spcPts val="220"/>
              </a:spcAft>
            </a:pPr>
            <a:r>
              <a:rPr sz="800" b="0">
                <a:solidFill>
                  <a:srgbClr val="1F2933"/>
                </a:solidFill>
                <a:latin typeface="Microsoft YaHei"/>
              </a:rPr>
              <a:t>机理：单 VC 共享 FIFO，转向自由度越大、流交织越多，HOL 阻塞越重；峰值链路负载只是必要条件，不是充分指标 ⇒ 「均衡度」不能单独当目标函数。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>
                <a:solidFill>
                  <a:srgbClr val="C87209"/>
                </a:solidFill>
                <a:latin typeface="Microsoft YaHei"/>
              </a:rPr>
              <a:t>而且最均衡的放法恰恰不容错：XY 型禁令在有洞残图上直接不可路由，定向补转向恢复可达也失败 ⇒ 1 VC 下均衡与容错存在实测张力。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74320" y="5413248"/>
            <a:ext cx="6729984" cy="1188720"/>
          </a:xfrm>
          <a:prstGeom prst="roundRect">
            <a:avLst>
              <a:gd name="adj" fmla="val 3076"/>
            </a:avLst>
          </a:prstGeom>
          <a:solidFill>
            <a:srgbClr val="F7F8FA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274320" y="5413248"/>
            <a:ext cx="6729984" cy="256032"/>
          </a:xfrm>
          <a:prstGeom prst="roundRect">
            <a:avLst>
              <a:gd name="adj" fmla="val 14285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274320" y="5413248"/>
            <a:ext cx="50292" cy="256032"/>
          </a:xfrm>
          <a:prstGeom prst="rect">
            <a:avLst/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20623" y="5440680"/>
            <a:ext cx="645566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>
                <a:solidFill>
                  <a:srgbClr val="1F2933"/>
                </a:solidFill>
                <a:latin typeface="Microsoft YaHei"/>
              </a:rPr>
              <a:t>⑤ 结论与落地建议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02336" y="5705856"/>
            <a:ext cx="649224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819" b="0">
                <a:solidFill>
                  <a:srgbClr val="1F2933"/>
                </a:solidFill>
                <a:latin typeface="Microsoft YaHei"/>
              </a:rPr>
              <a:t>① 上 L3（M3′ + min-max 选路）：零硬件改动、表规模不变、离线 1 s，峰值 −18%、故障场景轻载 −21%，三条证明一字不改 —— 没有理由不做。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819" b="0">
                <a:solidFill>
                  <a:srgbClr val="1F2933"/>
                </a:solidFill>
                <a:latin typeface="Microsoft YaHei"/>
              </a:rPr>
              <a:t>② 不上 L4：峰值虽再降 9% 到 1.05× 割界（已接近 XY），但重载 makespan 反而 +40%，且每个故障图都要重跑数分钟离线搜索 —— 收益为负。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19" b="0">
                <a:solidFill>
                  <a:srgbClr val="1F2933"/>
                </a:solidFill>
                <a:latin typeface="Microsoft YaHei"/>
              </a:rPr>
              <a:t>③ 想真正提升重载吞吐，1 VC 已到边界：只能加 VC（2 VC 的 LASH / Dual-UD）或时间分批（BB UD policy）—— 即报告里的 B / C 类方案。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7132320" y="5413248"/>
            <a:ext cx="4785055" cy="1188720"/>
          </a:xfrm>
          <a:prstGeom prst="roundRect">
            <a:avLst>
              <a:gd name="adj" fmla="val 3076"/>
            </a:avLst>
          </a:prstGeom>
          <a:solidFill>
            <a:srgbClr val="F7F8FA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7132320" y="5413248"/>
            <a:ext cx="4785055" cy="256032"/>
          </a:xfrm>
          <a:prstGeom prst="roundRect">
            <a:avLst>
              <a:gd name="adj" fmla="val 14285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132320" y="5413248"/>
            <a:ext cx="50292" cy="256032"/>
          </a:xfrm>
          <a:prstGeom prst="rect">
            <a:avLst/>
          </a:prstGeom>
          <a:solidFill>
            <a:srgbClr val="5A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78624" y="5440680"/>
            <a:ext cx="4510735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>
                <a:solidFill>
                  <a:srgbClr val="1F2933"/>
                </a:solidFill>
                <a:latin typeface="Microsoft YaHei"/>
              </a:rPr>
              <a:t>⑥ 出处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260336" y="5705856"/>
            <a:ext cx="4529023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800" b="0">
                <a:solidFill>
                  <a:srgbClr val="5A6673"/>
                </a:solidFill>
                <a:latin typeface="Microsoft YaHei"/>
              </a:rPr>
              <a:t>Up*/Down* 原始出处：Schroeder 等，Autonet，IEEE JSAC 9(8), 1991。无环 CDG 判据：Dally &amp; Seitz，IEEE TC C-36(5), 1987。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>
                <a:solidFill>
                  <a:srgbClr val="5A6673"/>
                </a:solidFill>
                <a:latin typeface="Microsoft YaHei"/>
              </a:rPr>
              <a:t>「禁令放哪」的系统性方法：Mejía 等，Segment-based Routing，IPDPS 2006；Starobinski 等，Turn Prohibition，IEEE/ACM ToN 11(3), 2003；DFS 建树的 up*/down*：Sancho 等，Euro-Par 2000。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