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56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Up*/Down*：容错的严格证明 · 同一残图上的负载热点对比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同一 partial good 下：XY 须牺牲 22/46 好节点才可路由；M3′ 零牺牲，代价是峰值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链路负载热点（物理 1 VC）：后三幅为同一 partial good 场景，四幅各按自身割界归一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参照：XY，无故障 48 节点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峰值 96 = 1.00× 割界（最均衡）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但零容错：44 场景 0 次零牺牲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XY，同一残图（牺牲后）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4457981" y="1391560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4782979" y="1391560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4457981" y="1603468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4782979" y="1603468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3482989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3807986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4132984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5107977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5432974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5757972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4457981" y="2027285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4782979" y="2027285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3482989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3807986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4132984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4457981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4782979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5107977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5432974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5757972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4457981" y="2451102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4782979" y="2451102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空心 = 被牺牲的好节点，仅 24/46 参与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36 = 1.24× 子网割界 29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(7,5)；46 个好节点全参与、牺牲 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 106（向根聚拢）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同一转向集内换路径，牺牲仍为 0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(1,4)–(2,4)，空心圆 = 被牺牲的好节点，★ = 根。M3′ 最热 10 条链路中 1 条落在根的 ≤2 跳邻域内。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803904"/>
            <a:ext cx="7406640" cy="1847088"/>
          </a:xfrm>
          <a:prstGeom prst="roundRect">
            <a:avLst>
              <a:gd name="adj" fmla="val 1980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3" name="Rounded Rectangle 592"/>
          <p:cNvSpPr/>
          <p:nvPr/>
        </p:nvSpPr>
        <p:spPr>
          <a:xfrm>
            <a:off x="274320" y="3803904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4" name="Rectangle 593"/>
          <p:cNvSpPr/>
          <p:nvPr/>
        </p:nvSpPr>
        <p:spPr>
          <a:xfrm>
            <a:off x="274320" y="380390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5" name="TextBox 594"/>
          <p:cNvSpPr txBox="1"/>
          <p:nvPr/>
        </p:nvSpPr>
        <p:spPr>
          <a:xfrm>
            <a:off x="420623" y="3831336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负载不均的定量代价（物理 1 VC）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114800"/>
            <a:ext cx="649224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7" name="TextBox 596"/>
          <p:cNvSpPr txBox="1"/>
          <p:nvPr/>
        </p:nvSpPr>
        <p:spPr>
          <a:xfrm>
            <a:off x="420623" y="4114800"/>
            <a:ext cx="16276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方案 / 场景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2121408" y="4114800"/>
            <a:ext cx="60350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2798064" y="4114800"/>
            <a:ext cx="7132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峰值链路负载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584448" y="4114800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151376" y="4114800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626864" y="4114800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358383" y="4114800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6089903" y="4114800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5" name="Rectangle 604"/>
          <p:cNvSpPr/>
          <p:nvPr/>
        </p:nvSpPr>
        <p:spPr>
          <a:xfrm>
            <a:off x="384048" y="4352544"/>
            <a:ext cx="64922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6" name="TextBox 605"/>
          <p:cNvSpPr txBox="1"/>
          <p:nvPr/>
        </p:nvSpPr>
        <p:spPr>
          <a:xfrm>
            <a:off x="429768" y="4352544"/>
            <a:ext cx="16093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2130552" y="4352544"/>
            <a:ext cx="5852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807208" y="4352544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593592" y="4352544"/>
            <a:ext cx="47548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4160520" y="4352544"/>
            <a:ext cx="38404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636007" y="4352544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 cy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5367527" y="4352544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 cy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6099047" y="4352544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4" name="Connector 613"/>
          <p:cNvCxnSpPr/>
          <p:nvPr/>
        </p:nvCxnSpPr>
        <p:spPr>
          <a:xfrm>
            <a:off x="384048" y="4352544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5" name="Rectangle 614"/>
          <p:cNvSpPr/>
          <p:nvPr/>
        </p:nvSpPr>
        <p:spPr>
          <a:xfrm>
            <a:off x="384048" y="4567428"/>
            <a:ext cx="649224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6" name="TextBox 615"/>
          <p:cNvSpPr txBox="1"/>
          <p:nvPr/>
        </p:nvSpPr>
        <p:spPr>
          <a:xfrm>
            <a:off x="429768" y="4567428"/>
            <a:ext cx="16093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M3′，无故障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2130552" y="4567428"/>
            <a:ext cx="5852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2807208" y="4567428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135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3593592" y="4567428"/>
            <a:ext cx="47548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4160520" y="4567428"/>
            <a:ext cx="38404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0.47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4636007" y="4567428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 cy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5367527" y="4567428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 cy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6099047" y="4567428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24" name="Connector 623"/>
          <p:cNvCxnSpPr/>
          <p:nvPr/>
        </p:nvCxnSpPr>
        <p:spPr>
          <a:xfrm>
            <a:off x="384048" y="4567428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Rectangle 624"/>
          <p:cNvSpPr/>
          <p:nvPr/>
        </p:nvSpPr>
        <p:spPr>
          <a:xfrm>
            <a:off x="384048" y="4782312"/>
            <a:ext cx="64922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26" name="TextBox 625"/>
          <p:cNvSpPr txBox="1"/>
          <p:nvPr/>
        </p:nvSpPr>
        <p:spPr>
          <a:xfrm>
            <a:off x="429768" y="4782312"/>
            <a:ext cx="16093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XY，同一残图（牺牲后）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30552" y="4782312"/>
            <a:ext cx="5852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24/46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2807208" y="4782312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36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3593592" y="4782312"/>
            <a:ext cx="47548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1.24×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4160520" y="4782312"/>
            <a:ext cx="38404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0.61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4636007" y="4782312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5367527" y="4782312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6099047" y="4782312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cxnSp>
        <p:nvCxnSpPr>
          <p:cNvPr id="634" name="Connector 633"/>
          <p:cNvCxnSpPr/>
          <p:nvPr/>
        </p:nvCxnSpPr>
        <p:spPr>
          <a:xfrm>
            <a:off x="384048" y="4782312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5" name="Rectangle 634"/>
          <p:cNvSpPr/>
          <p:nvPr/>
        </p:nvSpPr>
        <p:spPr>
          <a:xfrm>
            <a:off x="384048" y="4997196"/>
            <a:ext cx="649224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36" name="TextBox 635"/>
          <p:cNvSpPr txBox="1"/>
          <p:nvPr/>
        </p:nvSpPr>
        <p:spPr>
          <a:xfrm>
            <a:off x="429768" y="4997196"/>
            <a:ext cx="16093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M3′，同一残图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2130552" y="4997196"/>
            <a:ext cx="5852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2807208" y="4997196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3593592" y="4997196"/>
            <a:ext cx="47548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4160520" y="4997196"/>
            <a:ext cx="38404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4636007" y="4997196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 cy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5367527" y="4997196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6452 cy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6099047" y="4997196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44" name="Connector 643"/>
          <p:cNvCxnSpPr/>
          <p:nvPr/>
        </p:nvCxnSpPr>
        <p:spPr>
          <a:xfrm>
            <a:off x="384048" y="4997196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5" name="Rectangle 644"/>
          <p:cNvSpPr/>
          <p:nvPr/>
        </p:nvSpPr>
        <p:spPr>
          <a:xfrm>
            <a:off x="384048" y="5212080"/>
            <a:ext cx="649224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6" name="Rectangle 645"/>
          <p:cNvSpPr/>
          <p:nvPr/>
        </p:nvSpPr>
        <p:spPr>
          <a:xfrm>
            <a:off x="384048" y="5212080"/>
            <a:ext cx="32004" cy="214884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7" name="TextBox 646"/>
          <p:cNvSpPr txBox="1"/>
          <p:nvPr/>
        </p:nvSpPr>
        <p:spPr>
          <a:xfrm>
            <a:off x="429768" y="5212080"/>
            <a:ext cx="16093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M3′ + min-max，同一残图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2130552" y="5212080"/>
            <a:ext cx="5852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2807208" y="5212080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3593592" y="5212080"/>
            <a:ext cx="47548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4160520" y="5212080"/>
            <a:ext cx="38404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4636007" y="5212080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 cy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5367527" y="5212080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6392 cy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6099047" y="5212080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55" name="Connector 654"/>
          <p:cNvCxnSpPr/>
          <p:nvPr/>
        </p:nvCxnSpPr>
        <p:spPr>
          <a:xfrm>
            <a:off x="384048" y="5212080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6" name="Rectangle 655"/>
          <p:cNvSpPr/>
          <p:nvPr/>
        </p:nvSpPr>
        <p:spPr>
          <a:xfrm>
            <a:off x="384048" y="5426964"/>
            <a:ext cx="649224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57" name="TextBox 656"/>
          <p:cNvSpPr txBox="1"/>
          <p:nvPr/>
        </p:nvSpPr>
        <p:spPr>
          <a:xfrm>
            <a:off x="429768" y="5426964"/>
            <a:ext cx="16093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割界：无故障 96 / 残图 106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2130552" y="5426964"/>
            <a:ext cx="5852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2807208" y="5426964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3593592" y="5426964"/>
            <a:ext cx="47548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4160520" y="5426964"/>
            <a:ext cx="38404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4636007" y="5426964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5367527" y="5426964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6099047" y="5426964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cxnSp>
        <p:nvCxnSpPr>
          <p:cNvPr id="665" name="Connector 664"/>
          <p:cNvCxnSpPr/>
          <p:nvPr/>
        </p:nvCxnSpPr>
        <p:spPr>
          <a:xfrm>
            <a:off x="384048" y="5426964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6" name="Rectangle 665"/>
          <p:cNvSpPr/>
          <p:nvPr/>
        </p:nvSpPr>
        <p:spPr>
          <a:xfrm>
            <a:off x="384048" y="4114800"/>
            <a:ext cx="6492240" cy="1527048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7" name="Rounded Rectangle 666"/>
          <p:cNvSpPr/>
          <p:nvPr/>
        </p:nvSpPr>
        <p:spPr>
          <a:xfrm>
            <a:off x="7827264" y="3803904"/>
            <a:ext cx="4090111" cy="1847088"/>
          </a:xfrm>
          <a:prstGeom prst="roundRect">
            <a:avLst>
              <a:gd name="adj" fmla="val 1980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8" name="Rounded Rectangle 667"/>
          <p:cNvSpPr/>
          <p:nvPr/>
        </p:nvSpPr>
        <p:spPr>
          <a:xfrm>
            <a:off x="7827264" y="3803904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9" name="Rectangle 668"/>
          <p:cNvSpPr/>
          <p:nvPr/>
        </p:nvSpPr>
        <p:spPr>
          <a:xfrm>
            <a:off x="7827264" y="3803904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0" name="TextBox 669"/>
          <p:cNvSpPr txBox="1"/>
          <p:nvPr/>
        </p:nvSpPr>
        <p:spPr>
          <a:xfrm>
            <a:off x="7973568" y="3831336"/>
            <a:ext cx="381579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7955280" y="4133088"/>
            <a:ext cx="3834079" cy="10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60" b="1" dirty="0">
                <a:solidFill>
                  <a:srgbClr val="0B6BA8"/>
                </a:solidFill>
                <a:latin typeface="Microsoft YaHei"/>
              </a:rPr>
              <a:t>XY </a:t>
            </a:r>
            <a:r>
              <a:rPr sz="860" b="1" dirty="0" err="1">
                <a:solidFill>
                  <a:srgbClr val="0B6BA8"/>
                </a:solidFill>
                <a:latin typeface="Microsoft YaHei"/>
              </a:rPr>
              <a:t>的「均衡」是牺牲换来的</a:t>
            </a:r>
            <a:r>
              <a:rPr sz="860" b="1" dirty="0">
                <a:solidFill>
                  <a:srgbClr val="0B6BA8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19" b="0" dirty="0" err="1">
                <a:solidFill>
                  <a:srgbClr val="5A6673"/>
                </a:solidFill>
                <a:latin typeface="Microsoft YaHei"/>
              </a:rPr>
              <a:t>同一残图上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XY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必须丢掉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22/46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个好节点（整列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3、4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与整行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2、4）才有完整 L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形路径，剩下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24 个节点、552 对流量；M3′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一个不丢。两者峰值不可直接比，只能各自比自己的割界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60" b="1" dirty="0">
                <a:solidFill>
                  <a:srgbClr val="C7000B"/>
                </a:solidFill>
                <a:latin typeface="Microsoft YaHei"/>
              </a:rPr>
              <a:t>M3′ </a:t>
            </a:r>
            <a:r>
              <a:rPr sz="860" b="1" dirty="0" err="1">
                <a:solidFill>
                  <a:srgbClr val="C7000B"/>
                </a:solidFill>
                <a:latin typeface="Microsoft YaHei"/>
              </a:rPr>
              <a:t>的代价是选路集中</a:t>
            </a:r>
            <a:r>
              <a:rPr sz="860" b="1" dirty="0">
                <a:solidFill>
                  <a:srgbClr val="C7000B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 dirty="0" err="1">
                <a:solidFill>
                  <a:srgbClr val="5A6673"/>
                </a:solidFill>
                <a:latin typeface="Microsoft YaHei"/>
              </a:rPr>
              <a:t>无故障时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M3′ 与 XY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总跳数都是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 10528、平均 4.67 跳 ⇒ 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不均衡纯粹来自「同一最短路集合里怎么挑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」，</a:t>
            </a:r>
            <a:r>
              <a:rPr sz="819" b="0" dirty="0" err="1">
                <a:solidFill>
                  <a:srgbClr val="5A6673"/>
                </a:solidFill>
                <a:latin typeface="Microsoft YaHei"/>
              </a:rPr>
              <a:t>因此换选路就能免费改善</a:t>
            </a:r>
            <a:r>
              <a:rPr sz="819" b="0" dirty="0">
                <a:solidFill>
                  <a:srgbClr val="5A6673"/>
                </a:solidFill>
                <a:latin typeface="Microsoft YaHei"/>
              </a:rPr>
              <a:t>。</a:t>
            </a:r>
          </a:p>
        </p:txBody>
      </p:sp>
      <p:sp>
        <p:nvSpPr>
          <p:cNvPr id="672" name="Rounded Rectangle 671"/>
          <p:cNvSpPr/>
          <p:nvPr/>
        </p:nvSpPr>
        <p:spPr>
          <a:xfrm>
            <a:off x="274320" y="5724144"/>
            <a:ext cx="11643055" cy="950976"/>
          </a:xfrm>
          <a:prstGeom prst="roundRect">
            <a:avLst>
              <a:gd name="adj" fmla="val 3846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3" name="Rectangle 672"/>
          <p:cNvSpPr/>
          <p:nvPr/>
        </p:nvSpPr>
        <p:spPr>
          <a:xfrm>
            <a:off x="274320" y="5724144"/>
            <a:ext cx="50292" cy="95097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4" name="TextBox 673"/>
          <p:cNvSpPr txBox="1"/>
          <p:nvPr/>
        </p:nvSpPr>
        <p:spPr>
          <a:xfrm>
            <a:off x="438912" y="5815583"/>
            <a:ext cx="5577840" cy="468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 dirty="0">
                <a:solidFill>
                  <a:srgbClr val="1E7F4F"/>
                </a:solidFill>
                <a:latin typeface="Microsoft YaHei"/>
              </a:rPr>
              <a:t>实测校核（44 </a:t>
            </a:r>
            <a:r>
              <a:rPr sz="940" b="1" dirty="0" err="1">
                <a:solidFill>
                  <a:srgbClr val="1E7F4F"/>
                </a:solidFill>
                <a:latin typeface="Microsoft YaHei"/>
              </a:rPr>
              <a:t>场景</a:t>
            </a:r>
            <a:r>
              <a:rPr sz="940" b="1" dirty="0">
                <a:solidFill>
                  <a:srgbClr val="1E7F4F"/>
                </a:solidFill>
                <a:latin typeface="Microsoft YaHei"/>
              </a:rPr>
              <a:t>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 dirty="0">
                <a:solidFill>
                  <a:srgbClr val="1F2933"/>
                </a:solidFill>
                <a:latin typeface="Microsoft YaHei"/>
              </a:rPr>
              <a:t>41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个残图连通的场景全部零牺牲、CDG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成环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0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例、反例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0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个；余下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3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个场景残图本身断开（分别孤立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1/2/1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个好节点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），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牺牲量等于信息论下界。同批场景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XY </a:t>
            </a:r>
            <a:r>
              <a:rPr lang="zh-CN" altLang="en-US" sz="819" dirty="0">
                <a:solidFill>
                  <a:srgbClr val="1F2933"/>
                </a:solidFill>
                <a:latin typeface="Microsoft YaHei"/>
              </a:rPr>
              <a:t>每个场景都牺牲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0/44。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6217920" y="5815583"/>
            <a:ext cx="3017520" cy="468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lang="zh-CN" altLang="en-US" sz="940" b="1" dirty="0">
                <a:solidFill>
                  <a:srgbClr val="1E7F4F"/>
                </a:solidFill>
                <a:latin typeface="Microsoft YaHei"/>
              </a:rPr>
              <a:t>转向集</a:t>
            </a:r>
            <a:r>
              <a:rPr sz="940" b="1" dirty="0" err="1">
                <a:solidFill>
                  <a:srgbClr val="1E7F4F"/>
                </a:solidFill>
                <a:latin typeface="Microsoft YaHei"/>
              </a:rPr>
              <a:t>极大性</a:t>
            </a:r>
            <a:endParaRPr sz="940" b="1" dirty="0">
              <a:solidFill>
                <a:srgbClr val="1E7F4F"/>
              </a:solidFill>
              <a:latin typeface="Microsoft YaHei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 dirty="0" err="1">
                <a:solidFill>
                  <a:srgbClr val="1F2933"/>
                </a:solidFill>
                <a:latin typeface="Microsoft YaHei"/>
              </a:rPr>
              <a:t>任一被禁的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down→up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一旦放开必成环；实测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48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个根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× 3360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条禁令逐条测试，可加入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0 条。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9418320" y="5815583"/>
            <a:ext cx="2361895" cy="468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 dirty="0" err="1">
                <a:solidFill>
                  <a:srgbClr val="1E7F4F"/>
                </a:solidFill>
                <a:latin typeface="Microsoft YaHei"/>
              </a:rPr>
              <a:t>下一页</a:t>
            </a:r>
            <a:endParaRPr sz="940" b="1" dirty="0">
              <a:solidFill>
                <a:srgbClr val="1E7F4F"/>
              </a:solidFill>
              <a:latin typeface="Microsoft YaHei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 dirty="0" err="1">
                <a:solidFill>
                  <a:srgbClr val="1F2933"/>
                </a:solidFill>
                <a:latin typeface="Microsoft YaHei"/>
              </a:rPr>
              <a:t>符号定义与逐步推导（含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Φ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势能沿真实路径的实测校核）见第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3 页；1 VC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的可行边界见第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4 页。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350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zh-CN" alt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可连通图的容错证明与转向集已极大的证明</a:t>
            </a:r>
            <a:r>
              <a:rPr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sz="21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每个符号的定义与逐步推导</a:t>
            </a:r>
            <a:endParaRPr sz="21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全部符号只有四个：残图 G′、根 r、高度 ℓ(v)、通道势能 Φ(c)。定理 1 用它们证「表一定建得出 + 无死锁」，定理 2 用它们证「转向集不能再放宽」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393192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39319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全部符号（本例：8×6，2 洞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225296"/>
            <a:ext cx="3675887" cy="2670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mesh：|V|=48，|E|=82，即 164 条有向通道。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 = 死 router ∪ 断链（本例 2 router + 1 link）。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删去 F 及其附属链路后的存活图（|V′|=46，|E′|=74）。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 = BFS 源点，由 best-root 枚举挑出（本例 (7,5)）。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 = G′ 上 r 到 v 的 BFS 跳数，ℓ(r)=0（本例 0…12）。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有向通道 (u→v)：ℓ(v)=ℓ(u)−1 记 up（朝根）、ℓ(v)=ℓ(u)+1 记 down（离根）。mesh 按 x+y 二分 ⇒ 不存在 ℓ 相等的边。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(u→v→w)　转向 = 两条首尾相接的有向通道，本例共 344 个。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CDG D=(C,A)　通道依赖图：点 = 有向通道（|C|=148），边 = 被同一条路径连续使用的转向。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Φ(c)　通道势能：up 记 (0,−ℓ(v))、down 记 (1,+ℓ(v))，按字典序比较（实例见 ④）。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S　牺牲集 = 为建表而放弃的好节点，M3′ 在连通残图上恒有 S=∅。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5" y="914400"/>
            <a:ext cx="393192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34255" y="914400"/>
            <a:ext cx="39319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5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59" y="94183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1：连通 ⇒ 零牺牲 + 无死锁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225296"/>
            <a:ext cx="3694176" cy="2670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810" b="1">
                <a:solidFill>
                  <a:srgbClr val="1E7F4F"/>
                </a:solidFill>
                <a:latin typeface="Microsoft YaHei"/>
              </a:rPr>
              <a:t>陈述　∀F：G′ 连通 ⇔ 存在覆盖全部 (s,d) 的合法表且 S=∅。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（⇐ 显然：G′ 不连通时跨分量物理不可达，任何路由都得牺牲。下证 ⇒）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定义 ℓ　G′ 连通 ⇒ 从 r 做 BFS，每个 v 得到有限 ℓ(v)=dist(r,v)，且每个 v≠r 至少有一个邻居 u 满足 ℓ(u)=ℓ(v)−1（父节点）。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构造路径　从 s 沿父链升到 r（全 up），再沿 d 的父链降到 d（全 down），拼成 up*·down*，长度 ≤ ℓ(s)+ℓ(d) ⇒ 每对都有合法路径，表必然建成、S=∅。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合法衔接仅三种，且都严格增大 Φ：up→up（(0,−ℓ) 增大）、up→down（首位 0→1）、down→down（(1,+ℓ) 增大）；被禁的 down→up 恰是唯一降 Φ 的衔接。故 CDG 每条边升 Φ ⇒ 有限点集上无环 ⇒ 按 Dally–Seitz 判据，1 个 VC 即无死锁。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唯一静态路径 + 单 VC 不换道 + 每跳 FIFO ⇒ flit 不可能乱序。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 r 无关　1–4 对任意 r∈V′ 成立 ⇒ 48 个候选根全部合法；best-root 只在合法解里挑峰值最小者，不会返回空。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94192" y="914400"/>
            <a:ext cx="3523183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94192" y="914400"/>
            <a:ext cx="3523183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94192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0496" y="941832"/>
            <a:ext cx="32488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定理 2：转向集已极大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1225296"/>
            <a:ext cx="3285439" cy="2670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810" b="1">
                <a:solidFill>
                  <a:srgbClr val="C7000B"/>
                </a:solidFill>
                <a:latin typeface="Microsoft YaHei"/>
              </a:rPr>
              <a:t>陈述　设 T_UD = 全部 up→up / up→down / down→down 转向。则任取 t ∉ T_UD（即任一 down→up），T_UD ∪ {t} 的 CDG 必含环。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证明　记 t=(u→v→w)，按定义 (u→v) 是 down、(v→w) 是 up。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从通道 (v→w) 出发（ℓ(w)=ℓ(v)−1），继续沿父链 up，有限步必达 r（ℓ=0）；这些衔接都是 up→up ∈ T_UD。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② 在 r 处拐头，沿 u 的父链下行到 u，每跳 ℓ+1。首次衔接是 up→down、其后都是 down→down，全 ∈ T_UD。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③ 于是抵达通道 (·→u)，再走 (u→v)（down→down ∈ T_UD），最后用新放开的 t 从 (u→v) 接回 (v→w) —— 回到起点，环成立（证毕）。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一句话版　T_UD 每条边都升 Φ，t 是唯一降 Φ 的衔接；加入任何降势边，都能与升势路径接成回路。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C7000B"/>
                </a:solidFill>
                <a:latin typeface="Microsoft YaHei"/>
              </a:rPr>
              <a:t>实测：48 个根 × 共 3360 条禁令逐条放开测试，可加入 0 条。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059936"/>
            <a:ext cx="7223760" cy="1719072"/>
          </a:xfrm>
          <a:prstGeom prst="roundRect">
            <a:avLst>
              <a:gd name="adj" fmla="val 2127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4320" y="4059936"/>
            <a:ext cx="722376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4059936"/>
            <a:ext cx="50292" cy="256032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0623" y="4087368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实例校核：真实表里的 (0,0)→(3,4)，Φ 逐跳严格递增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550516" y="5274036"/>
            <a:ext cx="136776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44087" y="5059152"/>
            <a:ext cx="136775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137657" y="4844268"/>
            <a:ext cx="136776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431228" y="4629384"/>
            <a:ext cx="136775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724798" y="4629384"/>
            <a:ext cx="136776" cy="100115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18369" y="4844268"/>
            <a:ext cx="136775" cy="100115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11939" y="5059152"/>
            <a:ext cx="136776" cy="100115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94395" y="5353812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94395" y="538023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687965" y="5138928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7965" y="5165354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7" name="Oval 36"/>
          <p:cNvSpPr/>
          <p:nvPr/>
        </p:nvSpPr>
        <p:spPr>
          <a:xfrm>
            <a:off x="981536" y="492404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1536" y="495047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39" name="Oval 38"/>
          <p:cNvSpPr/>
          <p:nvPr/>
        </p:nvSpPr>
        <p:spPr>
          <a:xfrm>
            <a:off x="1275106" y="470916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75106" y="4735586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1568677" y="4494276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568677" y="452070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43" name="Oval 42"/>
          <p:cNvSpPr/>
          <p:nvPr/>
        </p:nvSpPr>
        <p:spPr>
          <a:xfrm>
            <a:off x="1862247" y="470916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862247" y="4735586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5" name="Oval 44"/>
          <p:cNvSpPr/>
          <p:nvPr/>
        </p:nvSpPr>
        <p:spPr>
          <a:xfrm>
            <a:off x="2155818" y="492404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55818" y="495047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2449388" y="5138928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449388" y="5165354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" y="5468112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99616" y="5468112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24912" y="4352544"/>
            <a:ext cx="4261104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61488" y="435254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通道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59936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53712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47488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41264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28816" y="4352544"/>
            <a:ext cx="42062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24912" y="4553712"/>
            <a:ext cx="4261104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70632" y="4553712"/>
            <a:ext cx="71323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75303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56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56632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44184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7960" y="4553712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724912" y="4553712"/>
            <a:ext cx="4261104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724912" y="4773168"/>
            <a:ext cx="4261104" cy="2194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70632" y="4773168"/>
            <a:ext cx="71323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ℓ 变化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5303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62856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56632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44184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4773168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724912" y="4773168"/>
            <a:ext cx="4261104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724912" y="4992624"/>
            <a:ext cx="4261104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770632" y="4992624"/>
            <a:ext cx="71323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Φ(c)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75303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(0,-4)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9080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(0,-3)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62856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56632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50408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(1,+2)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44184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(1,+3)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7960" y="4992624"/>
            <a:ext cx="4023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(1,+4)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724912" y="4992624"/>
            <a:ext cx="4261104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724912" y="4352544"/>
            <a:ext cx="4261104" cy="859536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2724912" y="5248656"/>
            <a:ext cx="47000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Φ 按字典序严格递增（代码断言 strict=True）：(0,-4) &lt; (0,-3) &lt; (0,-2) &lt; (0,-1) &lt; …。转折点在 ℓ=1、并未爬到根 ⇒ up*·down* 不要求「必须经过根」，定理 1 第 2 步只是给出一条存在性路径。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626096" y="4059936"/>
            <a:ext cx="4291279" cy="1719072"/>
          </a:xfrm>
          <a:prstGeom prst="roundRect">
            <a:avLst>
              <a:gd name="adj" fmla="val 2127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7626096" y="4059936"/>
            <a:ext cx="429127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7626096" y="4059936"/>
            <a:ext cx="50292" cy="256032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772400" y="4087368"/>
            <a:ext cx="4016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三个容易读错的地方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44968" y="4352544"/>
            <a:ext cx="405353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极大 ≠ 最大（maximal ≠ maximum）：定理 2 只说不能再单独加一条。别的极大无环集依然存在，大小 319–327 条不等（M3′ 是 346 条）—— 这正是第 4 页 L4「换位」的搜索空间。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② ℓ 是无权跳数，不是线延迟：它只用来定序、保证 CDG 无环；真实 H=7 / V=9 cy 的线延迟只影响端到端时间，不影响两条定理。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③ 零牺牲 ≠ 零性能损失：定理 1 只保证「连通即可达」，负载均衡完全不在结论里 —— 那正是第 2 页热点图与第 4 页要处理的问题。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5870448"/>
            <a:ext cx="11643055" cy="804672"/>
          </a:xfrm>
          <a:prstGeom prst="roundRect">
            <a:avLst>
              <a:gd name="adj" fmla="val 4545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274320" y="5870448"/>
            <a:ext cx="50292" cy="80467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38912" y="5961888"/>
            <a:ext cx="5760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19" b="1">
                <a:solidFill>
                  <a:srgbClr val="1E7F4F"/>
                </a:solidFill>
                <a:latin typeface="Microsoft YaHei"/>
              </a:rPr>
              <a:t>两条定理合起来给出的边界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1F2933"/>
                </a:solidFill>
                <a:latin typeface="Microsoft YaHei"/>
              </a:rPr>
              <a:t>容错：{F : G′ 连通} 已是任何路由的上界（定理 1）· 死锁：Φ 构造性排除，只需 1 VC · 保序：唯一静态路径天然成立 · 转向：不能再放宽（定理 2）。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00800" y="5961888"/>
            <a:ext cx="5379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19" b="1">
                <a:solidFill>
                  <a:srgbClr val="1E7F4F"/>
                </a:solidFill>
                <a:latin typeface="Microsoft YaHei"/>
              </a:rPr>
              <a:t>代码对应关系（可逐行复核）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1F2933"/>
                </a:solidFill>
                <a:latin typeface="Microsoft YaHei"/>
              </a:rPr>
              <a:t>ℓ = _updown_labels（BFS）· up*·down* = _tree_path 两阶段 BFS · CDG 复验 = build_cdg + cdg_acyclic · 44 场景校核 = pg_m3p_analysis.theorem44（反例 0）。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不存在更宽松的 turn model 超集（定理 2）；② 合法集内 min-max 选路是唯一「免费」的超集：峰值 1.41×→1.16× 割界、故障场景轻载 −21%；③ 禁令换位能把峰值压到 1.05× 却因 HOL 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XY / Glass–Ni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最均衡也最快，但零容错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274320" y="3291840"/>
            <a:ext cx="3703320" cy="1975104"/>
          </a:xfrm>
          <a:prstGeom prst="roundRect">
            <a:avLst>
              <a:gd name="adj" fmla="val 185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274320" y="3291840"/>
            <a:ext cx="37033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74320" y="329184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20623" y="3319272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为什么没有「更宽松的超集」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665187" y="3922999"/>
            <a:ext cx="233615" cy="282286"/>
          </a:xfrm>
          <a:prstGeom prst="line">
            <a:avLst/>
          </a:prstGeom>
          <a:ln w="2159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12877" y="3922999"/>
            <a:ext cx="233615" cy="282286"/>
          </a:xfrm>
          <a:prstGeom prst="line">
            <a:avLst/>
          </a:prstGeom>
          <a:ln w="2413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1112877" y="4463958"/>
            <a:ext cx="233615" cy="282286"/>
          </a:xfrm>
          <a:prstGeom prst="line">
            <a:avLst/>
          </a:prstGeom>
          <a:ln w="2159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665187" y="4463958"/>
            <a:ext cx="233615" cy="282286"/>
          </a:xfrm>
          <a:prstGeom prst="line">
            <a:avLst/>
          </a:prstGeom>
          <a:ln w="2159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893917" y="3681740"/>
            <a:ext cx="223845" cy="223845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93917" y="3724270"/>
            <a:ext cx="223845" cy="145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99" name="Oval 98"/>
          <p:cNvSpPr/>
          <p:nvPr/>
        </p:nvSpPr>
        <p:spPr>
          <a:xfrm>
            <a:off x="446227" y="4222699"/>
            <a:ext cx="223845" cy="223845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46227" y="4265229"/>
            <a:ext cx="223845" cy="145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01" name="Oval 100"/>
          <p:cNvSpPr/>
          <p:nvPr/>
        </p:nvSpPr>
        <p:spPr>
          <a:xfrm>
            <a:off x="1341607" y="4222699"/>
            <a:ext cx="223845" cy="223845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341607" y="4265229"/>
            <a:ext cx="223845" cy="145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103" name="Oval 102"/>
          <p:cNvSpPr/>
          <p:nvPr/>
        </p:nvSpPr>
        <p:spPr>
          <a:xfrm>
            <a:off x="893917" y="4763658"/>
            <a:ext cx="223845" cy="223845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93917" y="4806188"/>
            <a:ext cx="223845" cy="145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197681" y="3986418"/>
            <a:ext cx="100584" cy="100584"/>
          </a:xfrm>
          <a:prstGeom prst="line">
            <a:avLst/>
          </a:prstGeom>
          <a:ln w="2032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197681" y="3986418"/>
            <a:ext cx="100584" cy="100584"/>
          </a:xfrm>
          <a:prstGeom prst="line">
            <a:avLst/>
          </a:prstGeom>
          <a:ln w="2032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256032" y="5047488"/>
            <a:ext cx="149961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C7000B"/>
                </a:solidFill>
                <a:latin typeface="Microsoft YaHei"/>
              </a:rPr>
              <a:t>必成环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9072" y="3621024"/>
            <a:ext cx="2148839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定理 2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左图 ℓ：v=3 &gt; u=w=2 &gt; m=0。放开任意一条 down→up（u→v→w），就能沿「up* 到最低点 m → down* 回 u」把依赖接回起点 ⇒ 必成环。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而且它是「大」的极大集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允许 346/416 = 83%；随机生长的极大无环集只有 319–327 条。XY 只允许 276 条却更均衡 ⇒ 均衡度不取决于「留多少转向」，而取决于 70 条禁令放在哪（见 ③④）。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05655" y="3291840"/>
            <a:ext cx="3840480" cy="1975104"/>
          </a:xfrm>
          <a:prstGeom prst="roundRect">
            <a:avLst>
              <a:gd name="adj" fmla="val 185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4105655" y="3291840"/>
            <a:ext cx="38404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4105655" y="329184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4251959" y="3319272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唯一免费的超集：L3 min-max 选路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33671" y="3621024"/>
            <a:ext cx="3584448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为什么三条性质一字不改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它只在 M3′ 已许可的转向集内换路径：CDG 仍是定理 2 那张无环图的子图 ⇒ 无死锁不变；每对仍是唯一静态路径 ⇒ 保序不变；仍取 up*·down* 形状 ⇒ 定理 1 的可达性构造不变、牺牲仍为 0。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做法与收益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凸代价 (load+1)³ 的合法 Dijkstra + 拆环重路由，离线约 1 s、表规模不变。峰值 135→111（无故障，1.41×→1.16× 割界）、204→154（2洞1断链，1.93×→1.45×）；故障场景 m=1 makespan 370→293 cy（−21%）。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074152" y="3291840"/>
            <a:ext cx="3840480" cy="1975104"/>
          </a:xfrm>
          <a:prstGeom prst="roundRect">
            <a:avLst>
              <a:gd name="adj" fmla="val 185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8074152" y="3291840"/>
            <a:ext cx="38404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8074152" y="329184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20456" y="3319272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负面结果：更均衡 ≠ 更快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02168" y="3621024"/>
            <a:ext cx="3584448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C7000B"/>
                </a:solidFill>
                <a:latin typeface="Microsoft YaHei"/>
              </a:rPr>
              <a:t>三个独立方案都出现同一现象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L4 禁令换位：峰值 111→101（1.05× 割界，最接近下界），但 m=13 makespan 6392 cy，比 L3 的 4561 cy 慢 40%。west-first：峰值 98（1.02×）却 5858 cy。XY-seeded 极大集：峰值 97 却 3320 cy，仍比纯 XY 慢 52%。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1F2933"/>
                </a:solidFill>
                <a:latin typeface="Microsoft YaHei"/>
              </a:rPr>
              <a:t>机理：单 VC 共享 FIFO，转向自由度越大、流交织越多，HOL 阻塞越重；峰值链路负载只是必要条件，不是充分指标 ⇒ 「均衡度」不能单独当目标函数。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C87209"/>
                </a:solidFill>
                <a:latin typeface="Microsoft YaHei"/>
              </a:rPr>
              <a:t>而且最均衡的放法恰恰不容错：XY 型禁令在有洞残图上直接不可路由，定向补转向恢复可达也失败 ⇒ 1 VC 下均衡与容错存在实测张力。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4320" y="5413248"/>
            <a:ext cx="6729984" cy="1188720"/>
          </a:xfrm>
          <a:prstGeom prst="roundRect">
            <a:avLst>
              <a:gd name="adj" fmla="val 3076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274320" y="5413248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274320" y="5413248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420623" y="5440680"/>
            <a:ext cx="645566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5705856"/>
            <a:ext cx="649224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想真正提升重载吞吐，1 VC 已到边界：只能加 VC（2 VC 的 LASH / Dual-UD）或时间分批（BB UD policy）—— 即报告里的 B / C 类方案。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132320" y="5413248"/>
            <a:ext cx="4785055" cy="1188720"/>
          </a:xfrm>
          <a:prstGeom prst="roundRect">
            <a:avLst>
              <a:gd name="adj" fmla="val 3076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7132320" y="5413248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132320" y="5413248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7278624" y="5440680"/>
            <a:ext cx="451073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0336" y="5705856"/>
            <a:ext cx="4529023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2605</Words>
  <Application>Microsoft Office PowerPoint</Application>
  <PresentationFormat>宽屏</PresentationFormat>
  <Paragraphs>318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Luke Liu</cp:lastModifiedBy>
  <cp:revision>9</cp:revision>
  <dcterms:created xsi:type="dcterms:W3CDTF">2013-01-27T09:14:16Z</dcterms:created>
  <dcterms:modified xsi:type="dcterms:W3CDTF">2026-08-13T06:23:48Z</dcterms:modified>
  <cp:category/>
</cp:coreProperties>
</file>