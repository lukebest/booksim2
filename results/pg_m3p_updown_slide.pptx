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841248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91440"/>
            <a:ext cx="1042416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</a:rPr>
              <a:t>M3′ Up*/Down* best-root：怎么容错、怎么解死锁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502920"/>
            <a:ext cx="11521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>
                <a:solidFill>
                  <a:srgbClr val="C3CBD4"/>
                </a:solidFill>
                <a:latin typeface="Microsoft YaHei"/>
              </a:rPr>
              <a:t>单一机制：给每个 router 一个「到根的高度」，只禁一种转向 —— 物理 1 VC · 无需虚通道 · 8×6 预算故障 44 场景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969264"/>
            <a:ext cx="5742432" cy="3035808"/>
          </a:xfrm>
          <a:prstGeom prst="roundRect">
            <a:avLst>
              <a:gd name="adj" fmla="val 1204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4320" y="969264"/>
            <a:ext cx="5742432" cy="310896"/>
          </a:xfrm>
          <a:prstGeom prst="roundRect">
            <a:avLst>
              <a:gd name="adj" fmla="val 11764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69264"/>
            <a:ext cx="50292" cy="310896"/>
          </a:xfrm>
          <a:prstGeom prst="rect">
            <a:avLst/>
          </a:prstGeom>
          <a:solidFill>
            <a:srgbClr val="1E7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3" y="996696"/>
            <a:ext cx="546811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① 如何容错：高度重算，洞自动被绕开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09600" y="1506105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09600" y="1506105"/>
            <a:ext cx="0" cy="342162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05691" y="1506105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05691" y="1506105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201782" y="1506105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201782" y="1506105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497874" y="1506105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497874" y="1506105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793965" y="1506105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793965" y="1506105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090057" y="1506105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090057" y="1506105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386148" y="1506105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386148" y="1506105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682240" y="1506105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09600" y="1848267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9600" y="1848267"/>
            <a:ext cx="0" cy="342163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905691" y="1848267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905691" y="1848267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201782" y="1848267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201782" y="1848267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497874" y="1848267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793965" y="1848267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2090057" y="1848267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2090057" y="1848267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386148" y="1848267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386148" y="1848267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682240" y="1848267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09600" y="2190430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609600" y="2190430"/>
            <a:ext cx="0" cy="342163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05691" y="2190430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05691" y="2190430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201782" y="2190430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2090057" y="2190430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090057" y="2190430"/>
            <a:ext cx="0" cy="342163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386148" y="2190430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386148" y="2190430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2682240" y="2190430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09600" y="2532593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609600" y="2532593"/>
            <a:ext cx="0" cy="342162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905691" y="2532593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905691" y="2532593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201782" y="2532593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201782" y="2532593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497874" y="2532593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497874" y="2532593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793965" y="2532593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793965" y="2532593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2090057" y="2532593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090057" y="2532593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2386148" y="2532593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2386148" y="2532593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2682240" y="2532593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609600" y="2874755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609600" y="2874755"/>
            <a:ext cx="0" cy="342163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905691" y="2874755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1201782" y="2874755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1201782" y="2874755"/>
            <a:ext cx="0" cy="342163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1497874" y="2874755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1497874" y="2874755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1793965" y="2874755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1793965" y="2874755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2090057" y="2874755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2090057" y="2874755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2386148" y="2874755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2386148" y="2874755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2682240" y="2874755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609600" y="3216918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905691" y="3216918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201782" y="3216918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1497874" y="3216918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1793965" y="3216918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2090057" y="3216918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2386148" y="3216918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905691" y="2874755"/>
            <a:ext cx="296091" cy="0"/>
          </a:xfrm>
          <a:prstGeom prst="line">
            <a:avLst/>
          </a:prstGeom>
          <a:ln w="13970">
            <a:solidFill>
              <a:srgbClr val="C7000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1019538" y="2840557"/>
            <a:ext cx="68397" cy="68397"/>
          </a:xfrm>
          <a:prstGeom prst="line">
            <a:avLst/>
          </a:prstGeom>
          <a:ln w="1524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1019538" y="2840557"/>
            <a:ext cx="68397" cy="68397"/>
          </a:xfrm>
          <a:prstGeom prst="line">
            <a:avLst/>
          </a:prstGeom>
          <a:ln w="1524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Oval 87"/>
          <p:cNvSpPr/>
          <p:nvPr/>
        </p:nvSpPr>
        <p:spPr>
          <a:xfrm>
            <a:off x="552395" y="1448900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848486" y="1448900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1144577" y="1448900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1440669" y="1448900"/>
            <a:ext cx="114409" cy="114409"/>
          </a:xfrm>
          <a:prstGeom prst="ellipse">
            <a:avLst/>
          </a:prstGeom>
          <a:solidFill>
            <a:srgbClr val="4E94C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736760" y="1448900"/>
            <a:ext cx="114409" cy="114409"/>
          </a:xfrm>
          <a:prstGeom prst="ellipse">
            <a:avLst/>
          </a:prstGeom>
          <a:solidFill>
            <a:srgbClr val="4E94C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2032852" y="1448900"/>
            <a:ext cx="114409" cy="114409"/>
          </a:xfrm>
          <a:prstGeom prst="ellipse">
            <a:avLst/>
          </a:prstGeom>
          <a:solidFill>
            <a:srgbClr val="2A6F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2328943" y="1448900"/>
            <a:ext cx="114409" cy="114409"/>
          </a:xfrm>
          <a:prstGeom prst="ellipse">
            <a:avLst/>
          </a:prstGeom>
          <a:solidFill>
            <a:srgbClr val="2A6F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2625035" y="1448900"/>
            <a:ext cx="114409" cy="114409"/>
          </a:xfrm>
          <a:prstGeom prst="ellipse">
            <a:avLst/>
          </a:prstGeom>
          <a:solidFill>
            <a:srgbClr val="2A6F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552395" y="1791063"/>
            <a:ext cx="114409" cy="114409"/>
          </a:xfrm>
          <a:prstGeom prst="ellipse">
            <a:avLst/>
          </a:prstGeom>
          <a:solidFill>
            <a:srgbClr val="AFD0E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848486" y="1791063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1144577" y="1791063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1440669" y="1791063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736760" y="1791063"/>
            <a:ext cx="114409" cy="114409"/>
          </a:xfrm>
          <a:prstGeom prst="ellipse">
            <a:avLst/>
          </a:prstGeom>
          <a:solidFill>
            <a:srgbClr val="4E94C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2032852" y="1791063"/>
            <a:ext cx="114409" cy="114409"/>
          </a:xfrm>
          <a:prstGeom prst="ellipse">
            <a:avLst/>
          </a:prstGeom>
          <a:solidFill>
            <a:srgbClr val="4E94C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2328943" y="1791063"/>
            <a:ext cx="114409" cy="114409"/>
          </a:xfrm>
          <a:prstGeom prst="ellipse">
            <a:avLst/>
          </a:prstGeom>
          <a:solidFill>
            <a:srgbClr val="2A6F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2625035" y="1791063"/>
            <a:ext cx="114409" cy="114409"/>
          </a:xfrm>
          <a:prstGeom prst="ellipse">
            <a:avLst/>
          </a:prstGeom>
          <a:solidFill>
            <a:srgbClr val="2A6F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552395" y="2133225"/>
            <a:ext cx="114409" cy="114409"/>
          </a:xfrm>
          <a:prstGeom prst="ellipse">
            <a:avLst/>
          </a:prstGeom>
          <a:solidFill>
            <a:srgbClr val="AFD0E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848486" y="2133225"/>
            <a:ext cx="114409" cy="114409"/>
          </a:xfrm>
          <a:prstGeom prst="ellipse">
            <a:avLst/>
          </a:prstGeom>
          <a:solidFill>
            <a:srgbClr val="AFD0E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1144577" y="2133225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1435695" y="2128251"/>
            <a:ext cx="124358" cy="124358"/>
          </a:xfrm>
          <a:prstGeom prst="ellipse">
            <a:avLst/>
          </a:prstGeom>
          <a:solidFill>
            <a:srgbClr val="FFFFFF"/>
          </a:solidFill>
          <a:ln w="13970">
            <a:solidFill>
              <a:srgbClr val="C700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8" name="Connector 107"/>
          <p:cNvCxnSpPr/>
          <p:nvPr/>
        </p:nvCxnSpPr>
        <p:spPr>
          <a:xfrm>
            <a:off x="1459323" y="2151879"/>
            <a:ext cx="77102" cy="77102"/>
          </a:xfrm>
          <a:prstGeom prst="line">
            <a:avLst/>
          </a:prstGeom>
          <a:ln w="1651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1459323" y="2151879"/>
            <a:ext cx="77102" cy="77102"/>
          </a:xfrm>
          <a:prstGeom prst="line">
            <a:avLst/>
          </a:prstGeom>
          <a:ln w="1651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Oval 109"/>
          <p:cNvSpPr/>
          <p:nvPr/>
        </p:nvSpPr>
        <p:spPr>
          <a:xfrm>
            <a:off x="1731786" y="2128251"/>
            <a:ext cx="124358" cy="124358"/>
          </a:xfrm>
          <a:prstGeom prst="ellipse">
            <a:avLst/>
          </a:prstGeom>
          <a:solidFill>
            <a:srgbClr val="FFFFFF"/>
          </a:solidFill>
          <a:ln w="13970">
            <a:solidFill>
              <a:srgbClr val="C700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1" name="Connector 110"/>
          <p:cNvCxnSpPr/>
          <p:nvPr/>
        </p:nvCxnSpPr>
        <p:spPr>
          <a:xfrm>
            <a:off x="1755414" y="2151879"/>
            <a:ext cx="77102" cy="77102"/>
          </a:xfrm>
          <a:prstGeom prst="line">
            <a:avLst/>
          </a:prstGeom>
          <a:ln w="1651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1755414" y="2151879"/>
            <a:ext cx="77102" cy="77102"/>
          </a:xfrm>
          <a:prstGeom prst="line">
            <a:avLst/>
          </a:prstGeom>
          <a:ln w="1651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Oval 112"/>
          <p:cNvSpPr/>
          <p:nvPr/>
        </p:nvSpPr>
        <p:spPr>
          <a:xfrm>
            <a:off x="2032852" y="2133225"/>
            <a:ext cx="114409" cy="114409"/>
          </a:xfrm>
          <a:prstGeom prst="ellipse">
            <a:avLst/>
          </a:prstGeom>
          <a:solidFill>
            <a:srgbClr val="4E94C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2328943" y="2133225"/>
            <a:ext cx="114409" cy="114409"/>
          </a:xfrm>
          <a:prstGeom prst="ellipse">
            <a:avLst/>
          </a:prstGeom>
          <a:solidFill>
            <a:srgbClr val="4E94C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2625035" y="2133225"/>
            <a:ext cx="114409" cy="114409"/>
          </a:xfrm>
          <a:prstGeom prst="ellipse">
            <a:avLst/>
          </a:prstGeom>
          <a:solidFill>
            <a:srgbClr val="2A6F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552395" y="2475388"/>
            <a:ext cx="114409" cy="114409"/>
          </a:xfrm>
          <a:prstGeom prst="ellipse">
            <a:avLst/>
          </a:prstGeom>
          <a:solidFill>
            <a:srgbClr val="DCE7F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848486" y="2475388"/>
            <a:ext cx="114409" cy="114409"/>
          </a:xfrm>
          <a:prstGeom prst="ellipse">
            <a:avLst/>
          </a:prstGeom>
          <a:solidFill>
            <a:srgbClr val="AFD0E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1144577" y="2475388"/>
            <a:ext cx="114409" cy="114409"/>
          </a:xfrm>
          <a:prstGeom prst="ellipse">
            <a:avLst/>
          </a:prstGeom>
          <a:solidFill>
            <a:srgbClr val="AFD0E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1440669" y="2475388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736760" y="2475388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2032852" y="2475388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2328943" y="2475388"/>
            <a:ext cx="114409" cy="114409"/>
          </a:xfrm>
          <a:prstGeom prst="ellipse">
            <a:avLst/>
          </a:prstGeom>
          <a:solidFill>
            <a:srgbClr val="4E94C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2625035" y="2475388"/>
            <a:ext cx="114409" cy="114409"/>
          </a:xfrm>
          <a:prstGeom prst="ellipse">
            <a:avLst/>
          </a:prstGeom>
          <a:solidFill>
            <a:srgbClr val="4E94C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552395" y="2817550"/>
            <a:ext cx="114409" cy="114409"/>
          </a:xfrm>
          <a:prstGeom prst="ellipse">
            <a:avLst/>
          </a:prstGeom>
          <a:solidFill>
            <a:srgbClr val="DCE7F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848486" y="2817550"/>
            <a:ext cx="114409" cy="114409"/>
          </a:xfrm>
          <a:prstGeom prst="ellipse">
            <a:avLst/>
          </a:prstGeom>
          <a:solidFill>
            <a:srgbClr val="DCE7F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144577" y="2817550"/>
            <a:ext cx="114409" cy="114409"/>
          </a:xfrm>
          <a:prstGeom prst="ellipse">
            <a:avLst/>
          </a:prstGeom>
          <a:solidFill>
            <a:srgbClr val="AFD0E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440669" y="2817550"/>
            <a:ext cx="114409" cy="114409"/>
          </a:xfrm>
          <a:prstGeom prst="ellipse">
            <a:avLst/>
          </a:prstGeom>
          <a:solidFill>
            <a:srgbClr val="AFD0E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1736760" y="2817550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2032852" y="2817550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2328943" y="2817550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2625035" y="2817550"/>
            <a:ext cx="114409" cy="114409"/>
          </a:xfrm>
          <a:prstGeom prst="ellipse">
            <a:avLst/>
          </a:prstGeom>
          <a:solidFill>
            <a:srgbClr val="4E94C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552395" y="3159713"/>
            <a:ext cx="114409" cy="114409"/>
          </a:xfrm>
          <a:prstGeom prst="ellipse">
            <a:avLst/>
          </a:prstGeom>
          <a:solidFill>
            <a:srgbClr val="DCE7F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848486" y="3159713"/>
            <a:ext cx="114409" cy="114409"/>
          </a:xfrm>
          <a:prstGeom prst="ellipse">
            <a:avLst/>
          </a:prstGeom>
          <a:solidFill>
            <a:srgbClr val="DCE7F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1144577" y="3159713"/>
            <a:ext cx="114409" cy="114409"/>
          </a:xfrm>
          <a:prstGeom prst="ellipse">
            <a:avLst/>
          </a:prstGeom>
          <a:solidFill>
            <a:srgbClr val="DCE7F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1440669" y="3159713"/>
            <a:ext cx="114409" cy="114409"/>
          </a:xfrm>
          <a:prstGeom prst="ellipse">
            <a:avLst/>
          </a:prstGeom>
          <a:solidFill>
            <a:srgbClr val="AFD0E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1736760" y="3159713"/>
            <a:ext cx="114409" cy="114409"/>
          </a:xfrm>
          <a:prstGeom prst="ellipse">
            <a:avLst/>
          </a:prstGeom>
          <a:solidFill>
            <a:srgbClr val="AFD0E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2032852" y="3159713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2328943" y="3159713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2625035" y="3159713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5-Point Star 139"/>
          <p:cNvSpPr/>
          <p:nvPr/>
        </p:nvSpPr>
        <p:spPr>
          <a:xfrm>
            <a:off x="531876" y="3139194"/>
            <a:ext cx="155448" cy="155448"/>
          </a:xfrm>
          <a:prstGeom prst="star5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709086" y="3125478"/>
            <a:ext cx="11887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60" b="1">
                <a:solidFill>
                  <a:srgbClr val="C7000B"/>
                </a:solidFill>
                <a:latin typeface="Microsoft YaHei"/>
              </a:rPr>
              <a:t>根 = BFS 源点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402336" y="3493008"/>
            <a:ext cx="24871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10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蓝边 = BFS 树（只给高度）　浅灰 = 其余存活链路（路径可用）</a:t>
            </a:r>
          </a:p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节点颜色由浅到深 = 高度 label 0 → 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999232" y="1353312"/>
            <a:ext cx="2889504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60" b="1">
                <a:solidFill>
                  <a:srgbClr val="1E7F4F"/>
                </a:solidFill>
                <a:latin typeface="Microsoft YaHei"/>
              </a:rPr>
              <a:t>① 只在残图上做 BFS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880" b="0">
                <a:solidFill>
                  <a:srgbClr val="5A6673"/>
                </a:solidFill>
                <a:latin typeface="Microsoft YaHei"/>
              </a:rPr>
              <a:t>死 router / 断链不进邻接表，label = 到根的跳数由残图算出，树自然从洞的两侧绕过去。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60" b="1">
                <a:solidFill>
                  <a:srgbClr val="1E7F4F"/>
                </a:solidFill>
                <a:latin typeface="Microsoft YaHei"/>
              </a:rPr>
              <a:t>② 不依赖方向，所以能绕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880" b="0">
                <a:solidFill>
                  <a:srgbClr val="5A6673"/>
                </a:solidFill>
                <a:latin typeface="Microsoft YaHei"/>
              </a:rPr>
              <a:t>XY / East-first 把某类方向写死，洞挡住即无解；Up*/Down* 只看高度差，四个方向都能走 ⇒ 残图连通就建得出表。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60" b="1">
                <a:solidFill>
                  <a:srgbClr val="1E7F4F"/>
                </a:solidFill>
                <a:latin typeface="Microsoft YaHei"/>
              </a:rPr>
              <a:t>③ 路径不限于树边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880" b="0">
                <a:solidFill>
                  <a:srgbClr val="5A6673"/>
                </a:solidFill>
                <a:latin typeface="Microsoft YaHei"/>
              </a:rPr>
              <a:t>树只用来定高度，任意存活链路都能走，不会退化成树上绕远。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60" b="1">
                <a:solidFill>
                  <a:srgbClr val="C87209"/>
                </a:solidFill>
                <a:latin typeface="Microsoft YaHei"/>
              </a:rPr>
              <a:t>④ 只有残图断开才牺牲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80" b="0">
                <a:solidFill>
                  <a:srgbClr val="C87209"/>
                </a:solidFill>
                <a:latin typeface="Microsoft YaHei"/>
              </a:rPr>
              <a:t>44 场景牺牲中位 0 / 最差 4；36/36 目录格零牺牲。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6163056" y="969264"/>
            <a:ext cx="5754319" cy="3035808"/>
          </a:xfrm>
          <a:prstGeom prst="roundRect">
            <a:avLst>
              <a:gd name="adj" fmla="val 1204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5" name="Rounded Rectangle 144"/>
          <p:cNvSpPr/>
          <p:nvPr/>
        </p:nvSpPr>
        <p:spPr>
          <a:xfrm>
            <a:off x="6163056" y="969264"/>
            <a:ext cx="5754319" cy="310896"/>
          </a:xfrm>
          <a:prstGeom prst="roundRect">
            <a:avLst>
              <a:gd name="adj" fmla="val 11764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6163056" y="969264"/>
            <a:ext cx="50292" cy="31089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6309360" y="996696"/>
            <a:ext cx="5479999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② 如何解死锁：禁 down→up，高度严格单调</a:t>
            </a:r>
          </a:p>
        </p:txBody>
      </p:sp>
      <p:cxnSp>
        <p:nvCxnSpPr>
          <p:cNvPr id="148" name="Connector 147"/>
          <p:cNvCxnSpPr/>
          <p:nvPr/>
        </p:nvCxnSpPr>
        <p:spPr>
          <a:xfrm>
            <a:off x="6696456" y="1737897"/>
            <a:ext cx="540512" cy="0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6696456" y="1737897"/>
            <a:ext cx="0" cy="575535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7236968" y="1737897"/>
            <a:ext cx="540512" cy="0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7236968" y="1737897"/>
            <a:ext cx="0" cy="575535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7777480" y="1737897"/>
            <a:ext cx="540512" cy="0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>
            <a:off x="7777480" y="1737897"/>
            <a:ext cx="0" cy="575535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>
            <a:off x="8317992" y="1737897"/>
            <a:ext cx="0" cy="575535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>
            <a:off x="6696456" y="2313432"/>
            <a:ext cx="540512" cy="0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>
            <a:off x="6696456" y="2313432"/>
            <a:ext cx="0" cy="575534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7236968" y="2313432"/>
            <a:ext cx="540512" cy="0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>
            <a:off x="7236968" y="2313432"/>
            <a:ext cx="0" cy="575534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>
            <a:off x="7777480" y="2313432"/>
            <a:ext cx="540512" cy="0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>
            <a:off x="7777480" y="2313432"/>
            <a:ext cx="0" cy="575534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>
            <a:off x="8317992" y="2313432"/>
            <a:ext cx="0" cy="575534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>
            <a:off x="6696456" y="2888966"/>
            <a:ext cx="540512" cy="0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>
            <a:off x="7236968" y="2888966"/>
            <a:ext cx="540512" cy="0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>
            <a:off x="7777480" y="2888966"/>
            <a:ext cx="540512" cy="0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 flipH="1">
            <a:off x="7928823" y="1737897"/>
            <a:ext cx="237825" cy="0"/>
          </a:xfrm>
          <a:prstGeom prst="line">
            <a:avLst/>
          </a:prstGeom>
          <a:ln w="27940">
            <a:solidFill>
              <a:srgbClr val="0B6B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 flipH="1">
            <a:off x="7388311" y="1737897"/>
            <a:ext cx="237825" cy="0"/>
          </a:xfrm>
          <a:prstGeom prst="line">
            <a:avLst/>
          </a:prstGeom>
          <a:ln w="27940">
            <a:solidFill>
              <a:srgbClr val="0B6B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>
            <a:off x="7236968" y="1889241"/>
            <a:ext cx="0" cy="272847"/>
          </a:xfrm>
          <a:prstGeom prst="line">
            <a:avLst/>
          </a:prstGeom>
          <a:ln w="27940">
            <a:solidFill>
              <a:srgbClr val="C8720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>
            <a:off x="7236968" y="2464775"/>
            <a:ext cx="0" cy="272847"/>
          </a:xfrm>
          <a:prstGeom prst="line">
            <a:avLst/>
          </a:prstGeom>
          <a:ln w="27940">
            <a:solidFill>
              <a:srgbClr val="C8720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 flipH="1">
            <a:off x="6847799" y="2313432"/>
            <a:ext cx="237825" cy="0"/>
          </a:xfrm>
          <a:prstGeom prst="line">
            <a:avLst/>
          </a:prstGeom>
          <a:ln w="20320">
            <a:solidFill>
              <a:srgbClr val="9AA5B1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>
            <a:off x="6898132" y="2244852"/>
            <a:ext cx="137160" cy="137160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 flipV="1">
            <a:off x="6898132" y="2244852"/>
            <a:ext cx="137160" cy="137160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2" name="Oval 171"/>
          <p:cNvSpPr/>
          <p:nvPr/>
        </p:nvSpPr>
        <p:spPr>
          <a:xfrm>
            <a:off x="6561328" y="1602769"/>
            <a:ext cx="270256" cy="270256"/>
          </a:xfrm>
          <a:prstGeom prst="ellipse">
            <a:avLst/>
          </a:prstGeom>
          <a:solidFill>
            <a:srgbClr val="DCE7F5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6561328" y="1654118"/>
            <a:ext cx="270256" cy="1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1F2933"/>
                </a:solidFill>
                <a:latin typeface="Microsoft YaHei"/>
              </a:rPr>
              <a:t>0</a:t>
            </a:r>
          </a:p>
        </p:txBody>
      </p:sp>
      <p:sp>
        <p:nvSpPr>
          <p:cNvPr id="174" name="Oval 173"/>
          <p:cNvSpPr/>
          <p:nvPr/>
        </p:nvSpPr>
        <p:spPr>
          <a:xfrm>
            <a:off x="7101840" y="1602769"/>
            <a:ext cx="270256" cy="270256"/>
          </a:xfrm>
          <a:prstGeom prst="ellipse">
            <a:avLst/>
          </a:prstGeom>
          <a:solidFill>
            <a:srgbClr val="AFD0EA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7101840" y="1654118"/>
            <a:ext cx="270256" cy="1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1F2933"/>
                </a:solidFill>
                <a:latin typeface="Microsoft YaHei"/>
              </a:rPr>
              <a:t>1</a:t>
            </a:r>
          </a:p>
        </p:txBody>
      </p:sp>
      <p:sp>
        <p:nvSpPr>
          <p:cNvPr id="176" name="Oval 175"/>
          <p:cNvSpPr/>
          <p:nvPr/>
        </p:nvSpPr>
        <p:spPr>
          <a:xfrm>
            <a:off x="7642352" y="1602769"/>
            <a:ext cx="270256" cy="270256"/>
          </a:xfrm>
          <a:prstGeom prst="ellipse">
            <a:avLst/>
          </a:prstGeom>
          <a:solidFill>
            <a:srgbClr val="7FB4DE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7642352" y="1654118"/>
            <a:ext cx="270256" cy="1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1F2933"/>
                </a:solidFill>
                <a:latin typeface="Microsoft YaHei"/>
              </a:rPr>
              <a:t>2</a:t>
            </a:r>
          </a:p>
        </p:txBody>
      </p:sp>
      <p:sp>
        <p:nvSpPr>
          <p:cNvPr id="178" name="Oval 177"/>
          <p:cNvSpPr/>
          <p:nvPr/>
        </p:nvSpPr>
        <p:spPr>
          <a:xfrm>
            <a:off x="8182864" y="1602769"/>
            <a:ext cx="270256" cy="270256"/>
          </a:xfrm>
          <a:prstGeom prst="ellipse">
            <a:avLst/>
          </a:prstGeom>
          <a:solidFill>
            <a:srgbClr val="4E94CC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182864" y="1654118"/>
            <a:ext cx="270256" cy="1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80" name="Oval 179"/>
          <p:cNvSpPr/>
          <p:nvPr/>
        </p:nvSpPr>
        <p:spPr>
          <a:xfrm>
            <a:off x="6561328" y="2178304"/>
            <a:ext cx="270256" cy="270256"/>
          </a:xfrm>
          <a:prstGeom prst="ellipse">
            <a:avLst/>
          </a:prstGeom>
          <a:solidFill>
            <a:srgbClr val="AFD0EA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561328" y="2229652"/>
            <a:ext cx="270256" cy="1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1F2933"/>
                </a:solidFill>
                <a:latin typeface="Microsoft YaHei"/>
              </a:rPr>
              <a:t>1</a:t>
            </a:r>
          </a:p>
        </p:txBody>
      </p:sp>
      <p:sp>
        <p:nvSpPr>
          <p:cNvPr id="182" name="Oval 181"/>
          <p:cNvSpPr/>
          <p:nvPr/>
        </p:nvSpPr>
        <p:spPr>
          <a:xfrm>
            <a:off x="7101840" y="2178304"/>
            <a:ext cx="270256" cy="270256"/>
          </a:xfrm>
          <a:prstGeom prst="ellipse">
            <a:avLst/>
          </a:prstGeom>
          <a:solidFill>
            <a:srgbClr val="7FB4DE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7101840" y="2229652"/>
            <a:ext cx="270256" cy="1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1F2933"/>
                </a:solidFill>
                <a:latin typeface="Microsoft YaHei"/>
              </a:rPr>
              <a:t>2</a:t>
            </a:r>
          </a:p>
        </p:txBody>
      </p:sp>
      <p:sp>
        <p:nvSpPr>
          <p:cNvPr id="184" name="Oval 183"/>
          <p:cNvSpPr/>
          <p:nvPr/>
        </p:nvSpPr>
        <p:spPr>
          <a:xfrm>
            <a:off x="7642352" y="2178304"/>
            <a:ext cx="270256" cy="270256"/>
          </a:xfrm>
          <a:prstGeom prst="ellipse">
            <a:avLst/>
          </a:prstGeom>
          <a:solidFill>
            <a:srgbClr val="4E94CC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7642352" y="2229652"/>
            <a:ext cx="270256" cy="1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86" name="Oval 185"/>
          <p:cNvSpPr/>
          <p:nvPr/>
        </p:nvSpPr>
        <p:spPr>
          <a:xfrm>
            <a:off x="8182864" y="2178304"/>
            <a:ext cx="270256" cy="270256"/>
          </a:xfrm>
          <a:prstGeom prst="ellipse">
            <a:avLst/>
          </a:prstGeom>
          <a:solidFill>
            <a:srgbClr val="2A6FA8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8182864" y="2229652"/>
            <a:ext cx="270256" cy="1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88" name="Oval 187"/>
          <p:cNvSpPr/>
          <p:nvPr/>
        </p:nvSpPr>
        <p:spPr>
          <a:xfrm>
            <a:off x="6561328" y="2753838"/>
            <a:ext cx="270256" cy="270256"/>
          </a:xfrm>
          <a:prstGeom prst="ellipse">
            <a:avLst/>
          </a:prstGeom>
          <a:solidFill>
            <a:srgbClr val="7FB4DE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561328" y="2805186"/>
            <a:ext cx="270256" cy="1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1F2933"/>
                </a:solidFill>
                <a:latin typeface="Microsoft YaHei"/>
              </a:rPr>
              <a:t>2</a:t>
            </a:r>
          </a:p>
        </p:txBody>
      </p:sp>
      <p:sp>
        <p:nvSpPr>
          <p:cNvPr id="190" name="Oval 189"/>
          <p:cNvSpPr/>
          <p:nvPr/>
        </p:nvSpPr>
        <p:spPr>
          <a:xfrm>
            <a:off x="7101840" y="2753838"/>
            <a:ext cx="270256" cy="270256"/>
          </a:xfrm>
          <a:prstGeom prst="ellipse">
            <a:avLst/>
          </a:prstGeom>
          <a:solidFill>
            <a:srgbClr val="4E94CC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7101840" y="2805186"/>
            <a:ext cx="270256" cy="1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92" name="Oval 191"/>
          <p:cNvSpPr/>
          <p:nvPr/>
        </p:nvSpPr>
        <p:spPr>
          <a:xfrm>
            <a:off x="7642352" y="2753838"/>
            <a:ext cx="270256" cy="270256"/>
          </a:xfrm>
          <a:prstGeom prst="ellipse">
            <a:avLst/>
          </a:prstGeom>
          <a:solidFill>
            <a:srgbClr val="2A6FA8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7642352" y="2805186"/>
            <a:ext cx="270256" cy="1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94" name="Oval 193"/>
          <p:cNvSpPr/>
          <p:nvPr/>
        </p:nvSpPr>
        <p:spPr>
          <a:xfrm>
            <a:off x="8182864" y="2753838"/>
            <a:ext cx="270256" cy="270256"/>
          </a:xfrm>
          <a:prstGeom prst="ellipse">
            <a:avLst/>
          </a:prstGeom>
          <a:solidFill>
            <a:srgbClr val="2A6FA8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TextBox 194"/>
          <p:cNvSpPr txBox="1"/>
          <p:nvPr/>
        </p:nvSpPr>
        <p:spPr>
          <a:xfrm>
            <a:off x="8182864" y="2805186"/>
            <a:ext cx="270256" cy="1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196" name="5-Point Star 195"/>
          <p:cNvSpPr/>
          <p:nvPr/>
        </p:nvSpPr>
        <p:spPr>
          <a:xfrm>
            <a:off x="6442415" y="1483857"/>
            <a:ext cx="156748" cy="156748"/>
          </a:xfrm>
          <a:prstGeom prst="star5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5994400" y="1412777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760" b="1">
                <a:solidFill>
                  <a:srgbClr val="C7000B"/>
                </a:solidFill>
                <a:latin typeface="Microsoft YaHei"/>
              </a:rPr>
              <a:t>根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8043672" y="1401601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40" b="1">
                <a:solidFill>
                  <a:srgbClr val="0B6BA8"/>
                </a:solidFill>
                <a:latin typeface="Microsoft YaHei"/>
              </a:rPr>
              <a:t>S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6962648" y="306067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40" b="1">
                <a:solidFill>
                  <a:srgbClr val="C87209"/>
                </a:solidFill>
                <a:latin typeface="Microsoft YaHei"/>
              </a:rPr>
              <a:t>D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6734048" y="1401601"/>
            <a:ext cx="10058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60" b="1">
                <a:solidFill>
                  <a:srgbClr val="1E7F4F"/>
                </a:solidFill>
                <a:latin typeface="Microsoft YaHei"/>
              </a:rPr>
              <a:t>唯一拐点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6244295" y="2435047"/>
            <a:ext cx="11338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60" b="1">
                <a:solidFill>
                  <a:srgbClr val="C7000B"/>
                </a:solidFill>
                <a:latin typeface="Microsoft YaHei"/>
              </a:rPr>
              <a:t>禁 down→up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6291072" y="3364992"/>
            <a:ext cx="243230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10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蓝 = up（label 递减，朝根）　橙 = down（label 递增，离根）</a:t>
            </a:r>
          </a:p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40" b="1">
                <a:solidFill>
                  <a:srgbClr val="1F2933"/>
                </a:solidFill>
                <a:latin typeface="Microsoft YaHei"/>
              </a:rPr>
              <a:t>合法路径形如 up* → down*，拐点最多一个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8869680" y="1353312"/>
            <a:ext cx="2901391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60" b="1">
                <a:solidFill>
                  <a:srgbClr val="C7000B"/>
                </a:solidFill>
                <a:latin typeface="Microsoft YaHei"/>
              </a:rPr>
              <a:t>唯一规则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880" b="0">
                <a:solidFill>
                  <a:srgbClr val="5A6673"/>
                </a:solidFill>
                <a:latin typeface="Microsoft YaHei"/>
              </a:rPr>
              <a:t>先沿 label 递减方向走（up），一旦开始递增（down）就再也不许 up。实现是带相位的 BFS：相位 1 里禁掉所有 up 边。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60" b="1">
                <a:solidFill>
                  <a:srgbClr val="C7000B"/>
                </a:solidFill>
                <a:latin typeface="Microsoft YaHei"/>
              </a:rPr>
              <a:t>为什么这样就无死锁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880" b="0">
                <a:solidFill>
                  <a:srgbClr val="5A6673"/>
                </a:solidFill>
                <a:latin typeface="Microsoft YaHei"/>
              </a:rPr>
              <a:t>mesh 按 x+y 奇偶是二分图 ⇒ 相邻节点 label 必差 1，没有同层边，于是 up 通道 label 严格递减、down 严格递增。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880" b="0">
                <a:solidFill>
                  <a:srgbClr val="5A6673"/>
                </a:solidFill>
                <a:latin typeface="Microsoft YaHei"/>
              </a:rPr>
              <a:t>CDG 只剩 up→up、up→down、down→down：段内 label 单调、跨段只能 up→down 单向 ⇒ 依赖链回不到起点，无环（构造性，1 VC）。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80" b="1">
                <a:solidFill>
                  <a:srgbClr val="1E7F4F"/>
                </a:solidFill>
                <a:latin typeface="Microsoft YaHei"/>
              </a:rPr>
              <a:t>→ 实测：48 个根 × 健康图与故障残图，同层边 0 条、CDG 成环 0 例。</a:t>
            </a:r>
          </a:p>
        </p:txBody>
      </p:sp>
      <p:sp>
        <p:nvSpPr>
          <p:cNvPr id="204" name="Rounded Rectangle 203"/>
          <p:cNvSpPr/>
          <p:nvPr/>
        </p:nvSpPr>
        <p:spPr>
          <a:xfrm>
            <a:off x="274320" y="4133087"/>
            <a:ext cx="11643055" cy="1572768"/>
          </a:xfrm>
          <a:prstGeom prst="roundRect">
            <a:avLst>
              <a:gd name="adj" fmla="val 2325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5" name="Rounded Rectangle 204"/>
          <p:cNvSpPr/>
          <p:nvPr/>
        </p:nvSpPr>
        <p:spPr>
          <a:xfrm>
            <a:off x="274320" y="4133087"/>
            <a:ext cx="11643055" cy="292608"/>
          </a:xfrm>
          <a:prstGeom prst="roundRect">
            <a:avLst>
              <a:gd name="adj" fmla="val 12500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274320" y="4133087"/>
            <a:ext cx="50292" cy="292608"/>
          </a:xfrm>
          <a:prstGeom prst="rect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7" name="TextBox 206"/>
          <p:cNvSpPr txBox="1"/>
          <p:nvPr/>
        </p:nvSpPr>
        <p:spPr>
          <a:xfrm>
            <a:off x="420623" y="4160520"/>
            <a:ext cx="11368735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③ M3′ 相对 M3 的唯一增量：把「根」当自由参数搜一遍（可行性与无死锁完全不变）</a:t>
            </a:r>
          </a:p>
        </p:txBody>
      </p:sp>
      <p:cxnSp>
        <p:nvCxnSpPr>
          <p:cNvPr id="208" name="Connector 207"/>
          <p:cNvCxnSpPr/>
          <p:nvPr/>
        </p:nvCxnSpPr>
        <p:spPr>
          <a:xfrm>
            <a:off x="576834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>
            <a:off x="576834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>
            <a:off x="799991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>
            <a:off x="799991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>
            <a:off x="1023148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>
            <a:off x="1023148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>
            <a:off x="1246305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>
            <a:off x="1246305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>
            <a:off x="1469462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>
            <a:off x="1469462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>
            <a:off x="1692619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>
            <a:off x="1692619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>
            <a:off x="1915776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>
            <a:off x="1915776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>
            <a:off x="2138933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>
            <a:off x="576834" y="470144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>
            <a:off x="576834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>
            <a:off x="799991" y="470144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>
            <a:off x="799991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>
            <a:off x="1023148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>
            <a:off x="1692619" y="470144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>
            <a:off x="1692619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>
            <a:off x="1915776" y="470144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>
            <a:off x="1915776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>
            <a:off x="2138933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>
            <a:off x="576834" y="4852892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>
            <a:off x="576834" y="4852892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>
            <a:off x="799991" y="4852892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>
            <a:off x="799991" y="4852892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 236"/>
          <p:cNvCxnSpPr/>
          <p:nvPr/>
        </p:nvCxnSpPr>
        <p:spPr>
          <a:xfrm>
            <a:off x="1692619" y="4852892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 237"/>
          <p:cNvCxnSpPr/>
          <p:nvPr/>
        </p:nvCxnSpPr>
        <p:spPr>
          <a:xfrm>
            <a:off x="1692619" y="4852892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>
            <a:off x="1915776" y="4852892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>
            <a:off x="1915776" y="4852892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>
            <a:off x="2138933" y="4852892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>
            <a:off x="576834" y="5004339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>
            <a:off x="576834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>
            <a:off x="799991" y="5004339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Connector 244"/>
          <p:cNvCxnSpPr/>
          <p:nvPr/>
        </p:nvCxnSpPr>
        <p:spPr>
          <a:xfrm>
            <a:off x="799991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Connector 245"/>
          <p:cNvCxnSpPr/>
          <p:nvPr/>
        </p:nvCxnSpPr>
        <p:spPr>
          <a:xfrm>
            <a:off x="1023148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 246"/>
          <p:cNvCxnSpPr/>
          <p:nvPr/>
        </p:nvCxnSpPr>
        <p:spPr>
          <a:xfrm>
            <a:off x="1246305" y="5004339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Connector 247"/>
          <p:cNvCxnSpPr/>
          <p:nvPr/>
        </p:nvCxnSpPr>
        <p:spPr>
          <a:xfrm>
            <a:off x="1246305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Connector 248"/>
          <p:cNvCxnSpPr/>
          <p:nvPr/>
        </p:nvCxnSpPr>
        <p:spPr>
          <a:xfrm>
            <a:off x="1469462" y="5004339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Connector 249"/>
          <p:cNvCxnSpPr/>
          <p:nvPr/>
        </p:nvCxnSpPr>
        <p:spPr>
          <a:xfrm>
            <a:off x="1469462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Connector 250"/>
          <p:cNvCxnSpPr/>
          <p:nvPr/>
        </p:nvCxnSpPr>
        <p:spPr>
          <a:xfrm>
            <a:off x="1692619" y="5004339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Connector 251"/>
          <p:cNvCxnSpPr/>
          <p:nvPr/>
        </p:nvCxnSpPr>
        <p:spPr>
          <a:xfrm>
            <a:off x="1692619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Connector 252"/>
          <p:cNvCxnSpPr/>
          <p:nvPr/>
        </p:nvCxnSpPr>
        <p:spPr>
          <a:xfrm>
            <a:off x="1915776" y="5004339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Connector 253"/>
          <p:cNvCxnSpPr/>
          <p:nvPr/>
        </p:nvCxnSpPr>
        <p:spPr>
          <a:xfrm>
            <a:off x="1915776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 254"/>
          <p:cNvCxnSpPr/>
          <p:nvPr/>
        </p:nvCxnSpPr>
        <p:spPr>
          <a:xfrm>
            <a:off x="2138933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Connector 255"/>
          <p:cNvCxnSpPr/>
          <p:nvPr/>
        </p:nvCxnSpPr>
        <p:spPr>
          <a:xfrm>
            <a:off x="576834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Connector 256"/>
          <p:cNvCxnSpPr/>
          <p:nvPr/>
        </p:nvCxnSpPr>
        <p:spPr>
          <a:xfrm>
            <a:off x="576834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Connector 257"/>
          <p:cNvCxnSpPr/>
          <p:nvPr/>
        </p:nvCxnSpPr>
        <p:spPr>
          <a:xfrm>
            <a:off x="799991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Connector 258"/>
          <p:cNvCxnSpPr/>
          <p:nvPr/>
        </p:nvCxnSpPr>
        <p:spPr>
          <a:xfrm>
            <a:off x="1023148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Connector 259"/>
          <p:cNvCxnSpPr/>
          <p:nvPr/>
        </p:nvCxnSpPr>
        <p:spPr>
          <a:xfrm>
            <a:off x="1023148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Connector 260"/>
          <p:cNvCxnSpPr/>
          <p:nvPr/>
        </p:nvCxnSpPr>
        <p:spPr>
          <a:xfrm>
            <a:off x="1246305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Connector 261"/>
          <p:cNvCxnSpPr/>
          <p:nvPr/>
        </p:nvCxnSpPr>
        <p:spPr>
          <a:xfrm>
            <a:off x="1246305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Connector 262"/>
          <p:cNvCxnSpPr/>
          <p:nvPr/>
        </p:nvCxnSpPr>
        <p:spPr>
          <a:xfrm>
            <a:off x="1469462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Connector 263"/>
          <p:cNvCxnSpPr/>
          <p:nvPr/>
        </p:nvCxnSpPr>
        <p:spPr>
          <a:xfrm>
            <a:off x="1469462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 264"/>
          <p:cNvCxnSpPr/>
          <p:nvPr/>
        </p:nvCxnSpPr>
        <p:spPr>
          <a:xfrm>
            <a:off x="1692619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Connector 265"/>
          <p:cNvCxnSpPr/>
          <p:nvPr/>
        </p:nvCxnSpPr>
        <p:spPr>
          <a:xfrm>
            <a:off x="1692619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Connector 266"/>
          <p:cNvCxnSpPr/>
          <p:nvPr/>
        </p:nvCxnSpPr>
        <p:spPr>
          <a:xfrm>
            <a:off x="1915776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 267"/>
          <p:cNvCxnSpPr/>
          <p:nvPr/>
        </p:nvCxnSpPr>
        <p:spPr>
          <a:xfrm>
            <a:off x="1915776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Connector 268"/>
          <p:cNvCxnSpPr/>
          <p:nvPr/>
        </p:nvCxnSpPr>
        <p:spPr>
          <a:xfrm>
            <a:off x="2138933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Connector 269"/>
          <p:cNvCxnSpPr/>
          <p:nvPr/>
        </p:nvCxnSpPr>
        <p:spPr>
          <a:xfrm>
            <a:off x="576834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>
            <a:off x="799991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>
            <a:off x="1023148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Connector 272"/>
          <p:cNvCxnSpPr/>
          <p:nvPr/>
        </p:nvCxnSpPr>
        <p:spPr>
          <a:xfrm>
            <a:off x="1246305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Connector 273"/>
          <p:cNvCxnSpPr/>
          <p:nvPr/>
        </p:nvCxnSpPr>
        <p:spPr>
          <a:xfrm>
            <a:off x="1469462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Connector 274"/>
          <p:cNvCxnSpPr/>
          <p:nvPr/>
        </p:nvCxnSpPr>
        <p:spPr>
          <a:xfrm>
            <a:off x="1692619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275"/>
          <p:cNvCxnSpPr/>
          <p:nvPr/>
        </p:nvCxnSpPr>
        <p:spPr>
          <a:xfrm>
            <a:off x="1915776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276"/>
          <p:cNvCxnSpPr/>
          <p:nvPr/>
        </p:nvCxnSpPr>
        <p:spPr>
          <a:xfrm>
            <a:off x="1023148" y="4701444"/>
            <a:ext cx="223157" cy="0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Connector 277"/>
          <p:cNvCxnSpPr/>
          <p:nvPr/>
        </p:nvCxnSpPr>
        <p:spPr>
          <a:xfrm>
            <a:off x="1246305" y="4701444"/>
            <a:ext cx="223157" cy="0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278"/>
          <p:cNvCxnSpPr/>
          <p:nvPr/>
        </p:nvCxnSpPr>
        <p:spPr>
          <a:xfrm>
            <a:off x="1469462" y="4701444"/>
            <a:ext cx="223157" cy="0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>
            <a:off x="1023148" y="4852892"/>
            <a:ext cx="0" cy="151447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>
            <a:off x="1023148" y="5004339"/>
            <a:ext cx="223157" cy="0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2" name="Oval 281"/>
          <p:cNvSpPr/>
          <p:nvPr/>
        </p:nvSpPr>
        <p:spPr>
          <a:xfrm>
            <a:off x="551087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774245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997402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1220559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1443716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1666873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1890030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2113187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551087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774245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997402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1220559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1443716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1666873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1890030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2113187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551087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774245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997402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1666873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1890030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2113187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551087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774245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Oval 305"/>
          <p:cNvSpPr/>
          <p:nvPr/>
        </p:nvSpPr>
        <p:spPr>
          <a:xfrm>
            <a:off x="997402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1220559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1443716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xfrm>
            <a:off x="1666873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Oval 309"/>
          <p:cNvSpPr/>
          <p:nvPr/>
        </p:nvSpPr>
        <p:spPr>
          <a:xfrm>
            <a:off x="1890030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Oval 310"/>
          <p:cNvSpPr/>
          <p:nvPr/>
        </p:nvSpPr>
        <p:spPr>
          <a:xfrm>
            <a:off x="2113187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551087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774245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997402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1220559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1443716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1666873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1890030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2113187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551087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774245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997402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xfrm>
            <a:off x="1220559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xfrm>
            <a:off x="1443716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1666873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1890030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2113187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8" name="Connector 327"/>
          <p:cNvCxnSpPr/>
          <p:nvPr/>
        </p:nvCxnSpPr>
        <p:spPr>
          <a:xfrm>
            <a:off x="1217984" y="4824571"/>
            <a:ext cx="56642" cy="56641"/>
          </a:xfrm>
          <a:prstGeom prst="line">
            <a:avLst/>
          </a:prstGeom>
          <a:ln w="1270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9" name="Connector 328"/>
          <p:cNvCxnSpPr/>
          <p:nvPr/>
        </p:nvCxnSpPr>
        <p:spPr>
          <a:xfrm flipV="1">
            <a:off x="1217984" y="4824571"/>
            <a:ext cx="56642" cy="56641"/>
          </a:xfrm>
          <a:prstGeom prst="line">
            <a:avLst/>
          </a:prstGeom>
          <a:ln w="1270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Connector 329"/>
          <p:cNvCxnSpPr/>
          <p:nvPr/>
        </p:nvCxnSpPr>
        <p:spPr>
          <a:xfrm>
            <a:off x="1441141" y="4824571"/>
            <a:ext cx="56642" cy="56641"/>
          </a:xfrm>
          <a:prstGeom prst="line">
            <a:avLst/>
          </a:prstGeom>
          <a:ln w="1270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Connector 330"/>
          <p:cNvCxnSpPr/>
          <p:nvPr/>
        </p:nvCxnSpPr>
        <p:spPr>
          <a:xfrm flipV="1">
            <a:off x="1441141" y="4824571"/>
            <a:ext cx="56642" cy="56641"/>
          </a:xfrm>
          <a:prstGeom prst="line">
            <a:avLst/>
          </a:prstGeom>
          <a:ln w="1270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2" name="5-Point Star 331"/>
          <p:cNvSpPr/>
          <p:nvPr/>
        </p:nvSpPr>
        <p:spPr>
          <a:xfrm>
            <a:off x="740775" y="4642228"/>
            <a:ext cx="118431" cy="118431"/>
          </a:xfrm>
          <a:prstGeom prst="star5">
            <a:avLst/>
          </a:prstGeom>
          <a:solidFill>
            <a:srgbClr val="5A66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TextBox 332"/>
          <p:cNvSpPr txBox="1"/>
          <p:nvPr/>
        </p:nvSpPr>
        <p:spPr>
          <a:xfrm>
            <a:off x="420624" y="5413248"/>
            <a:ext cx="18745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50"/>
              </a:spcAft>
            </a:pPr>
            <a:r>
              <a:rPr sz="800" b="1">
                <a:solidFill>
                  <a:srgbClr val="5A6673"/>
                </a:solidFill>
                <a:latin typeface="Microsoft YaHei"/>
              </a:rPr>
              <a:t>M3：根 = 度最大点</a:t>
            </a:r>
          </a:p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00" b="1">
                <a:solidFill>
                  <a:srgbClr val="5A6673"/>
                </a:solidFill>
                <a:latin typeface="Microsoft YaHei"/>
              </a:rPr>
              <a:t>峰值链路负载 258</a:t>
            </a:r>
          </a:p>
        </p:txBody>
      </p:sp>
      <p:cxnSp>
        <p:nvCxnSpPr>
          <p:cNvPr id="334" name="Connector 333"/>
          <p:cNvCxnSpPr/>
          <p:nvPr/>
        </p:nvCxnSpPr>
        <p:spPr>
          <a:xfrm>
            <a:off x="2551938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Connector 334"/>
          <p:cNvCxnSpPr/>
          <p:nvPr/>
        </p:nvCxnSpPr>
        <p:spPr>
          <a:xfrm>
            <a:off x="2551938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Connector 335"/>
          <p:cNvCxnSpPr/>
          <p:nvPr/>
        </p:nvCxnSpPr>
        <p:spPr>
          <a:xfrm>
            <a:off x="2775095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Connector 336"/>
          <p:cNvCxnSpPr/>
          <p:nvPr/>
        </p:nvCxnSpPr>
        <p:spPr>
          <a:xfrm>
            <a:off x="2775095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Connector 337"/>
          <p:cNvCxnSpPr/>
          <p:nvPr/>
        </p:nvCxnSpPr>
        <p:spPr>
          <a:xfrm>
            <a:off x="2998252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Connector 338"/>
          <p:cNvCxnSpPr/>
          <p:nvPr/>
        </p:nvCxnSpPr>
        <p:spPr>
          <a:xfrm>
            <a:off x="2998252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Connector 339"/>
          <p:cNvCxnSpPr/>
          <p:nvPr/>
        </p:nvCxnSpPr>
        <p:spPr>
          <a:xfrm>
            <a:off x="3221409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Connector 340"/>
          <p:cNvCxnSpPr/>
          <p:nvPr/>
        </p:nvCxnSpPr>
        <p:spPr>
          <a:xfrm>
            <a:off x="3221409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Connector 341"/>
          <p:cNvCxnSpPr/>
          <p:nvPr/>
        </p:nvCxnSpPr>
        <p:spPr>
          <a:xfrm>
            <a:off x="3444566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Connector 342"/>
          <p:cNvCxnSpPr/>
          <p:nvPr/>
        </p:nvCxnSpPr>
        <p:spPr>
          <a:xfrm>
            <a:off x="3444566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4" name="Connector 343"/>
          <p:cNvCxnSpPr/>
          <p:nvPr/>
        </p:nvCxnSpPr>
        <p:spPr>
          <a:xfrm>
            <a:off x="3667723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5" name="Connector 344"/>
          <p:cNvCxnSpPr/>
          <p:nvPr/>
        </p:nvCxnSpPr>
        <p:spPr>
          <a:xfrm>
            <a:off x="3667723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Connector 345"/>
          <p:cNvCxnSpPr/>
          <p:nvPr/>
        </p:nvCxnSpPr>
        <p:spPr>
          <a:xfrm>
            <a:off x="3890880" y="4549997"/>
            <a:ext cx="223158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Connector 346"/>
          <p:cNvCxnSpPr/>
          <p:nvPr/>
        </p:nvCxnSpPr>
        <p:spPr>
          <a:xfrm>
            <a:off x="3890880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Connector 347"/>
          <p:cNvCxnSpPr/>
          <p:nvPr/>
        </p:nvCxnSpPr>
        <p:spPr>
          <a:xfrm>
            <a:off x="4114038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Connector 348"/>
          <p:cNvCxnSpPr/>
          <p:nvPr/>
        </p:nvCxnSpPr>
        <p:spPr>
          <a:xfrm>
            <a:off x="2551938" y="470144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0" name="Connector 349"/>
          <p:cNvCxnSpPr/>
          <p:nvPr/>
        </p:nvCxnSpPr>
        <p:spPr>
          <a:xfrm>
            <a:off x="2551938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1" name="Connector 350"/>
          <p:cNvCxnSpPr/>
          <p:nvPr/>
        </p:nvCxnSpPr>
        <p:spPr>
          <a:xfrm>
            <a:off x="2775095" y="470144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Connector 351"/>
          <p:cNvCxnSpPr/>
          <p:nvPr/>
        </p:nvCxnSpPr>
        <p:spPr>
          <a:xfrm>
            <a:off x="2775095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Connector 352"/>
          <p:cNvCxnSpPr/>
          <p:nvPr/>
        </p:nvCxnSpPr>
        <p:spPr>
          <a:xfrm>
            <a:off x="2998252" y="470144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Connector 353"/>
          <p:cNvCxnSpPr/>
          <p:nvPr/>
        </p:nvCxnSpPr>
        <p:spPr>
          <a:xfrm>
            <a:off x="2998252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Connector 354"/>
          <p:cNvCxnSpPr/>
          <p:nvPr/>
        </p:nvCxnSpPr>
        <p:spPr>
          <a:xfrm>
            <a:off x="3221409" y="470144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6" name="Connector 355"/>
          <p:cNvCxnSpPr/>
          <p:nvPr/>
        </p:nvCxnSpPr>
        <p:spPr>
          <a:xfrm>
            <a:off x="3444566" y="470144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7" name="Connector 356"/>
          <p:cNvCxnSpPr/>
          <p:nvPr/>
        </p:nvCxnSpPr>
        <p:spPr>
          <a:xfrm>
            <a:off x="3667723" y="470144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8" name="Connector 357"/>
          <p:cNvCxnSpPr/>
          <p:nvPr/>
        </p:nvCxnSpPr>
        <p:spPr>
          <a:xfrm>
            <a:off x="3667723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9" name="Connector 358"/>
          <p:cNvCxnSpPr/>
          <p:nvPr/>
        </p:nvCxnSpPr>
        <p:spPr>
          <a:xfrm>
            <a:off x="3890880" y="4701444"/>
            <a:ext cx="223158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0" name="Connector 359"/>
          <p:cNvCxnSpPr/>
          <p:nvPr/>
        </p:nvCxnSpPr>
        <p:spPr>
          <a:xfrm>
            <a:off x="3890880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Connector 360"/>
          <p:cNvCxnSpPr/>
          <p:nvPr/>
        </p:nvCxnSpPr>
        <p:spPr>
          <a:xfrm>
            <a:off x="4114038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2" name="Connector 361"/>
          <p:cNvCxnSpPr/>
          <p:nvPr/>
        </p:nvCxnSpPr>
        <p:spPr>
          <a:xfrm>
            <a:off x="2551938" y="4852892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Connector 362"/>
          <p:cNvCxnSpPr/>
          <p:nvPr/>
        </p:nvCxnSpPr>
        <p:spPr>
          <a:xfrm>
            <a:off x="2551938" y="4852892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Connector 363"/>
          <p:cNvCxnSpPr/>
          <p:nvPr/>
        </p:nvCxnSpPr>
        <p:spPr>
          <a:xfrm>
            <a:off x="2775095" y="4852892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5" name="Connector 364"/>
          <p:cNvCxnSpPr/>
          <p:nvPr/>
        </p:nvCxnSpPr>
        <p:spPr>
          <a:xfrm>
            <a:off x="2775095" y="4852892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6" name="Connector 365"/>
          <p:cNvCxnSpPr/>
          <p:nvPr/>
        </p:nvCxnSpPr>
        <p:spPr>
          <a:xfrm>
            <a:off x="3667723" y="4852892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7" name="Connector 366"/>
          <p:cNvCxnSpPr/>
          <p:nvPr/>
        </p:nvCxnSpPr>
        <p:spPr>
          <a:xfrm>
            <a:off x="3890880" y="4852892"/>
            <a:ext cx="223158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8" name="Connector 367"/>
          <p:cNvCxnSpPr/>
          <p:nvPr/>
        </p:nvCxnSpPr>
        <p:spPr>
          <a:xfrm>
            <a:off x="3890880" y="4852892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9" name="Connector 368"/>
          <p:cNvCxnSpPr/>
          <p:nvPr/>
        </p:nvCxnSpPr>
        <p:spPr>
          <a:xfrm>
            <a:off x="4114038" y="4852892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0" name="Connector 369"/>
          <p:cNvCxnSpPr/>
          <p:nvPr/>
        </p:nvCxnSpPr>
        <p:spPr>
          <a:xfrm>
            <a:off x="2551938" y="5004339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1" name="Connector 370"/>
          <p:cNvCxnSpPr/>
          <p:nvPr/>
        </p:nvCxnSpPr>
        <p:spPr>
          <a:xfrm>
            <a:off x="2551938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Connector 371"/>
          <p:cNvCxnSpPr/>
          <p:nvPr/>
        </p:nvCxnSpPr>
        <p:spPr>
          <a:xfrm>
            <a:off x="2775095" y="5004339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3" name="Connector 372"/>
          <p:cNvCxnSpPr/>
          <p:nvPr/>
        </p:nvCxnSpPr>
        <p:spPr>
          <a:xfrm>
            <a:off x="2775095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4" name="Connector 373"/>
          <p:cNvCxnSpPr/>
          <p:nvPr/>
        </p:nvCxnSpPr>
        <p:spPr>
          <a:xfrm>
            <a:off x="2998252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5" name="Connector 374"/>
          <p:cNvCxnSpPr/>
          <p:nvPr/>
        </p:nvCxnSpPr>
        <p:spPr>
          <a:xfrm>
            <a:off x="3221409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Connector 375"/>
          <p:cNvCxnSpPr/>
          <p:nvPr/>
        </p:nvCxnSpPr>
        <p:spPr>
          <a:xfrm>
            <a:off x="3444566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7" name="Connector 376"/>
          <p:cNvCxnSpPr/>
          <p:nvPr/>
        </p:nvCxnSpPr>
        <p:spPr>
          <a:xfrm>
            <a:off x="3667723" y="5004339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8" name="Connector 377"/>
          <p:cNvCxnSpPr/>
          <p:nvPr/>
        </p:nvCxnSpPr>
        <p:spPr>
          <a:xfrm>
            <a:off x="3667723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9" name="Connector 378"/>
          <p:cNvCxnSpPr/>
          <p:nvPr/>
        </p:nvCxnSpPr>
        <p:spPr>
          <a:xfrm>
            <a:off x="3890880" y="5004339"/>
            <a:ext cx="223158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0" name="Connector 379"/>
          <p:cNvCxnSpPr/>
          <p:nvPr/>
        </p:nvCxnSpPr>
        <p:spPr>
          <a:xfrm>
            <a:off x="3890880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1" name="Connector 380"/>
          <p:cNvCxnSpPr/>
          <p:nvPr/>
        </p:nvCxnSpPr>
        <p:spPr>
          <a:xfrm>
            <a:off x="4114038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2" name="Connector 381"/>
          <p:cNvCxnSpPr/>
          <p:nvPr/>
        </p:nvCxnSpPr>
        <p:spPr>
          <a:xfrm>
            <a:off x="2551938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3" name="Connector 382"/>
          <p:cNvCxnSpPr/>
          <p:nvPr/>
        </p:nvCxnSpPr>
        <p:spPr>
          <a:xfrm>
            <a:off x="2551938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4" name="Connector 383"/>
          <p:cNvCxnSpPr/>
          <p:nvPr/>
        </p:nvCxnSpPr>
        <p:spPr>
          <a:xfrm>
            <a:off x="2775095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5" name="Connector 384"/>
          <p:cNvCxnSpPr/>
          <p:nvPr/>
        </p:nvCxnSpPr>
        <p:spPr>
          <a:xfrm>
            <a:off x="2998252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6" name="Connector 385"/>
          <p:cNvCxnSpPr/>
          <p:nvPr/>
        </p:nvCxnSpPr>
        <p:spPr>
          <a:xfrm>
            <a:off x="2998252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7" name="Connector 386"/>
          <p:cNvCxnSpPr/>
          <p:nvPr/>
        </p:nvCxnSpPr>
        <p:spPr>
          <a:xfrm>
            <a:off x="3221409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8" name="Connector 387"/>
          <p:cNvCxnSpPr/>
          <p:nvPr/>
        </p:nvCxnSpPr>
        <p:spPr>
          <a:xfrm>
            <a:off x="3221409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9" name="Connector 388"/>
          <p:cNvCxnSpPr/>
          <p:nvPr/>
        </p:nvCxnSpPr>
        <p:spPr>
          <a:xfrm>
            <a:off x="3444566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0" name="Connector 389"/>
          <p:cNvCxnSpPr/>
          <p:nvPr/>
        </p:nvCxnSpPr>
        <p:spPr>
          <a:xfrm>
            <a:off x="3444566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1" name="Connector 390"/>
          <p:cNvCxnSpPr/>
          <p:nvPr/>
        </p:nvCxnSpPr>
        <p:spPr>
          <a:xfrm>
            <a:off x="3667723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2" name="Connector 391"/>
          <p:cNvCxnSpPr/>
          <p:nvPr/>
        </p:nvCxnSpPr>
        <p:spPr>
          <a:xfrm>
            <a:off x="3667723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3" name="Connector 392"/>
          <p:cNvCxnSpPr/>
          <p:nvPr/>
        </p:nvCxnSpPr>
        <p:spPr>
          <a:xfrm>
            <a:off x="3890880" y="5155787"/>
            <a:ext cx="223158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4" name="Connector 393"/>
          <p:cNvCxnSpPr/>
          <p:nvPr/>
        </p:nvCxnSpPr>
        <p:spPr>
          <a:xfrm>
            <a:off x="3890880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5" name="Connector 394"/>
          <p:cNvCxnSpPr/>
          <p:nvPr/>
        </p:nvCxnSpPr>
        <p:spPr>
          <a:xfrm>
            <a:off x="4114038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6" name="Connector 395"/>
          <p:cNvCxnSpPr/>
          <p:nvPr/>
        </p:nvCxnSpPr>
        <p:spPr>
          <a:xfrm>
            <a:off x="2551938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7" name="Connector 396"/>
          <p:cNvCxnSpPr/>
          <p:nvPr/>
        </p:nvCxnSpPr>
        <p:spPr>
          <a:xfrm>
            <a:off x="2775095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8" name="Connector 397"/>
          <p:cNvCxnSpPr/>
          <p:nvPr/>
        </p:nvCxnSpPr>
        <p:spPr>
          <a:xfrm>
            <a:off x="2998252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9" name="Connector 398"/>
          <p:cNvCxnSpPr/>
          <p:nvPr/>
        </p:nvCxnSpPr>
        <p:spPr>
          <a:xfrm>
            <a:off x="3221409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Connector 399"/>
          <p:cNvCxnSpPr/>
          <p:nvPr/>
        </p:nvCxnSpPr>
        <p:spPr>
          <a:xfrm>
            <a:off x="3444566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1" name="Connector 400"/>
          <p:cNvCxnSpPr/>
          <p:nvPr/>
        </p:nvCxnSpPr>
        <p:spPr>
          <a:xfrm>
            <a:off x="3667723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2" name="Connector 401"/>
          <p:cNvCxnSpPr/>
          <p:nvPr/>
        </p:nvCxnSpPr>
        <p:spPr>
          <a:xfrm>
            <a:off x="3890880" y="5307234"/>
            <a:ext cx="223158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3" name="Connector 402"/>
          <p:cNvCxnSpPr/>
          <p:nvPr/>
        </p:nvCxnSpPr>
        <p:spPr>
          <a:xfrm>
            <a:off x="2998252" y="4852892"/>
            <a:ext cx="0" cy="151447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4" name="Connector 403"/>
          <p:cNvCxnSpPr/>
          <p:nvPr/>
        </p:nvCxnSpPr>
        <p:spPr>
          <a:xfrm>
            <a:off x="3667723" y="4852892"/>
            <a:ext cx="0" cy="151447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5" name="Connector 404"/>
          <p:cNvCxnSpPr/>
          <p:nvPr/>
        </p:nvCxnSpPr>
        <p:spPr>
          <a:xfrm>
            <a:off x="2998252" y="5004339"/>
            <a:ext cx="223157" cy="0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6" name="Connector 405"/>
          <p:cNvCxnSpPr/>
          <p:nvPr/>
        </p:nvCxnSpPr>
        <p:spPr>
          <a:xfrm>
            <a:off x="3221409" y="5004339"/>
            <a:ext cx="223157" cy="0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7" name="Connector 406"/>
          <p:cNvCxnSpPr/>
          <p:nvPr/>
        </p:nvCxnSpPr>
        <p:spPr>
          <a:xfrm>
            <a:off x="3444566" y="5004339"/>
            <a:ext cx="223157" cy="0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8" name="Oval 407"/>
          <p:cNvSpPr/>
          <p:nvPr/>
        </p:nvSpPr>
        <p:spPr>
          <a:xfrm>
            <a:off x="2526191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Oval 408"/>
          <p:cNvSpPr/>
          <p:nvPr/>
        </p:nvSpPr>
        <p:spPr>
          <a:xfrm>
            <a:off x="2749349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Oval 409"/>
          <p:cNvSpPr/>
          <p:nvPr/>
        </p:nvSpPr>
        <p:spPr>
          <a:xfrm>
            <a:off x="2972506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xfrm>
            <a:off x="3195663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xfrm>
            <a:off x="3418820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xfrm>
            <a:off x="3641977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xfrm>
            <a:off x="3865134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xfrm>
            <a:off x="4088291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Oval 415"/>
          <p:cNvSpPr/>
          <p:nvPr/>
        </p:nvSpPr>
        <p:spPr>
          <a:xfrm>
            <a:off x="2526191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Oval 416"/>
          <p:cNvSpPr/>
          <p:nvPr/>
        </p:nvSpPr>
        <p:spPr>
          <a:xfrm>
            <a:off x="2749349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Oval 417"/>
          <p:cNvSpPr/>
          <p:nvPr/>
        </p:nvSpPr>
        <p:spPr>
          <a:xfrm>
            <a:off x="2972506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Oval 418"/>
          <p:cNvSpPr/>
          <p:nvPr/>
        </p:nvSpPr>
        <p:spPr>
          <a:xfrm>
            <a:off x="3195663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Oval 419"/>
          <p:cNvSpPr/>
          <p:nvPr/>
        </p:nvSpPr>
        <p:spPr>
          <a:xfrm>
            <a:off x="3418820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Oval 420"/>
          <p:cNvSpPr/>
          <p:nvPr/>
        </p:nvSpPr>
        <p:spPr>
          <a:xfrm>
            <a:off x="3641977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Oval 421"/>
          <p:cNvSpPr/>
          <p:nvPr/>
        </p:nvSpPr>
        <p:spPr>
          <a:xfrm>
            <a:off x="3865134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Oval 422"/>
          <p:cNvSpPr/>
          <p:nvPr/>
        </p:nvSpPr>
        <p:spPr>
          <a:xfrm>
            <a:off x="4088291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Oval 423"/>
          <p:cNvSpPr/>
          <p:nvPr/>
        </p:nvSpPr>
        <p:spPr>
          <a:xfrm>
            <a:off x="2526191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Oval 424"/>
          <p:cNvSpPr/>
          <p:nvPr/>
        </p:nvSpPr>
        <p:spPr>
          <a:xfrm>
            <a:off x="2749349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Oval 425"/>
          <p:cNvSpPr/>
          <p:nvPr/>
        </p:nvSpPr>
        <p:spPr>
          <a:xfrm>
            <a:off x="2972506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Oval 426"/>
          <p:cNvSpPr/>
          <p:nvPr/>
        </p:nvSpPr>
        <p:spPr>
          <a:xfrm>
            <a:off x="3641977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Oval 427"/>
          <p:cNvSpPr/>
          <p:nvPr/>
        </p:nvSpPr>
        <p:spPr>
          <a:xfrm>
            <a:off x="3865134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Oval 428"/>
          <p:cNvSpPr/>
          <p:nvPr/>
        </p:nvSpPr>
        <p:spPr>
          <a:xfrm>
            <a:off x="4088291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xfrm>
            <a:off x="2526191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Oval 430"/>
          <p:cNvSpPr/>
          <p:nvPr/>
        </p:nvSpPr>
        <p:spPr>
          <a:xfrm>
            <a:off x="2749349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Oval 431"/>
          <p:cNvSpPr/>
          <p:nvPr/>
        </p:nvSpPr>
        <p:spPr>
          <a:xfrm>
            <a:off x="2972506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Oval 432"/>
          <p:cNvSpPr/>
          <p:nvPr/>
        </p:nvSpPr>
        <p:spPr>
          <a:xfrm>
            <a:off x="3195663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Oval 433"/>
          <p:cNvSpPr/>
          <p:nvPr/>
        </p:nvSpPr>
        <p:spPr>
          <a:xfrm>
            <a:off x="3418820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Oval 434"/>
          <p:cNvSpPr/>
          <p:nvPr/>
        </p:nvSpPr>
        <p:spPr>
          <a:xfrm>
            <a:off x="3641977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Oval 435"/>
          <p:cNvSpPr/>
          <p:nvPr/>
        </p:nvSpPr>
        <p:spPr>
          <a:xfrm>
            <a:off x="3865134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Oval 436"/>
          <p:cNvSpPr/>
          <p:nvPr/>
        </p:nvSpPr>
        <p:spPr>
          <a:xfrm>
            <a:off x="4088291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Oval 437"/>
          <p:cNvSpPr/>
          <p:nvPr/>
        </p:nvSpPr>
        <p:spPr>
          <a:xfrm>
            <a:off x="2526191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xfrm>
            <a:off x="2749349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xfrm>
            <a:off x="2972506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Oval 440"/>
          <p:cNvSpPr/>
          <p:nvPr/>
        </p:nvSpPr>
        <p:spPr>
          <a:xfrm>
            <a:off x="3195663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xfrm>
            <a:off x="3418820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Oval 442"/>
          <p:cNvSpPr/>
          <p:nvPr/>
        </p:nvSpPr>
        <p:spPr>
          <a:xfrm>
            <a:off x="3641977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Oval 443"/>
          <p:cNvSpPr/>
          <p:nvPr/>
        </p:nvSpPr>
        <p:spPr>
          <a:xfrm>
            <a:off x="3865134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xfrm>
            <a:off x="4088291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Oval 445"/>
          <p:cNvSpPr/>
          <p:nvPr/>
        </p:nvSpPr>
        <p:spPr>
          <a:xfrm>
            <a:off x="2526191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Oval 446"/>
          <p:cNvSpPr/>
          <p:nvPr/>
        </p:nvSpPr>
        <p:spPr>
          <a:xfrm>
            <a:off x="2749349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xfrm>
            <a:off x="2972506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Oval 448"/>
          <p:cNvSpPr/>
          <p:nvPr/>
        </p:nvSpPr>
        <p:spPr>
          <a:xfrm>
            <a:off x="3195663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Oval 449"/>
          <p:cNvSpPr/>
          <p:nvPr/>
        </p:nvSpPr>
        <p:spPr>
          <a:xfrm>
            <a:off x="3418820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xfrm>
            <a:off x="3641977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Oval 451"/>
          <p:cNvSpPr/>
          <p:nvPr/>
        </p:nvSpPr>
        <p:spPr>
          <a:xfrm>
            <a:off x="3865134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Oval 452"/>
          <p:cNvSpPr/>
          <p:nvPr/>
        </p:nvSpPr>
        <p:spPr>
          <a:xfrm>
            <a:off x="4088291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4" name="Connector 453"/>
          <p:cNvCxnSpPr/>
          <p:nvPr/>
        </p:nvCxnSpPr>
        <p:spPr>
          <a:xfrm>
            <a:off x="3193088" y="4824571"/>
            <a:ext cx="56642" cy="56641"/>
          </a:xfrm>
          <a:prstGeom prst="line">
            <a:avLst/>
          </a:prstGeom>
          <a:ln w="1270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5" name="Connector 454"/>
          <p:cNvCxnSpPr/>
          <p:nvPr/>
        </p:nvCxnSpPr>
        <p:spPr>
          <a:xfrm flipV="1">
            <a:off x="3193088" y="4824571"/>
            <a:ext cx="56642" cy="56641"/>
          </a:xfrm>
          <a:prstGeom prst="line">
            <a:avLst/>
          </a:prstGeom>
          <a:ln w="1270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6" name="Connector 455"/>
          <p:cNvCxnSpPr/>
          <p:nvPr/>
        </p:nvCxnSpPr>
        <p:spPr>
          <a:xfrm>
            <a:off x="3416245" y="4824571"/>
            <a:ext cx="56642" cy="56641"/>
          </a:xfrm>
          <a:prstGeom prst="line">
            <a:avLst/>
          </a:prstGeom>
          <a:ln w="1270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7" name="Connector 456"/>
          <p:cNvCxnSpPr/>
          <p:nvPr/>
        </p:nvCxnSpPr>
        <p:spPr>
          <a:xfrm flipV="1">
            <a:off x="3416245" y="4824571"/>
            <a:ext cx="56642" cy="56641"/>
          </a:xfrm>
          <a:prstGeom prst="line">
            <a:avLst/>
          </a:prstGeom>
          <a:ln w="1270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8" name="5-Point Star 457"/>
          <p:cNvSpPr/>
          <p:nvPr/>
        </p:nvSpPr>
        <p:spPr>
          <a:xfrm>
            <a:off x="2492722" y="5248018"/>
            <a:ext cx="118431" cy="118431"/>
          </a:xfrm>
          <a:prstGeom prst="star5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TextBox 458"/>
          <p:cNvSpPr txBox="1"/>
          <p:nvPr/>
        </p:nvSpPr>
        <p:spPr>
          <a:xfrm>
            <a:off x="2395728" y="5413248"/>
            <a:ext cx="18745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50"/>
              </a:spcAft>
            </a:pPr>
            <a:r>
              <a:rPr sz="800" b="1">
                <a:solidFill>
                  <a:srgbClr val="0B6BA8"/>
                </a:solidFill>
                <a:latin typeface="Microsoft YaHei"/>
              </a:rPr>
              <a:t>M3′：根 = 负载最优</a:t>
            </a:r>
          </a:p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00" b="1">
                <a:solidFill>
                  <a:srgbClr val="0B6BA8"/>
                </a:solidFill>
                <a:latin typeface="Microsoft YaHei"/>
              </a:rPr>
              <a:t>峰值链路负载 204</a:t>
            </a:r>
          </a:p>
        </p:txBody>
      </p:sp>
      <p:sp>
        <p:nvSpPr>
          <p:cNvPr id="460" name="TextBox 459"/>
          <p:cNvSpPr txBox="1"/>
          <p:nvPr/>
        </p:nvSpPr>
        <p:spPr>
          <a:xfrm>
            <a:off x="4480560" y="4480559"/>
            <a:ext cx="3703320" cy="1152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40" b="1">
                <a:solidFill>
                  <a:srgbClr val="0B6BA8"/>
                </a:solidFill>
                <a:latin typeface="Microsoft YaHei"/>
              </a:rPr>
              <a:t>搜索方式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880" b="0">
                <a:solidFill>
                  <a:srgbClr val="5A6673"/>
                </a:solidFill>
                <a:latin typeface="Microsoft YaHei"/>
              </a:rPr>
              <a:t>枚举残图上每个存活 router 当根 → 各建一张完整表 → 全表校验 → 按 (max_link_load, 总跳数, root id) 取最小。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80" b="0">
                <a:solidFill>
                  <a:srgbClr val="1F2933"/>
                </a:solidFill>
                <a:latin typeface="Microsoft YaHei"/>
              </a:rPr>
              <a:t>离线一次算完，运行时仍是一张静态表，不增加任何硬件。</a:t>
            </a:r>
          </a:p>
        </p:txBody>
      </p:sp>
      <p:sp>
        <p:nvSpPr>
          <p:cNvPr id="461" name="TextBox 460"/>
          <p:cNvSpPr txBox="1"/>
          <p:nvPr/>
        </p:nvSpPr>
        <p:spPr>
          <a:xfrm>
            <a:off x="8321040" y="4480559"/>
            <a:ext cx="3450031" cy="1152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40" b="1">
                <a:solidFill>
                  <a:srgbClr val="0B6BA8"/>
                </a:solidFill>
                <a:latin typeface="Microsoft YaHei"/>
              </a:rPr>
              <a:t>为什么换根有效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880" b="0">
                <a:solidFill>
                  <a:srgbClr val="5A6673"/>
                </a:solidFill>
                <a:latin typeface="Microsoft YaHei"/>
              </a:rPr>
              <a:t>根附近的链路要承担所有跨区流量。根放在度最大的中心点时，全阵流量挤过中心「脊」；把根挪到边角，高度层沿对角展开，峰值链路负载显著下降。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80" b="1">
                <a:solidFill>
                  <a:srgbClr val="1E7F4F"/>
                </a:solidFill>
                <a:latin typeface="Microsoft YaHei"/>
              </a:rPr>
              <a:t>本例（2 洞 + 1 断链）：峰值 258 → 204，低 21%。</a:t>
            </a:r>
          </a:p>
        </p:txBody>
      </p:sp>
      <p:sp>
        <p:nvSpPr>
          <p:cNvPr id="462" name="Rounded Rectangle 461"/>
          <p:cNvSpPr/>
          <p:nvPr/>
        </p:nvSpPr>
        <p:spPr>
          <a:xfrm>
            <a:off x="274320" y="5852160"/>
            <a:ext cx="11643055" cy="822960"/>
          </a:xfrm>
          <a:prstGeom prst="roundRect">
            <a:avLst>
              <a:gd name="adj" fmla="val 4444"/>
            </a:avLst>
          </a:prstGeom>
          <a:solidFill>
            <a:srgbClr val="FBF0F0"/>
          </a:solidFill>
          <a:ln w="11430">
            <a:solidFill>
              <a:srgbClr val="C700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3" name="Rectangle 462"/>
          <p:cNvSpPr/>
          <p:nvPr/>
        </p:nvSpPr>
        <p:spPr>
          <a:xfrm>
            <a:off x="274320" y="5852160"/>
            <a:ext cx="50292" cy="82296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4" name="TextBox 463"/>
          <p:cNvSpPr txBox="1"/>
          <p:nvPr/>
        </p:nvSpPr>
        <p:spPr>
          <a:xfrm>
            <a:off x="438912" y="5943600"/>
            <a:ext cx="530352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50"/>
              </a:spcAft>
            </a:pPr>
            <a:r>
              <a:rPr sz="960" b="1">
                <a:solidFill>
                  <a:srgbClr val="C7000B"/>
                </a:solidFill>
                <a:latin typeface="Microsoft YaHei"/>
              </a:rPr>
              <a:t>第三条性质：保序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80" b="0">
                <a:solidFill>
                  <a:srgbClr val="1F2933"/>
                </a:solidFill>
                <a:latin typeface="Microsoft YaHei"/>
              </a:rPr>
              <a:t>每对源宿的路径由离线 BFS 唯一确定，运行时不自适应、单 VC 不换道 ⇒ 同一对的 flit 天然按序到达。</a:t>
            </a:r>
          </a:p>
        </p:txBody>
      </p:sp>
      <p:sp>
        <p:nvSpPr>
          <p:cNvPr id="465" name="TextBox 464"/>
          <p:cNvSpPr txBox="1"/>
          <p:nvPr/>
        </p:nvSpPr>
        <p:spPr>
          <a:xfrm>
            <a:off x="5989320" y="5943600"/>
            <a:ext cx="5790895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50"/>
              </a:spcAft>
            </a:pPr>
            <a:r>
              <a:rPr sz="960" b="1">
                <a:solidFill>
                  <a:srgbClr val="C7000B"/>
                </a:solidFill>
                <a:latin typeface="Microsoft YaHei"/>
              </a:rPr>
              <a:t>端到端收益（44 场景，物理 1 VC，area 0.897，与 M3 同硬件）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80" b="0">
                <a:solidFill>
                  <a:srgbClr val="1F2933"/>
                </a:solidFill>
                <a:latin typeface="Microsoft YaHei"/>
              </a:rPr>
              <a:t>最差 T_e2e：M3 893 ns → M3′ 790 ns（−11.5%）；中位 621 → 574 ns。轻载 m0=1 时 M3′ 是 1 VC 方案里的 Pareto 前沿点。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841248"/>
          </a:xfrm>
          <a:prstGeom prst="rect">
            <a:avLst/>
          </a:prstGeom>
          <a:solidFill>
            <a:srgbClr val="1E7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91440"/>
            <a:ext cx="115214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</a:rPr>
              <a:t>M3′ vs 方位型 turn model：同一残图的负载热点（同为 1 VC）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502920"/>
            <a:ext cx="11521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>
                <a:solidFill>
                  <a:srgbClr val="C3CBD4"/>
                </a:solidFill>
                <a:latin typeface="Microsoft YaHei"/>
              </a:rPr>
              <a:t>44 场景零牺牲：XY 0、west-first 0、neg-first 10、M3′ 41　·　M3′ 的代价：峰值 1.93× 割界，min-max 选路降到 1.45×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914400"/>
            <a:ext cx="11643055" cy="2779776"/>
          </a:xfrm>
          <a:prstGeom prst="roundRect">
            <a:avLst>
              <a:gd name="adj" fmla="val 1315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4320" y="914400"/>
            <a:ext cx="11643055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14400"/>
            <a:ext cx="50292" cy="2743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3" y="941832"/>
            <a:ext cx="11368735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① all-to-all 链路负载热点（1 VC）：后三幅同一 partial good，46 个好节点全参与、牺牲 0；各按自身割界归一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" y="1453895"/>
            <a:ext cx="2697480" cy="1389888"/>
          </a:xfrm>
          <a:prstGeom prst="rect">
            <a:avLst/>
          </a:prstGeom>
          <a:solidFill>
            <a:srgbClr val="FDFDFE"/>
          </a:solidFill>
          <a:ln w="6350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2336" y="1261872"/>
            <a:ext cx="26974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40" b="1">
                <a:solidFill>
                  <a:srgbClr val="5A6673"/>
                </a:solidFill>
                <a:latin typeface="Microsoft YaHei"/>
              </a:rPr>
              <a:t>参照：west-first（无故障）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888567" y="2268437"/>
            <a:ext cx="0" cy="211909"/>
          </a:xfrm>
          <a:prstGeom prst="line">
            <a:avLst/>
          </a:prstGeom>
          <a:ln w="16113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2888567" y="1420803"/>
            <a:ext cx="0" cy="211909"/>
          </a:xfrm>
          <a:prstGeom prst="line">
            <a:avLst/>
          </a:prstGeom>
          <a:ln w="16278">
            <a:solidFill>
              <a:srgbClr val="BD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238572" y="1420803"/>
            <a:ext cx="0" cy="211909"/>
          </a:xfrm>
          <a:prstGeom prst="line">
            <a:avLst/>
          </a:prstGeom>
          <a:ln w="16443">
            <a:solidFill>
              <a:srgbClr val="BCD4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563569" y="1420803"/>
            <a:ext cx="0" cy="211909"/>
          </a:xfrm>
          <a:prstGeom prst="line">
            <a:avLst/>
          </a:prstGeom>
          <a:ln w="16443">
            <a:solidFill>
              <a:srgbClr val="BCD4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238572" y="2268437"/>
            <a:ext cx="0" cy="211909"/>
          </a:xfrm>
          <a:prstGeom prst="line">
            <a:avLst/>
          </a:prstGeom>
          <a:ln w="16609">
            <a:solidFill>
              <a:srgbClr val="BBD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563569" y="2268437"/>
            <a:ext cx="0" cy="211909"/>
          </a:xfrm>
          <a:prstGeom prst="line">
            <a:avLst/>
          </a:prstGeom>
          <a:ln w="16609">
            <a:solidFill>
              <a:srgbClr val="BBD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913574" y="1420803"/>
            <a:ext cx="0" cy="211909"/>
          </a:xfrm>
          <a:prstGeom prst="line">
            <a:avLst/>
          </a:prstGeom>
          <a:ln w="16774">
            <a:solidFill>
              <a:srgbClr val="B9D2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913574" y="2268437"/>
            <a:ext cx="0" cy="211909"/>
          </a:xfrm>
          <a:prstGeom prst="line">
            <a:avLst/>
          </a:prstGeom>
          <a:ln w="16939">
            <a:solidFill>
              <a:srgbClr val="B8D2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13584" y="1420803"/>
            <a:ext cx="324998" cy="0"/>
          </a:xfrm>
          <a:prstGeom prst="line">
            <a:avLst/>
          </a:prstGeom>
          <a:ln w="17105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563569" y="1420803"/>
            <a:ext cx="324998" cy="0"/>
          </a:xfrm>
          <a:prstGeom prst="line">
            <a:avLst/>
          </a:prstGeom>
          <a:ln w="17105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563569" y="1632712"/>
            <a:ext cx="324998" cy="0"/>
          </a:xfrm>
          <a:prstGeom prst="line">
            <a:avLst/>
          </a:prstGeom>
          <a:ln w="17105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13584" y="1844620"/>
            <a:ext cx="324998" cy="0"/>
          </a:xfrm>
          <a:prstGeom prst="line">
            <a:avLst/>
          </a:prstGeom>
          <a:ln w="17105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563569" y="1844620"/>
            <a:ext cx="324998" cy="0"/>
          </a:xfrm>
          <a:prstGeom prst="line">
            <a:avLst/>
          </a:prstGeom>
          <a:ln w="17105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13584" y="2056529"/>
            <a:ext cx="324998" cy="0"/>
          </a:xfrm>
          <a:prstGeom prst="line">
            <a:avLst/>
          </a:prstGeom>
          <a:ln w="17105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2563569" y="2056529"/>
            <a:ext cx="324998" cy="0"/>
          </a:xfrm>
          <a:prstGeom prst="line">
            <a:avLst/>
          </a:prstGeom>
          <a:ln w="17105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13584" y="2268437"/>
            <a:ext cx="324998" cy="0"/>
          </a:xfrm>
          <a:prstGeom prst="line">
            <a:avLst/>
          </a:prstGeom>
          <a:ln w="17105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563569" y="2268437"/>
            <a:ext cx="324998" cy="0"/>
          </a:xfrm>
          <a:prstGeom prst="line">
            <a:avLst/>
          </a:prstGeom>
          <a:ln w="17105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13584" y="2480346"/>
            <a:ext cx="324998" cy="0"/>
          </a:xfrm>
          <a:prstGeom prst="line">
            <a:avLst/>
          </a:prstGeom>
          <a:ln w="17105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2563569" y="2480346"/>
            <a:ext cx="324998" cy="0"/>
          </a:xfrm>
          <a:prstGeom prst="line">
            <a:avLst/>
          </a:prstGeom>
          <a:ln w="17105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613584" y="1632712"/>
            <a:ext cx="324998" cy="0"/>
          </a:xfrm>
          <a:prstGeom prst="line">
            <a:avLst/>
          </a:prstGeom>
          <a:ln w="17270">
            <a:solidFill>
              <a:srgbClr val="B6D0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588577" y="1420803"/>
            <a:ext cx="0" cy="211909"/>
          </a:xfrm>
          <a:prstGeom prst="line">
            <a:avLst/>
          </a:prstGeom>
          <a:ln w="17601">
            <a:solidFill>
              <a:srgbClr val="B3CF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588577" y="2268437"/>
            <a:ext cx="0" cy="211909"/>
          </a:xfrm>
          <a:prstGeom prst="line">
            <a:avLst/>
          </a:prstGeom>
          <a:ln w="17601">
            <a:solidFill>
              <a:srgbClr val="B3CF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13584" y="1420803"/>
            <a:ext cx="0" cy="211909"/>
          </a:xfrm>
          <a:prstGeom prst="line">
            <a:avLst/>
          </a:prstGeom>
          <a:ln w="17932">
            <a:solidFill>
              <a:srgbClr val="B1C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263579" y="1420803"/>
            <a:ext cx="0" cy="211909"/>
          </a:xfrm>
          <a:prstGeom prst="line">
            <a:avLst/>
          </a:prstGeom>
          <a:ln w="17932">
            <a:solidFill>
              <a:srgbClr val="B1C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263579" y="2268437"/>
            <a:ext cx="0" cy="211909"/>
          </a:xfrm>
          <a:prstGeom prst="line">
            <a:avLst/>
          </a:prstGeom>
          <a:ln w="18097">
            <a:solidFill>
              <a:srgbClr val="B0CD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938582" y="1420803"/>
            <a:ext cx="0" cy="211909"/>
          </a:xfrm>
          <a:prstGeom prst="line">
            <a:avLst/>
          </a:prstGeom>
          <a:ln w="18262">
            <a:solidFill>
              <a:srgbClr val="AFCC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13584" y="2268437"/>
            <a:ext cx="0" cy="211909"/>
          </a:xfrm>
          <a:prstGeom prst="line">
            <a:avLst/>
          </a:prstGeom>
          <a:ln w="18428">
            <a:solidFill>
              <a:srgbClr val="ADCC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38582" y="2268437"/>
            <a:ext cx="0" cy="211909"/>
          </a:xfrm>
          <a:prstGeom prst="line">
            <a:avLst/>
          </a:prstGeom>
          <a:ln w="18428">
            <a:solidFill>
              <a:srgbClr val="ADCC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888567" y="2056529"/>
            <a:ext cx="0" cy="211908"/>
          </a:xfrm>
          <a:prstGeom prst="line">
            <a:avLst/>
          </a:prstGeom>
          <a:ln w="19751">
            <a:solidFill>
              <a:srgbClr val="B0CA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563569" y="2056529"/>
            <a:ext cx="0" cy="211908"/>
          </a:xfrm>
          <a:prstGeom prst="line">
            <a:avLst/>
          </a:prstGeom>
          <a:ln w="19916">
            <a:solidFill>
              <a:srgbClr val="B1CA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2238572" y="2056529"/>
            <a:ext cx="0" cy="211908"/>
          </a:xfrm>
          <a:prstGeom prst="line">
            <a:avLst/>
          </a:prstGeom>
          <a:ln w="20081">
            <a:solidFill>
              <a:srgbClr val="B3CA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2563569" y="1632712"/>
            <a:ext cx="0" cy="211908"/>
          </a:xfrm>
          <a:prstGeom prst="line">
            <a:avLst/>
          </a:prstGeom>
          <a:ln w="20247">
            <a:solidFill>
              <a:srgbClr val="B4C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888567" y="1632712"/>
            <a:ext cx="0" cy="211908"/>
          </a:xfrm>
          <a:prstGeom prst="line">
            <a:avLst/>
          </a:prstGeom>
          <a:ln w="20247">
            <a:solidFill>
              <a:srgbClr val="B4C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913574" y="1632712"/>
            <a:ext cx="0" cy="211908"/>
          </a:xfrm>
          <a:prstGeom prst="line">
            <a:avLst/>
          </a:prstGeom>
          <a:ln w="20412">
            <a:solidFill>
              <a:srgbClr val="B6CA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238572" y="1632712"/>
            <a:ext cx="0" cy="211908"/>
          </a:xfrm>
          <a:prstGeom prst="line">
            <a:avLst/>
          </a:prstGeom>
          <a:ln w="20412">
            <a:solidFill>
              <a:srgbClr val="B6CA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913574" y="2056529"/>
            <a:ext cx="0" cy="211908"/>
          </a:xfrm>
          <a:prstGeom prst="line">
            <a:avLst/>
          </a:prstGeom>
          <a:ln w="20412">
            <a:solidFill>
              <a:srgbClr val="B6CA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588577" y="1632712"/>
            <a:ext cx="0" cy="211908"/>
          </a:xfrm>
          <a:prstGeom prst="line">
            <a:avLst/>
          </a:prstGeom>
          <a:ln w="21074">
            <a:solidFill>
              <a:srgbClr val="BCC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888567" y="1844620"/>
            <a:ext cx="0" cy="211909"/>
          </a:xfrm>
          <a:prstGeom prst="line">
            <a:avLst/>
          </a:prstGeom>
          <a:ln w="21074">
            <a:solidFill>
              <a:srgbClr val="BCC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938582" y="1632712"/>
            <a:ext cx="0" cy="211908"/>
          </a:xfrm>
          <a:prstGeom prst="line">
            <a:avLst/>
          </a:prstGeom>
          <a:ln w="21239">
            <a:solidFill>
              <a:srgbClr val="BECB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263579" y="1632712"/>
            <a:ext cx="0" cy="211908"/>
          </a:xfrm>
          <a:prstGeom prst="line">
            <a:avLst/>
          </a:prstGeom>
          <a:ln w="21239">
            <a:solidFill>
              <a:srgbClr val="BECB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563569" y="1844620"/>
            <a:ext cx="0" cy="211909"/>
          </a:xfrm>
          <a:prstGeom prst="line">
            <a:avLst/>
          </a:prstGeom>
          <a:ln w="21239">
            <a:solidFill>
              <a:srgbClr val="BECB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613584" y="1632712"/>
            <a:ext cx="0" cy="211908"/>
          </a:xfrm>
          <a:prstGeom prst="line">
            <a:avLst/>
          </a:prstGeom>
          <a:ln w="21404">
            <a:solidFill>
              <a:srgbClr val="C0CB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238572" y="1844620"/>
            <a:ext cx="0" cy="211909"/>
          </a:xfrm>
          <a:prstGeom prst="line">
            <a:avLst/>
          </a:prstGeom>
          <a:ln w="21404">
            <a:solidFill>
              <a:srgbClr val="C0CB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263579" y="2056529"/>
            <a:ext cx="0" cy="211908"/>
          </a:xfrm>
          <a:prstGeom prst="line">
            <a:avLst/>
          </a:prstGeom>
          <a:ln w="21404">
            <a:solidFill>
              <a:srgbClr val="C0CB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588577" y="2056529"/>
            <a:ext cx="0" cy="211908"/>
          </a:xfrm>
          <a:prstGeom prst="line">
            <a:avLst/>
          </a:prstGeom>
          <a:ln w="21404">
            <a:solidFill>
              <a:srgbClr val="C0CB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613584" y="2056529"/>
            <a:ext cx="0" cy="211908"/>
          </a:xfrm>
          <a:prstGeom prst="line">
            <a:avLst/>
          </a:prstGeom>
          <a:ln w="21570">
            <a:solidFill>
              <a:srgbClr val="C1CB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938582" y="2056529"/>
            <a:ext cx="0" cy="211908"/>
          </a:xfrm>
          <a:prstGeom prst="line">
            <a:avLst/>
          </a:prstGeom>
          <a:ln w="21570">
            <a:solidFill>
              <a:srgbClr val="C1CB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1913574" y="1844620"/>
            <a:ext cx="0" cy="211909"/>
          </a:xfrm>
          <a:prstGeom prst="line">
            <a:avLst/>
          </a:prstGeom>
          <a:ln w="21900">
            <a:solidFill>
              <a:srgbClr val="C4CB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938582" y="1420803"/>
            <a:ext cx="324997" cy="0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938582" y="1632712"/>
            <a:ext cx="324997" cy="0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2238572" y="1632712"/>
            <a:ext cx="324997" cy="0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938582" y="1844620"/>
            <a:ext cx="324997" cy="0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2238572" y="1844620"/>
            <a:ext cx="324997" cy="0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938582" y="2056529"/>
            <a:ext cx="324997" cy="0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2238572" y="2056529"/>
            <a:ext cx="324997" cy="0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938582" y="2268437"/>
            <a:ext cx="324997" cy="0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938582" y="2480346"/>
            <a:ext cx="324997" cy="0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2238572" y="2480346"/>
            <a:ext cx="324997" cy="0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2238572" y="1420803"/>
            <a:ext cx="324997" cy="0"/>
          </a:xfrm>
          <a:prstGeom prst="line">
            <a:avLst/>
          </a:prstGeom>
          <a:ln w="22231">
            <a:solidFill>
              <a:srgbClr val="C7CC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2238572" y="2268437"/>
            <a:ext cx="324997" cy="0"/>
          </a:xfrm>
          <a:prstGeom prst="line">
            <a:avLst/>
          </a:prstGeom>
          <a:ln w="22231">
            <a:solidFill>
              <a:srgbClr val="C7CC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1588577" y="1844620"/>
            <a:ext cx="0" cy="211909"/>
          </a:xfrm>
          <a:prstGeom prst="line">
            <a:avLst/>
          </a:prstGeom>
          <a:ln w="22562">
            <a:solidFill>
              <a:srgbClr val="CBCC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1263579" y="1844620"/>
            <a:ext cx="0" cy="211909"/>
          </a:xfrm>
          <a:prstGeom prst="line">
            <a:avLst/>
          </a:prstGeom>
          <a:ln w="22727">
            <a:solidFill>
              <a:srgbClr val="CCCC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613584" y="1844620"/>
            <a:ext cx="0" cy="211909"/>
          </a:xfrm>
          <a:prstGeom prst="line">
            <a:avLst/>
          </a:prstGeom>
          <a:ln w="22893">
            <a:solidFill>
              <a:srgbClr val="CECC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938582" y="1844620"/>
            <a:ext cx="0" cy="211909"/>
          </a:xfrm>
          <a:prstGeom prst="line">
            <a:avLst/>
          </a:prstGeom>
          <a:ln w="22893">
            <a:solidFill>
              <a:srgbClr val="CECC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1263579" y="1420803"/>
            <a:ext cx="324998" cy="0"/>
          </a:xfrm>
          <a:prstGeom prst="line">
            <a:avLst/>
          </a:prstGeom>
          <a:ln w="25042">
            <a:solidFill>
              <a:srgbClr val="E2CE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1913574" y="1420803"/>
            <a:ext cx="324998" cy="0"/>
          </a:xfrm>
          <a:prstGeom prst="line">
            <a:avLst/>
          </a:prstGeom>
          <a:ln w="25042">
            <a:solidFill>
              <a:srgbClr val="E2CE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1263579" y="1632712"/>
            <a:ext cx="324998" cy="0"/>
          </a:xfrm>
          <a:prstGeom prst="line">
            <a:avLst/>
          </a:prstGeom>
          <a:ln w="25042">
            <a:solidFill>
              <a:srgbClr val="E2CE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913574" y="1632712"/>
            <a:ext cx="324998" cy="0"/>
          </a:xfrm>
          <a:prstGeom prst="line">
            <a:avLst/>
          </a:prstGeom>
          <a:ln w="25042">
            <a:solidFill>
              <a:srgbClr val="E2CE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1263579" y="2056529"/>
            <a:ext cx="324998" cy="0"/>
          </a:xfrm>
          <a:prstGeom prst="line">
            <a:avLst/>
          </a:prstGeom>
          <a:ln w="25042">
            <a:solidFill>
              <a:srgbClr val="E2CE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1913574" y="2056529"/>
            <a:ext cx="324998" cy="0"/>
          </a:xfrm>
          <a:prstGeom prst="line">
            <a:avLst/>
          </a:prstGeom>
          <a:ln w="25042">
            <a:solidFill>
              <a:srgbClr val="E2CE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1263579" y="2268437"/>
            <a:ext cx="324998" cy="0"/>
          </a:xfrm>
          <a:prstGeom prst="line">
            <a:avLst/>
          </a:prstGeom>
          <a:ln w="25042">
            <a:solidFill>
              <a:srgbClr val="E2CE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1913574" y="2268437"/>
            <a:ext cx="324998" cy="0"/>
          </a:xfrm>
          <a:prstGeom prst="line">
            <a:avLst/>
          </a:prstGeom>
          <a:ln w="25042">
            <a:solidFill>
              <a:srgbClr val="E2CE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1263579" y="2480346"/>
            <a:ext cx="324998" cy="0"/>
          </a:xfrm>
          <a:prstGeom prst="line">
            <a:avLst/>
          </a:prstGeom>
          <a:ln w="25042">
            <a:solidFill>
              <a:srgbClr val="E2CE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1913574" y="2480346"/>
            <a:ext cx="324998" cy="0"/>
          </a:xfrm>
          <a:prstGeom prst="line">
            <a:avLst/>
          </a:prstGeom>
          <a:ln w="25042">
            <a:solidFill>
              <a:srgbClr val="E2CE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1263579" y="1844620"/>
            <a:ext cx="324998" cy="0"/>
          </a:xfrm>
          <a:prstGeom prst="line">
            <a:avLst/>
          </a:prstGeom>
          <a:ln w="25208">
            <a:solidFill>
              <a:srgbClr val="E4CE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1913574" y="1844620"/>
            <a:ext cx="324998" cy="0"/>
          </a:xfrm>
          <a:prstGeom prst="line">
            <a:avLst/>
          </a:prstGeom>
          <a:ln w="25208">
            <a:solidFill>
              <a:srgbClr val="E4CE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1588577" y="1420803"/>
            <a:ext cx="324997" cy="0"/>
          </a:xfrm>
          <a:prstGeom prst="line">
            <a:avLst/>
          </a:prstGeom>
          <a:ln w="26034">
            <a:solidFill>
              <a:srgbClr val="ECC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1588577" y="2056529"/>
            <a:ext cx="324997" cy="0"/>
          </a:xfrm>
          <a:prstGeom prst="line">
            <a:avLst/>
          </a:prstGeom>
          <a:ln w="26034">
            <a:solidFill>
              <a:srgbClr val="ECC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1588577" y="2268437"/>
            <a:ext cx="324997" cy="0"/>
          </a:xfrm>
          <a:prstGeom prst="line">
            <a:avLst/>
          </a:prstGeom>
          <a:ln w="26034">
            <a:solidFill>
              <a:srgbClr val="ECC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1588577" y="2480346"/>
            <a:ext cx="324997" cy="0"/>
          </a:xfrm>
          <a:prstGeom prst="line">
            <a:avLst/>
          </a:prstGeom>
          <a:ln w="26200">
            <a:solidFill>
              <a:srgbClr val="EECF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1588577" y="1632712"/>
            <a:ext cx="324997" cy="0"/>
          </a:xfrm>
          <a:prstGeom prst="line">
            <a:avLst/>
          </a:prstGeom>
          <a:ln w="26365">
            <a:solidFill>
              <a:srgbClr val="EFCF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1588577" y="1844620"/>
            <a:ext cx="324997" cy="0"/>
          </a:xfrm>
          <a:prstGeom prst="line">
            <a:avLst/>
          </a:prstGeom>
          <a:ln w="26365">
            <a:solidFill>
              <a:srgbClr val="EFCF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Oval 94"/>
          <p:cNvSpPr/>
          <p:nvPr/>
        </p:nvSpPr>
        <p:spPr>
          <a:xfrm>
            <a:off x="581798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906795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1231793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1556790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1881788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2206786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2531783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2856781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581798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906795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1231793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1556790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1881788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2206786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2531783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2856781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581798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906795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231793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1556790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1881788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2206786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2531783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2856781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581798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906795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231793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556790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1881788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2206786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2531783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2856781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581798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906795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231793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556790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1881788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2206786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2531783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2856781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581798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906795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1231793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1556790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1881788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2206786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2531783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2856781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402336" y="2798064"/>
            <a:ext cx="2697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30" b="0">
                <a:solidFill>
                  <a:srgbClr val="5A6673"/>
                </a:solidFill>
                <a:latin typeface="Microsoft YaHei"/>
              </a:rPr>
              <a:t>方位型里最均衡：峰值 98 = 1.02× 割界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02336" y="2999232"/>
            <a:ext cx="26974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30" b="1">
                <a:solidFill>
                  <a:srgbClr val="5A6673"/>
                </a:solidFill>
                <a:latin typeface="Microsoft YaHei"/>
              </a:rPr>
              <a:t>但残图上不可路由：零牺牲 0/44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3300984" y="1453895"/>
            <a:ext cx="2697480" cy="1389888"/>
          </a:xfrm>
          <a:prstGeom prst="rect">
            <a:avLst/>
          </a:prstGeom>
          <a:solidFill>
            <a:srgbClr val="FDFDFE"/>
          </a:solidFill>
          <a:ln w="6350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3300984" y="1261872"/>
            <a:ext cx="26974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40" b="1">
                <a:solidFill>
                  <a:srgbClr val="0B6BA8"/>
                </a:solidFill>
                <a:latin typeface="Microsoft YaHei"/>
              </a:rPr>
              <a:t>negative-first，同一残图</a:t>
            </a:r>
          </a:p>
        </p:txBody>
      </p:sp>
      <p:cxnSp>
        <p:nvCxnSpPr>
          <p:cNvPr id="147" name="Connector 146"/>
          <p:cNvCxnSpPr/>
          <p:nvPr/>
        </p:nvCxnSpPr>
        <p:spPr>
          <a:xfrm>
            <a:off x="3512232" y="2268437"/>
            <a:ext cx="324998" cy="0"/>
          </a:xfrm>
          <a:prstGeom prst="line">
            <a:avLst/>
          </a:prstGeom>
          <a:ln w="12256">
            <a:solidFill>
              <a:srgbClr val="DAE5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5787215" y="2268437"/>
            <a:ext cx="0" cy="211909"/>
          </a:xfrm>
          <a:prstGeom prst="line">
            <a:avLst/>
          </a:prstGeom>
          <a:ln w="12556">
            <a:solidFill>
              <a:srgbClr val="D8E4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4812222" y="2268437"/>
            <a:ext cx="0" cy="211909"/>
          </a:xfrm>
          <a:prstGeom prst="line">
            <a:avLst/>
          </a:prstGeom>
          <a:ln w="12705">
            <a:solidFill>
              <a:srgbClr val="D7E3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4812222" y="2056529"/>
            <a:ext cx="0" cy="211908"/>
          </a:xfrm>
          <a:prstGeom prst="line">
            <a:avLst/>
          </a:prstGeom>
          <a:ln w="13005">
            <a:solidFill>
              <a:srgbClr val="D5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5462217" y="2268437"/>
            <a:ext cx="0" cy="211909"/>
          </a:xfrm>
          <a:prstGeom prst="line">
            <a:avLst/>
          </a:prstGeom>
          <a:ln w="13005">
            <a:solidFill>
              <a:srgbClr val="D5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5787215" y="1420803"/>
            <a:ext cx="0" cy="211909"/>
          </a:xfrm>
          <a:prstGeom prst="line">
            <a:avLst/>
          </a:prstGeom>
          <a:ln w="13454">
            <a:solidFill>
              <a:srgbClr val="D1E0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>
            <a:off x="5137220" y="2268437"/>
            <a:ext cx="0" cy="211909"/>
          </a:xfrm>
          <a:prstGeom prst="line">
            <a:avLst/>
          </a:prstGeom>
          <a:ln w="13454">
            <a:solidFill>
              <a:srgbClr val="D1E0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>
            <a:off x="4812222" y="1420803"/>
            <a:ext cx="0" cy="211909"/>
          </a:xfrm>
          <a:prstGeom prst="line">
            <a:avLst/>
          </a:prstGeom>
          <a:ln w="13604">
            <a:solidFill>
              <a:srgbClr val="D0E0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>
            <a:off x="4162227" y="2268437"/>
            <a:ext cx="0" cy="211909"/>
          </a:xfrm>
          <a:prstGeom prst="line">
            <a:avLst/>
          </a:prstGeom>
          <a:ln w="13904">
            <a:solidFill>
              <a:srgbClr val="CEDE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>
            <a:off x="4487225" y="1420803"/>
            <a:ext cx="0" cy="211909"/>
          </a:xfrm>
          <a:prstGeom prst="line">
            <a:avLst/>
          </a:prstGeom>
          <a:ln w="14053">
            <a:solidFill>
              <a:srgbClr val="CDDE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5787215" y="2056529"/>
            <a:ext cx="0" cy="211908"/>
          </a:xfrm>
          <a:prstGeom prst="line">
            <a:avLst/>
          </a:prstGeom>
          <a:ln w="14503">
            <a:solidFill>
              <a:srgbClr val="CADC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>
            <a:off x="5462217" y="2480346"/>
            <a:ext cx="324998" cy="0"/>
          </a:xfrm>
          <a:prstGeom prst="line">
            <a:avLst/>
          </a:prstGeom>
          <a:ln w="14503">
            <a:solidFill>
              <a:srgbClr val="CADC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>
            <a:off x="5462217" y="2268437"/>
            <a:ext cx="324998" cy="0"/>
          </a:xfrm>
          <a:prstGeom prst="line">
            <a:avLst/>
          </a:prstGeom>
          <a:ln w="14652">
            <a:solidFill>
              <a:srgbClr val="C9DB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>
            <a:off x="5462217" y="1420803"/>
            <a:ext cx="0" cy="211909"/>
          </a:xfrm>
          <a:prstGeom prst="line">
            <a:avLst/>
          </a:prstGeom>
          <a:ln w="14802">
            <a:solidFill>
              <a:srgbClr val="C8DB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>
            <a:off x="5462217" y="2056529"/>
            <a:ext cx="324998" cy="0"/>
          </a:xfrm>
          <a:prstGeom prst="line">
            <a:avLst/>
          </a:prstGeom>
          <a:ln w="14952">
            <a:solidFill>
              <a:srgbClr val="C6DA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>
            <a:off x="5462217" y="2056529"/>
            <a:ext cx="0" cy="211908"/>
          </a:xfrm>
          <a:prstGeom prst="line">
            <a:avLst/>
          </a:prstGeom>
          <a:ln w="14952">
            <a:solidFill>
              <a:srgbClr val="C6DA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>
            <a:off x="4487225" y="2268437"/>
            <a:ext cx="0" cy="211909"/>
          </a:xfrm>
          <a:prstGeom prst="line">
            <a:avLst/>
          </a:prstGeom>
          <a:ln w="15102">
            <a:solidFill>
              <a:srgbClr val="C5D9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>
            <a:off x="3512232" y="1844620"/>
            <a:ext cx="324998" cy="0"/>
          </a:xfrm>
          <a:prstGeom prst="line">
            <a:avLst/>
          </a:prstGeom>
          <a:ln w="15401">
            <a:solidFill>
              <a:srgbClr val="C3D8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5137220" y="2056529"/>
            <a:ext cx="0" cy="211908"/>
          </a:xfrm>
          <a:prstGeom prst="line">
            <a:avLst/>
          </a:prstGeom>
          <a:ln w="15401">
            <a:solidFill>
              <a:srgbClr val="C3D8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>
            <a:off x="5462217" y="1844620"/>
            <a:ext cx="324998" cy="0"/>
          </a:xfrm>
          <a:prstGeom prst="line">
            <a:avLst/>
          </a:prstGeom>
          <a:ln w="15851">
            <a:solidFill>
              <a:srgbClr val="C0D6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>
            <a:off x="5787215" y="1844620"/>
            <a:ext cx="0" cy="211909"/>
          </a:xfrm>
          <a:prstGeom prst="line">
            <a:avLst/>
          </a:prstGeom>
          <a:ln w="15851">
            <a:solidFill>
              <a:srgbClr val="C0D6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>
            <a:off x="5787215" y="1632712"/>
            <a:ext cx="0" cy="211908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>
            <a:off x="5137220" y="1844620"/>
            <a:ext cx="0" cy="211909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>
            <a:off x="3837230" y="1844620"/>
            <a:ext cx="324997" cy="0"/>
          </a:xfrm>
          <a:prstGeom prst="line">
            <a:avLst/>
          </a:prstGeom>
          <a:ln w="16300">
            <a:solidFill>
              <a:srgbClr val="BDD4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>
            <a:off x="5462217" y="1844620"/>
            <a:ext cx="0" cy="211909"/>
          </a:xfrm>
          <a:prstGeom prst="line">
            <a:avLst/>
          </a:prstGeom>
          <a:ln w="16300">
            <a:solidFill>
              <a:srgbClr val="BDD4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>
            <a:off x="5137220" y="1844620"/>
            <a:ext cx="324997" cy="0"/>
          </a:xfrm>
          <a:prstGeom prst="line">
            <a:avLst/>
          </a:prstGeom>
          <a:ln w="17348">
            <a:solidFill>
              <a:srgbClr val="B5D0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>
            <a:off x="4487225" y="2056529"/>
            <a:ext cx="0" cy="211908"/>
          </a:xfrm>
          <a:prstGeom prst="line">
            <a:avLst/>
          </a:prstGeom>
          <a:ln w="17498">
            <a:solidFill>
              <a:srgbClr val="B4CF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>
            <a:off x="5137220" y="1420803"/>
            <a:ext cx="0" cy="211909"/>
          </a:xfrm>
          <a:prstGeom prst="line">
            <a:avLst/>
          </a:prstGeom>
          <a:ln w="17947">
            <a:solidFill>
              <a:srgbClr val="B1C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>
            <a:off x="3512232" y="2480346"/>
            <a:ext cx="324998" cy="0"/>
          </a:xfrm>
          <a:prstGeom prst="line">
            <a:avLst/>
          </a:prstGeom>
          <a:ln w="17947">
            <a:solidFill>
              <a:srgbClr val="B1C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>
            <a:off x="5137220" y="2480346"/>
            <a:ext cx="324997" cy="0"/>
          </a:xfrm>
          <a:prstGeom prst="line">
            <a:avLst/>
          </a:prstGeom>
          <a:ln w="18097">
            <a:solidFill>
              <a:srgbClr val="B0CD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>
            <a:off x="5137220" y="2056529"/>
            <a:ext cx="324997" cy="0"/>
          </a:xfrm>
          <a:prstGeom prst="line">
            <a:avLst/>
          </a:prstGeom>
          <a:ln w="18247">
            <a:solidFill>
              <a:srgbClr val="AFCC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>
            <a:off x="5137220" y="2268437"/>
            <a:ext cx="324997" cy="0"/>
          </a:xfrm>
          <a:prstGeom prst="line">
            <a:avLst/>
          </a:prstGeom>
          <a:ln w="18247">
            <a:solidFill>
              <a:srgbClr val="AFCC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>
            <a:off x="5462217" y="1632712"/>
            <a:ext cx="324998" cy="0"/>
          </a:xfrm>
          <a:prstGeom prst="line">
            <a:avLst/>
          </a:prstGeom>
          <a:ln w="18397">
            <a:solidFill>
              <a:srgbClr val="AECC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>
            <a:off x="3512232" y="1420803"/>
            <a:ext cx="324998" cy="0"/>
          </a:xfrm>
          <a:prstGeom prst="line">
            <a:avLst/>
          </a:prstGeom>
          <a:ln w="18546">
            <a:solidFill>
              <a:srgbClr val="ADCB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>
            <a:off x="5462217" y="1632712"/>
            <a:ext cx="0" cy="211908"/>
          </a:xfrm>
          <a:prstGeom prst="line">
            <a:avLst/>
          </a:prstGeom>
          <a:ln w="18546">
            <a:solidFill>
              <a:srgbClr val="ADCB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>
            <a:off x="5462217" y="1420803"/>
            <a:ext cx="324998" cy="0"/>
          </a:xfrm>
          <a:prstGeom prst="line">
            <a:avLst/>
          </a:prstGeom>
          <a:ln w="18696">
            <a:solidFill>
              <a:srgbClr val="ACCA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>
            <a:off x="3512232" y="1632712"/>
            <a:ext cx="324998" cy="0"/>
          </a:xfrm>
          <a:prstGeom prst="line">
            <a:avLst/>
          </a:prstGeom>
          <a:ln w="18696">
            <a:solidFill>
              <a:srgbClr val="ACCA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>
            <a:off x="3512232" y="2056529"/>
            <a:ext cx="324998" cy="0"/>
          </a:xfrm>
          <a:prstGeom prst="line">
            <a:avLst/>
          </a:prstGeom>
          <a:ln w="19445">
            <a:solidFill>
              <a:srgbClr val="ADC9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>
            <a:off x="3512232" y="1420803"/>
            <a:ext cx="0" cy="211909"/>
          </a:xfrm>
          <a:prstGeom prst="line">
            <a:avLst/>
          </a:prstGeom>
          <a:ln w="20643">
            <a:solidFill>
              <a:srgbClr val="B8CA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>
            <a:off x="4812222" y="2056529"/>
            <a:ext cx="324998" cy="0"/>
          </a:xfrm>
          <a:prstGeom prst="line">
            <a:avLst/>
          </a:prstGeom>
          <a:ln w="20643">
            <a:solidFill>
              <a:srgbClr val="B8CA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>
            <a:off x="3837230" y="1420803"/>
            <a:ext cx="0" cy="211909"/>
          </a:xfrm>
          <a:prstGeom prst="line">
            <a:avLst/>
          </a:prstGeom>
          <a:ln w="20793">
            <a:solidFill>
              <a:srgbClr val="BACA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>
            <a:off x="4812222" y="2268437"/>
            <a:ext cx="324998" cy="0"/>
          </a:xfrm>
          <a:prstGeom prst="line">
            <a:avLst/>
          </a:prstGeom>
          <a:ln w="20943">
            <a:solidFill>
              <a:srgbClr val="BBCA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>
            <a:off x="4812222" y="2480346"/>
            <a:ext cx="324998" cy="0"/>
          </a:xfrm>
          <a:prstGeom prst="line">
            <a:avLst/>
          </a:prstGeom>
          <a:ln w="20943">
            <a:solidFill>
              <a:srgbClr val="BBCA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>
            <a:off x="4162227" y="1420803"/>
            <a:ext cx="0" cy="211909"/>
          </a:xfrm>
          <a:prstGeom prst="line">
            <a:avLst/>
          </a:prstGeom>
          <a:ln w="21242">
            <a:solidFill>
              <a:srgbClr val="BECB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>
            <a:off x="3512232" y="2268437"/>
            <a:ext cx="0" cy="211909"/>
          </a:xfrm>
          <a:prstGeom prst="line">
            <a:avLst/>
          </a:prstGeom>
          <a:ln w="22590">
            <a:solidFill>
              <a:srgbClr val="CBCC9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>
            <a:off x="3837230" y="2268437"/>
            <a:ext cx="0" cy="211909"/>
          </a:xfrm>
          <a:prstGeom prst="line">
            <a:avLst/>
          </a:prstGeom>
          <a:ln w="23489">
            <a:solidFill>
              <a:srgbClr val="D4CC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>
            <a:off x="4487225" y="2480346"/>
            <a:ext cx="324997" cy="0"/>
          </a:xfrm>
          <a:prstGeom prst="line">
            <a:avLst/>
          </a:prstGeom>
          <a:ln w="24237">
            <a:solidFill>
              <a:srgbClr val="DBC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>
            <a:off x="4487225" y="2268437"/>
            <a:ext cx="324997" cy="0"/>
          </a:xfrm>
          <a:prstGeom prst="line">
            <a:avLst/>
          </a:prstGeom>
          <a:ln w="24387">
            <a:solidFill>
              <a:srgbClr val="DCCD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>
            <a:off x="5137220" y="1632712"/>
            <a:ext cx="324997" cy="0"/>
          </a:xfrm>
          <a:prstGeom prst="line">
            <a:avLst/>
          </a:prstGeom>
          <a:ln w="24836">
            <a:solidFill>
              <a:srgbClr val="E0CE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>
            <a:off x="4162227" y="2268437"/>
            <a:ext cx="324998" cy="0"/>
          </a:xfrm>
          <a:prstGeom prst="line">
            <a:avLst/>
          </a:prstGeom>
          <a:ln w="24836">
            <a:solidFill>
              <a:srgbClr val="E0CE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>
            <a:off x="4162227" y="2480346"/>
            <a:ext cx="324998" cy="0"/>
          </a:xfrm>
          <a:prstGeom prst="line">
            <a:avLst/>
          </a:prstGeom>
          <a:ln w="24836">
            <a:solidFill>
              <a:srgbClr val="E0CE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>
            <a:off x="5137220" y="1632712"/>
            <a:ext cx="0" cy="211908"/>
          </a:xfrm>
          <a:prstGeom prst="line">
            <a:avLst/>
          </a:prstGeom>
          <a:ln w="24986">
            <a:solidFill>
              <a:srgbClr val="E2CE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>
            <a:off x="4487225" y="2056529"/>
            <a:ext cx="324997" cy="0"/>
          </a:xfrm>
          <a:prstGeom prst="line">
            <a:avLst/>
          </a:prstGeom>
          <a:ln w="25136">
            <a:solidFill>
              <a:srgbClr val="E3CE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>
            <a:off x="5137220" y="1420803"/>
            <a:ext cx="324997" cy="0"/>
          </a:xfrm>
          <a:prstGeom prst="line">
            <a:avLst/>
          </a:prstGeom>
          <a:ln w="25286">
            <a:solidFill>
              <a:srgbClr val="E5CE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>
            <a:off x="3837230" y="1632712"/>
            <a:ext cx="324997" cy="0"/>
          </a:xfrm>
          <a:prstGeom prst="line">
            <a:avLst/>
          </a:prstGeom>
          <a:ln w="25735">
            <a:solidFill>
              <a:srgbClr val="E9CE5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>
            <a:off x="3837230" y="2480346"/>
            <a:ext cx="324997" cy="0"/>
          </a:xfrm>
          <a:prstGeom prst="line">
            <a:avLst/>
          </a:prstGeom>
          <a:ln w="26334">
            <a:solidFill>
              <a:srgbClr val="EFC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>
            <a:off x="3837230" y="1420803"/>
            <a:ext cx="324997" cy="0"/>
          </a:xfrm>
          <a:prstGeom prst="line">
            <a:avLst/>
          </a:prstGeom>
          <a:ln w="26484">
            <a:solidFill>
              <a:srgbClr val="F0CF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>
            <a:off x="3837230" y="2056529"/>
            <a:ext cx="0" cy="211908"/>
          </a:xfrm>
          <a:prstGeom prst="line">
            <a:avLst/>
          </a:prstGeom>
          <a:ln w="26933">
            <a:solidFill>
              <a:srgbClr val="F2CC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>
            <a:off x="3512232" y="2056529"/>
            <a:ext cx="0" cy="211908"/>
          </a:xfrm>
          <a:prstGeom prst="line">
            <a:avLst/>
          </a:prstGeom>
          <a:ln w="27532">
            <a:solidFill>
              <a:srgbClr val="F1C6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>
            <a:off x="3837230" y="2056529"/>
            <a:ext cx="324997" cy="0"/>
          </a:xfrm>
          <a:prstGeom prst="line">
            <a:avLst/>
          </a:prstGeom>
          <a:ln w="28281">
            <a:solidFill>
              <a:srgbClr val="EFBF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>
            <a:off x="3512232" y="1844620"/>
            <a:ext cx="0" cy="211909"/>
          </a:xfrm>
          <a:prstGeom prst="line">
            <a:avLst/>
          </a:prstGeom>
          <a:ln w="28880">
            <a:solidFill>
              <a:srgbClr val="EEB9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>
            <a:off x="3837230" y="1844620"/>
            <a:ext cx="0" cy="211909"/>
          </a:xfrm>
          <a:prstGeom prst="line">
            <a:avLst/>
          </a:prstGeom>
          <a:ln w="29479">
            <a:solidFill>
              <a:srgbClr val="EDB3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>
            <a:off x="3837230" y="1632712"/>
            <a:ext cx="0" cy="211908"/>
          </a:xfrm>
          <a:prstGeom prst="line">
            <a:avLst/>
          </a:prstGeom>
          <a:ln w="29629">
            <a:solidFill>
              <a:srgbClr val="EDB1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>
            <a:off x="3512232" y="1632712"/>
            <a:ext cx="0" cy="211908"/>
          </a:xfrm>
          <a:prstGeom prst="line">
            <a:avLst/>
          </a:prstGeom>
          <a:ln w="29779">
            <a:solidFill>
              <a:srgbClr val="EDB0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>
            <a:off x="4162227" y="1632712"/>
            <a:ext cx="0" cy="211908"/>
          </a:xfrm>
          <a:prstGeom prst="line">
            <a:avLst/>
          </a:prstGeom>
          <a:ln w="30527">
            <a:solidFill>
              <a:srgbClr val="EBA8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>
            <a:off x="4162227" y="2056529"/>
            <a:ext cx="0" cy="211908"/>
          </a:xfrm>
          <a:prstGeom prst="line">
            <a:avLst/>
          </a:prstGeom>
          <a:ln w="30527">
            <a:solidFill>
              <a:srgbClr val="EBA8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>
            <a:off x="4812222" y="1420803"/>
            <a:ext cx="324998" cy="0"/>
          </a:xfrm>
          <a:prstGeom prst="line">
            <a:avLst/>
          </a:prstGeom>
          <a:ln w="31726">
            <a:solidFill>
              <a:srgbClr val="E99C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>
            <a:off x="4812222" y="1632712"/>
            <a:ext cx="324998" cy="0"/>
          </a:xfrm>
          <a:prstGeom prst="line">
            <a:avLst/>
          </a:prstGeom>
          <a:ln w="32025">
            <a:solidFill>
              <a:srgbClr val="E999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>
            <a:off x="4162227" y="2056529"/>
            <a:ext cx="324998" cy="0"/>
          </a:xfrm>
          <a:prstGeom prst="line">
            <a:avLst/>
          </a:prstGeom>
          <a:ln w="32624">
            <a:solidFill>
              <a:srgbClr val="E893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>
            <a:off x="4487225" y="1420803"/>
            <a:ext cx="324997" cy="0"/>
          </a:xfrm>
          <a:prstGeom prst="line">
            <a:avLst/>
          </a:prstGeom>
          <a:ln w="33073">
            <a:solidFill>
              <a:srgbClr val="E78E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>
            <a:off x="4487225" y="1632712"/>
            <a:ext cx="324997" cy="0"/>
          </a:xfrm>
          <a:prstGeom prst="line">
            <a:avLst/>
          </a:prstGeom>
          <a:ln w="33073">
            <a:solidFill>
              <a:srgbClr val="E78E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>
            <a:off x="4162227" y="1632712"/>
            <a:ext cx="324998" cy="0"/>
          </a:xfrm>
          <a:prstGeom prst="line">
            <a:avLst/>
          </a:prstGeom>
          <a:ln w="33523">
            <a:solidFill>
              <a:srgbClr val="E68A2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>
            <a:off x="4162227" y="1844620"/>
            <a:ext cx="0" cy="211909"/>
          </a:xfrm>
          <a:prstGeom prst="line">
            <a:avLst/>
          </a:prstGeom>
          <a:ln w="33523">
            <a:solidFill>
              <a:srgbClr val="E68A2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>
            <a:off x="4162227" y="1420803"/>
            <a:ext cx="324998" cy="0"/>
          </a:xfrm>
          <a:prstGeom prst="line">
            <a:avLst/>
          </a:prstGeom>
          <a:ln w="34122">
            <a:solidFill>
              <a:srgbClr val="E584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>
            <a:off x="3837230" y="2268437"/>
            <a:ext cx="324997" cy="0"/>
          </a:xfrm>
          <a:prstGeom prst="line">
            <a:avLst/>
          </a:prstGeom>
          <a:ln w="11430">
            <a:solidFill>
              <a:srgbClr val="9AA5B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>
            <a:off x="3977478" y="2246187"/>
            <a:ext cx="44501" cy="44501"/>
          </a:xfrm>
          <a:prstGeom prst="line">
            <a:avLst/>
          </a:prstGeom>
          <a:ln w="114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 flipV="1">
            <a:off x="3977478" y="2246187"/>
            <a:ext cx="44501" cy="44501"/>
          </a:xfrm>
          <a:prstGeom prst="line">
            <a:avLst/>
          </a:prstGeom>
          <a:ln w="114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4" name="Oval 223"/>
          <p:cNvSpPr/>
          <p:nvPr/>
        </p:nvSpPr>
        <p:spPr>
          <a:xfrm>
            <a:off x="3480446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3805443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4130441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4455438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4780436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5105434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5430431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5755429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3480446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3805443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4130441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4455438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4780436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5105434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5430431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5755429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3480446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3805443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4130441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5105434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5430431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5755429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3480446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3805443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4130441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4455438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4780436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5105434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5430431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5755429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3480446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3805443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4130441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4455438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4780436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5105434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5430431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5755429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3480446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3805443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4130441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4455438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4780436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5105434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5430431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5755429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0" name="Connector 269"/>
          <p:cNvCxnSpPr/>
          <p:nvPr/>
        </p:nvCxnSpPr>
        <p:spPr>
          <a:xfrm>
            <a:off x="4455438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 flipV="1">
            <a:off x="4455438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>
            <a:off x="4780436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Connector 272"/>
          <p:cNvCxnSpPr/>
          <p:nvPr/>
        </p:nvCxnSpPr>
        <p:spPr>
          <a:xfrm flipV="1">
            <a:off x="4780436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4" name="TextBox 273"/>
          <p:cNvSpPr txBox="1"/>
          <p:nvPr/>
        </p:nvSpPr>
        <p:spPr>
          <a:xfrm>
            <a:off x="3300984" y="2798064"/>
            <a:ext cx="2697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30" b="0">
                <a:solidFill>
                  <a:srgbClr val="5A6673"/>
                </a:solidFill>
                <a:latin typeface="Microsoft YaHei"/>
              </a:rPr>
              <a:t>方位型里唯一扛住本场景的，零牺牲 10/44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3300984" y="2999232"/>
            <a:ext cx="26974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30" b="1">
                <a:solidFill>
                  <a:srgbClr val="0B6BA8"/>
                </a:solidFill>
                <a:latin typeface="Microsoft YaHei"/>
              </a:rPr>
              <a:t>峰值 160 = 1.51× 割界 106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6199632" y="1453895"/>
            <a:ext cx="2697480" cy="1389888"/>
          </a:xfrm>
          <a:prstGeom prst="rect">
            <a:avLst/>
          </a:prstGeom>
          <a:solidFill>
            <a:srgbClr val="FDFDFE"/>
          </a:solidFill>
          <a:ln w="6350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6199632" y="1261872"/>
            <a:ext cx="26974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40" b="1">
                <a:solidFill>
                  <a:srgbClr val="C7000B"/>
                </a:solidFill>
                <a:latin typeface="Microsoft YaHei"/>
              </a:rPr>
              <a:t>M3′ best-root，同一残图</a:t>
            </a:r>
          </a:p>
        </p:txBody>
      </p:sp>
      <p:cxnSp>
        <p:nvCxnSpPr>
          <p:cNvPr id="278" name="Connector 277"/>
          <p:cNvCxnSpPr/>
          <p:nvPr/>
        </p:nvCxnSpPr>
        <p:spPr>
          <a:xfrm>
            <a:off x="6410880" y="1420803"/>
            <a:ext cx="0" cy="211909"/>
          </a:xfrm>
          <a:prstGeom prst="line">
            <a:avLst/>
          </a:prstGeom>
          <a:ln w="10908">
            <a:solidFill>
              <a:srgbClr val="E4EB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278"/>
          <p:cNvCxnSpPr/>
          <p:nvPr/>
        </p:nvCxnSpPr>
        <p:spPr>
          <a:xfrm>
            <a:off x="6410880" y="2268437"/>
            <a:ext cx="0" cy="211909"/>
          </a:xfrm>
          <a:prstGeom prst="line">
            <a:avLst/>
          </a:prstGeom>
          <a:ln w="10908">
            <a:solidFill>
              <a:srgbClr val="E4EB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>
            <a:off x="7385873" y="1420803"/>
            <a:ext cx="0" cy="211909"/>
          </a:xfrm>
          <a:prstGeom prst="line">
            <a:avLst/>
          </a:prstGeom>
          <a:ln w="11208">
            <a:solidFill>
              <a:srgbClr val="E1EA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>
            <a:off x="6410880" y="1632712"/>
            <a:ext cx="0" cy="211908"/>
          </a:xfrm>
          <a:prstGeom prst="line">
            <a:avLst/>
          </a:prstGeom>
          <a:ln w="11358">
            <a:solidFill>
              <a:srgbClr val="E0E9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Connector 281"/>
          <p:cNvCxnSpPr/>
          <p:nvPr/>
        </p:nvCxnSpPr>
        <p:spPr>
          <a:xfrm>
            <a:off x="6410880" y="2056529"/>
            <a:ext cx="0" cy="211908"/>
          </a:xfrm>
          <a:prstGeom prst="line">
            <a:avLst/>
          </a:prstGeom>
          <a:ln w="11358">
            <a:solidFill>
              <a:srgbClr val="E0E9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Connector 282"/>
          <p:cNvCxnSpPr/>
          <p:nvPr/>
        </p:nvCxnSpPr>
        <p:spPr>
          <a:xfrm>
            <a:off x="7710870" y="1420803"/>
            <a:ext cx="0" cy="211909"/>
          </a:xfrm>
          <a:prstGeom prst="line">
            <a:avLst/>
          </a:prstGeom>
          <a:ln w="11507">
            <a:solidFill>
              <a:srgbClr val="DFE8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Connector 283"/>
          <p:cNvCxnSpPr/>
          <p:nvPr/>
        </p:nvCxnSpPr>
        <p:spPr>
          <a:xfrm>
            <a:off x="6410880" y="1844620"/>
            <a:ext cx="0" cy="211909"/>
          </a:xfrm>
          <a:prstGeom prst="line">
            <a:avLst/>
          </a:prstGeom>
          <a:ln w="11507">
            <a:solidFill>
              <a:srgbClr val="DFE8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Connector 284"/>
          <p:cNvCxnSpPr/>
          <p:nvPr/>
        </p:nvCxnSpPr>
        <p:spPr>
          <a:xfrm>
            <a:off x="8035868" y="1844620"/>
            <a:ext cx="324997" cy="0"/>
          </a:xfrm>
          <a:prstGeom prst="line">
            <a:avLst/>
          </a:prstGeom>
          <a:ln w="11957">
            <a:solidFill>
              <a:srgbClr val="DCE7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Connector 285"/>
          <p:cNvCxnSpPr/>
          <p:nvPr/>
        </p:nvCxnSpPr>
        <p:spPr>
          <a:xfrm>
            <a:off x="8360865" y="1844620"/>
            <a:ext cx="324998" cy="0"/>
          </a:xfrm>
          <a:prstGeom prst="line">
            <a:avLst/>
          </a:prstGeom>
          <a:ln w="11957">
            <a:solidFill>
              <a:srgbClr val="DCE7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286"/>
          <p:cNvCxnSpPr/>
          <p:nvPr/>
        </p:nvCxnSpPr>
        <p:spPr>
          <a:xfrm>
            <a:off x="6735878" y="1420803"/>
            <a:ext cx="0" cy="211909"/>
          </a:xfrm>
          <a:prstGeom prst="line">
            <a:avLst/>
          </a:prstGeom>
          <a:ln w="12406">
            <a:solidFill>
              <a:srgbClr val="D9E5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Connector 287"/>
          <p:cNvCxnSpPr/>
          <p:nvPr/>
        </p:nvCxnSpPr>
        <p:spPr>
          <a:xfrm>
            <a:off x="6735878" y="1632712"/>
            <a:ext cx="0" cy="211908"/>
          </a:xfrm>
          <a:prstGeom prst="line">
            <a:avLst/>
          </a:prstGeom>
          <a:ln w="13754">
            <a:solidFill>
              <a:srgbClr val="CFDF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9" name="Connector 288"/>
          <p:cNvCxnSpPr/>
          <p:nvPr/>
        </p:nvCxnSpPr>
        <p:spPr>
          <a:xfrm>
            <a:off x="6735878" y="2056529"/>
            <a:ext cx="0" cy="211908"/>
          </a:xfrm>
          <a:prstGeom prst="line">
            <a:avLst/>
          </a:prstGeom>
          <a:ln w="13754">
            <a:solidFill>
              <a:srgbClr val="CFDF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Connector 289"/>
          <p:cNvCxnSpPr/>
          <p:nvPr/>
        </p:nvCxnSpPr>
        <p:spPr>
          <a:xfrm>
            <a:off x="7385873" y="2268437"/>
            <a:ext cx="0" cy="211909"/>
          </a:xfrm>
          <a:prstGeom prst="line">
            <a:avLst/>
          </a:prstGeom>
          <a:ln w="13904">
            <a:solidFill>
              <a:srgbClr val="CEDE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Connector 290"/>
          <p:cNvCxnSpPr/>
          <p:nvPr/>
        </p:nvCxnSpPr>
        <p:spPr>
          <a:xfrm>
            <a:off x="6735878" y="1844620"/>
            <a:ext cx="0" cy="211909"/>
          </a:xfrm>
          <a:prstGeom prst="line">
            <a:avLst/>
          </a:prstGeom>
          <a:ln w="14203">
            <a:solidFill>
              <a:srgbClr val="CCDD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291"/>
          <p:cNvCxnSpPr/>
          <p:nvPr/>
        </p:nvCxnSpPr>
        <p:spPr>
          <a:xfrm>
            <a:off x="7060875" y="2268437"/>
            <a:ext cx="324998" cy="0"/>
          </a:xfrm>
          <a:prstGeom prst="line">
            <a:avLst/>
          </a:prstGeom>
          <a:ln w="14353">
            <a:solidFill>
              <a:srgbClr val="CBDD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Connector 292"/>
          <p:cNvCxnSpPr/>
          <p:nvPr/>
        </p:nvCxnSpPr>
        <p:spPr>
          <a:xfrm>
            <a:off x="7710870" y="2268437"/>
            <a:ext cx="0" cy="211909"/>
          </a:xfrm>
          <a:prstGeom prst="line">
            <a:avLst/>
          </a:prstGeom>
          <a:ln w="14503">
            <a:solidFill>
              <a:srgbClr val="CADC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nector 293"/>
          <p:cNvCxnSpPr/>
          <p:nvPr/>
        </p:nvCxnSpPr>
        <p:spPr>
          <a:xfrm>
            <a:off x="8360865" y="2268437"/>
            <a:ext cx="324998" cy="0"/>
          </a:xfrm>
          <a:prstGeom prst="line">
            <a:avLst/>
          </a:prstGeom>
          <a:ln w="14652">
            <a:solidFill>
              <a:srgbClr val="C9DB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nector 294"/>
          <p:cNvCxnSpPr/>
          <p:nvPr/>
        </p:nvCxnSpPr>
        <p:spPr>
          <a:xfrm>
            <a:off x="7385873" y="2056529"/>
            <a:ext cx="0" cy="211908"/>
          </a:xfrm>
          <a:prstGeom prst="line">
            <a:avLst/>
          </a:prstGeom>
          <a:ln w="14952">
            <a:solidFill>
              <a:srgbClr val="C6DA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Connector 295"/>
          <p:cNvCxnSpPr/>
          <p:nvPr/>
        </p:nvCxnSpPr>
        <p:spPr>
          <a:xfrm>
            <a:off x="7060875" y="2268437"/>
            <a:ext cx="0" cy="211909"/>
          </a:xfrm>
          <a:prstGeom prst="line">
            <a:avLst/>
          </a:prstGeom>
          <a:ln w="15102">
            <a:solidFill>
              <a:srgbClr val="C5D9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Connector 296"/>
          <p:cNvCxnSpPr/>
          <p:nvPr/>
        </p:nvCxnSpPr>
        <p:spPr>
          <a:xfrm>
            <a:off x="7710870" y="2056529"/>
            <a:ext cx="0" cy="211908"/>
          </a:xfrm>
          <a:prstGeom prst="line">
            <a:avLst/>
          </a:prstGeom>
          <a:ln w="15551">
            <a:solidFill>
              <a:srgbClr val="C2D8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297"/>
          <p:cNvCxnSpPr/>
          <p:nvPr/>
        </p:nvCxnSpPr>
        <p:spPr>
          <a:xfrm>
            <a:off x="6410880" y="1420803"/>
            <a:ext cx="324998" cy="0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Connector 298"/>
          <p:cNvCxnSpPr/>
          <p:nvPr/>
        </p:nvCxnSpPr>
        <p:spPr>
          <a:xfrm>
            <a:off x="6410880" y="1632712"/>
            <a:ext cx="324998" cy="0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Connector 299"/>
          <p:cNvCxnSpPr/>
          <p:nvPr/>
        </p:nvCxnSpPr>
        <p:spPr>
          <a:xfrm>
            <a:off x="6410880" y="1844620"/>
            <a:ext cx="324998" cy="0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>
            <a:off x="6410880" y="2056529"/>
            <a:ext cx="324998" cy="0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>
            <a:off x="7060875" y="2056529"/>
            <a:ext cx="0" cy="211908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302"/>
          <p:cNvCxnSpPr/>
          <p:nvPr/>
        </p:nvCxnSpPr>
        <p:spPr>
          <a:xfrm>
            <a:off x="6410880" y="2268437"/>
            <a:ext cx="324998" cy="0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Connector 303"/>
          <p:cNvCxnSpPr/>
          <p:nvPr/>
        </p:nvCxnSpPr>
        <p:spPr>
          <a:xfrm>
            <a:off x="6410880" y="2480346"/>
            <a:ext cx="324998" cy="0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nector 304"/>
          <p:cNvCxnSpPr/>
          <p:nvPr/>
        </p:nvCxnSpPr>
        <p:spPr>
          <a:xfrm>
            <a:off x="8360865" y="1420803"/>
            <a:ext cx="324998" cy="0"/>
          </a:xfrm>
          <a:prstGeom prst="line">
            <a:avLst/>
          </a:prstGeom>
          <a:ln w="16450">
            <a:solidFill>
              <a:srgbClr val="BCD4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>
            <a:off x="8360865" y="1632712"/>
            <a:ext cx="324998" cy="0"/>
          </a:xfrm>
          <a:prstGeom prst="line">
            <a:avLst/>
          </a:prstGeom>
          <a:ln w="16450">
            <a:solidFill>
              <a:srgbClr val="BCD4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>
            <a:off x="7060875" y="1420803"/>
            <a:ext cx="0" cy="211909"/>
          </a:xfrm>
          <a:prstGeom prst="line">
            <a:avLst/>
          </a:prstGeom>
          <a:ln w="16599">
            <a:solidFill>
              <a:srgbClr val="BBD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>
            <a:off x="8035868" y="2268437"/>
            <a:ext cx="324997" cy="0"/>
          </a:xfrm>
          <a:prstGeom prst="line">
            <a:avLst/>
          </a:prstGeom>
          <a:ln w="17348">
            <a:solidFill>
              <a:srgbClr val="B5D0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>
            <a:off x="7385873" y="2268437"/>
            <a:ext cx="324997" cy="0"/>
          </a:xfrm>
          <a:prstGeom prst="line">
            <a:avLst/>
          </a:prstGeom>
          <a:ln w="17648">
            <a:solidFill>
              <a:srgbClr val="B3CF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>
            <a:off x="8360865" y="2480346"/>
            <a:ext cx="324998" cy="0"/>
          </a:xfrm>
          <a:prstGeom prst="line">
            <a:avLst/>
          </a:prstGeom>
          <a:ln w="18247">
            <a:solidFill>
              <a:srgbClr val="AFCC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Connector 310"/>
          <p:cNvCxnSpPr/>
          <p:nvPr/>
        </p:nvCxnSpPr>
        <p:spPr>
          <a:xfrm>
            <a:off x="8360865" y="2056529"/>
            <a:ext cx="324998" cy="0"/>
          </a:xfrm>
          <a:prstGeom prst="line">
            <a:avLst/>
          </a:prstGeom>
          <a:ln w="19145">
            <a:solidFill>
              <a:srgbClr val="AAC9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>
            <a:off x="8360865" y="1420803"/>
            <a:ext cx="0" cy="211909"/>
          </a:xfrm>
          <a:prstGeom prst="line">
            <a:avLst/>
          </a:prstGeom>
          <a:ln w="19595">
            <a:solidFill>
              <a:srgbClr val="AEC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>
            <a:off x="7060875" y="1420803"/>
            <a:ext cx="324998" cy="0"/>
          </a:xfrm>
          <a:prstGeom prst="line">
            <a:avLst/>
          </a:prstGeom>
          <a:ln w="20044">
            <a:solidFill>
              <a:srgbClr val="B3CA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>
            <a:off x="7060875" y="1632712"/>
            <a:ext cx="324998" cy="0"/>
          </a:xfrm>
          <a:prstGeom prst="line">
            <a:avLst/>
          </a:prstGeom>
          <a:ln w="20044">
            <a:solidFill>
              <a:srgbClr val="B3CA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>
            <a:off x="7710870" y="2268437"/>
            <a:ext cx="324998" cy="0"/>
          </a:xfrm>
          <a:prstGeom prst="line">
            <a:avLst/>
          </a:prstGeom>
          <a:ln w="20044">
            <a:solidFill>
              <a:srgbClr val="B3CA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Connector 315"/>
          <p:cNvCxnSpPr/>
          <p:nvPr/>
        </p:nvCxnSpPr>
        <p:spPr>
          <a:xfrm>
            <a:off x="6735878" y="1420803"/>
            <a:ext cx="324997" cy="0"/>
          </a:xfrm>
          <a:prstGeom prst="line">
            <a:avLst/>
          </a:prstGeom>
          <a:ln w="20343">
            <a:solidFill>
              <a:srgbClr val="B5CA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Connector 316"/>
          <p:cNvCxnSpPr/>
          <p:nvPr/>
        </p:nvCxnSpPr>
        <p:spPr>
          <a:xfrm>
            <a:off x="6735878" y="1632712"/>
            <a:ext cx="324997" cy="0"/>
          </a:xfrm>
          <a:prstGeom prst="line">
            <a:avLst/>
          </a:prstGeom>
          <a:ln w="20343">
            <a:solidFill>
              <a:srgbClr val="B5CA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8" name="Connector 317"/>
          <p:cNvCxnSpPr/>
          <p:nvPr/>
        </p:nvCxnSpPr>
        <p:spPr>
          <a:xfrm>
            <a:off x="6735878" y="1844620"/>
            <a:ext cx="324997" cy="0"/>
          </a:xfrm>
          <a:prstGeom prst="line">
            <a:avLst/>
          </a:prstGeom>
          <a:ln w="20343">
            <a:solidFill>
              <a:srgbClr val="B5CA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9" name="Connector 318"/>
          <p:cNvCxnSpPr/>
          <p:nvPr/>
        </p:nvCxnSpPr>
        <p:spPr>
          <a:xfrm>
            <a:off x="6735878" y="2056529"/>
            <a:ext cx="324997" cy="0"/>
          </a:xfrm>
          <a:prstGeom prst="line">
            <a:avLst/>
          </a:prstGeom>
          <a:ln w="20343">
            <a:solidFill>
              <a:srgbClr val="B5CA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Connector 319"/>
          <p:cNvCxnSpPr/>
          <p:nvPr/>
        </p:nvCxnSpPr>
        <p:spPr>
          <a:xfrm>
            <a:off x="8360865" y="2268437"/>
            <a:ext cx="0" cy="211909"/>
          </a:xfrm>
          <a:prstGeom prst="line">
            <a:avLst/>
          </a:prstGeom>
          <a:ln w="20793">
            <a:solidFill>
              <a:srgbClr val="BACA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nector 320"/>
          <p:cNvCxnSpPr/>
          <p:nvPr/>
        </p:nvCxnSpPr>
        <p:spPr>
          <a:xfrm>
            <a:off x="8035868" y="1420803"/>
            <a:ext cx="324997" cy="0"/>
          </a:xfrm>
          <a:prstGeom prst="line">
            <a:avLst/>
          </a:prstGeom>
          <a:ln w="20943">
            <a:solidFill>
              <a:srgbClr val="BBCA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Connector 321"/>
          <p:cNvCxnSpPr/>
          <p:nvPr/>
        </p:nvCxnSpPr>
        <p:spPr>
          <a:xfrm>
            <a:off x="8035868" y="1632712"/>
            <a:ext cx="324997" cy="0"/>
          </a:xfrm>
          <a:prstGeom prst="line">
            <a:avLst/>
          </a:prstGeom>
          <a:ln w="20943">
            <a:solidFill>
              <a:srgbClr val="BBCA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Connector 322"/>
          <p:cNvCxnSpPr/>
          <p:nvPr/>
        </p:nvCxnSpPr>
        <p:spPr>
          <a:xfrm>
            <a:off x="8685863" y="1420803"/>
            <a:ext cx="0" cy="211909"/>
          </a:xfrm>
          <a:prstGeom prst="line">
            <a:avLst/>
          </a:prstGeom>
          <a:ln w="21092">
            <a:solidFill>
              <a:srgbClr val="BDC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Connector 323"/>
          <p:cNvCxnSpPr/>
          <p:nvPr/>
        </p:nvCxnSpPr>
        <p:spPr>
          <a:xfrm>
            <a:off x="7060875" y="1632712"/>
            <a:ext cx="0" cy="211908"/>
          </a:xfrm>
          <a:prstGeom prst="line">
            <a:avLst/>
          </a:prstGeom>
          <a:ln w="21542">
            <a:solidFill>
              <a:srgbClr val="C1CB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Connector 324"/>
          <p:cNvCxnSpPr/>
          <p:nvPr/>
        </p:nvCxnSpPr>
        <p:spPr>
          <a:xfrm>
            <a:off x="8685863" y="2268437"/>
            <a:ext cx="0" cy="211909"/>
          </a:xfrm>
          <a:prstGeom prst="line">
            <a:avLst/>
          </a:prstGeom>
          <a:ln w="22290">
            <a:solidFill>
              <a:srgbClr val="C8CC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Connector 325"/>
          <p:cNvCxnSpPr/>
          <p:nvPr/>
        </p:nvCxnSpPr>
        <p:spPr>
          <a:xfrm>
            <a:off x="6735878" y="2268437"/>
            <a:ext cx="0" cy="211909"/>
          </a:xfrm>
          <a:prstGeom prst="line">
            <a:avLst/>
          </a:prstGeom>
          <a:ln w="22590">
            <a:solidFill>
              <a:srgbClr val="CBCC9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Connector 326"/>
          <p:cNvCxnSpPr/>
          <p:nvPr/>
        </p:nvCxnSpPr>
        <p:spPr>
          <a:xfrm>
            <a:off x="8035868" y="1420803"/>
            <a:ext cx="0" cy="211909"/>
          </a:xfrm>
          <a:prstGeom prst="line">
            <a:avLst/>
          </a:prstGeom>
          <a:ln w="23489">
            <a:solidFill>
              <a:srgbClr val="D4CC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8" name="Connector 327"/>
          <p:cNvCxnSpPr/>
          <p:nvPr/>
        </p:nvCxnSpPr>
        <p:spPr>
          <a:xfrm>
            <a:off x="8035868" y="2268437"/>
            <a:ext cx="0" cy="211909"/>
          </a:xfrm>
          <a:prstGeom prst="line">
            <a:avLst/>
          </a:prstGeom>
          <a:ln w="23489">
            <a:solidFill>
              <a:srgbClr val="D4CC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9" name="Connector 328"/>
          <p:cNvCxnSpPr/>
          <p:nvPr/>
        </p:nvCxnSpPr>
        <p:spPr>
          <a:xfrm>
            <a:off x="8035868" y="2480346"/>
            <a:ext cx="324997" cy="0"/>
          </a:xfrm>
          <a:prstGeom prst="line">
            <a:avLst/>
          </a:prstGeom>
          <a:ln w="24537">
            <a:solidFill>
              <a:srgbClr val="DEC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Connector 329"/>
          <p:cNvCxnSpPr/>
          <p:nvPr/>
        </p:nvCxnSpPr>
        <p:spPr>
          <a:xfrm>
            <a:off x="7385873" y="1420803"/>
            <a:ext cx="324997" cy="0"/>
          </a:xfrm>
          <a:prstGeom prst="line">
            <a:avLst/>
          </a:prstGeom>
          <a:ln w="24836">
            <a:solidFill>
              <a:srgbClr val="E0CE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Connector 330"/>
          <p:cNvCxnSpPr/>
          <p:nvPr/>
        </p:nvCxnSpPr>
        <p:spPr>
          <a:xfrm>
            <a:off x="7385873" y="1632712"/>
            <a:ext cx="324997" cy="0"/>
          </a:xfrm>
          <a:prstGeom prst="line">
            <a:avLst/>
          </a:prstGeom>
          <a:ln w="24836">
            <a:solidFill>
              <a:srgbClr val="E0CE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2" name="Connector 331"/>
          <p:cNvCxnSpPr/>
          <p:nvPr/>
        </p:nvCxnSpPr>
        <p:spPr>
          <a:xfrm>
            <a:off x="8360865" y="1632712"/>
            <a:ext cx="0" cy="211908"/>
          </a:xfrm>
          <a:prstGeom prst="line">
            <a:avLst/>
          </a:prstGeom>
          <a:ln w="25136">
            <a:solidFill>
              <a:srgbClr val="E3CE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Connector 332"/>
          <p:cNvCxnSpPr/>
          <p:nvPr/>
        </p:nvCxnSpPr>
        <p:spPr>
          <a:xfrm>
            <a:off x="8360865" y="2056529"/>
            <a:ext cx="0" cy="211908"/>
          </a:xfrm>
          <a:prstGeom prst="line">
            <a:avLst/>
          </a:prstGeom>
          <a:ln w="25136">
            <a:solidFill>
              <a:srgbClr val="E3CE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Connector 333"/>
          <p:cNvCxnSpPr/>
          <p:nvPr/>
        </p:nvCxnSpPr>
        <p:spPr>
          <a:xfrm>
            <a:off x="8035868" y="2056529"/>
            <a:ext cx="324997" cy="0"/>
          </a:xfrm>
          <a:prstGeom prst="line">
            <a:avLst/>
          </a:prstGeom>
          <a:ln w="26334">
            <a:solidFill>
              <a:srgbClr val="EFC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Connector 334"/>
          <p:cNvCxnSpPr/>
          <p:nvPr/>
        </p:nvCxnSpPr>
        <p:spPr>
          <a:xfrm>
            <a:off x="8360865" y="1844620"/>
            <a:ext cx="0" cy="211909"/>
          </a:xfrm>
          <a:prstGeom prst="line">
            <a:avLst/>
          </a:prstGeom>
          <a:ln w="26783">
            <a:solidFill>
              <a:srgbClr val="F2CE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Connector 335"/>
          <p:cNvCxnSpPr/>
          <p:nvPr/>
        </p:nvCxnSpPr>
        <p:spPr>
          <a:xfrm>
            <a:off x="8685863" y="1632712"/>
            <a:ext cx="0" cy="211908"/>
          </a:xfrm>
          <a:prstGeom prst="line">
            <a:avLst/>
          </a:prstGeom>
          <a:ln w="27532">
            <a:solidFill>
              <a:srgbClr val="F1C6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Connector 336"/>
          <p:cNvCxnSpPr/>
          <p:nvPr/>
        </p:nvCxnSpPr>
        <p:spPr>
          <a:xfrm>
            <a:off x="8685863" y="2056529"/>
            <a:ext cx="0" cy="211908"/>
          </a:xfrm>
          <a:prstGeom prst="line">
            <a:avLst/>
          </a:prstGeom>
          <a:ln w="27532">
            <a:solidFill>
              <a:srgbClr val="F1C6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Connector 337"/>
          <p:cNvCxnSpPr/>
          <p:nvPr/>
        </p:nvCxnSpPr>
        <p:spPr>
          <a:xfrm>
            <a:off x="8035868" y="2056529"/>
            <a:ext cx="0" cy="211908"/>
          </a:xfrm>
          <a:prstGeom prst="line">
            <a:avLst/>
          </a:prstGeom>
          <a:ln w="28730">
            <a:solidFill>
              <a:srgbClr val="EEBA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Connector 338"/>
          <p:cNvCxnSpPr/>
          <p:nvPr/>
        </p:nvCxnSpPr>
        <p:spPr>
          <a:xfrm>
            <a:off x="7710870" y="1420803"/>
            <a:ext cx="324998" cy="0"/>
          </a:xfrm>
          <a:prstGeom prst="line">
            <a:avLst/>
          </a:prstGeom>
          <a:ln w="29030">
            <a:solidFill>
              <a:srgbClr val="EEB7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Connector 339"/>
          <p:cNvCxnSpPr/>
          <p:nvPr/>
        </p:nvCxnSpPr>
        <p:spPr>
          <a:xfrm>
            <a:off x="7710870" y="1632712"/>
            <a:ext cx="324998" cy="0"/>
          </a:xfrm>
          <a:prstGeom prst="line">
            <a:avLst/>
          </a:prstGeom>
          <a:ln w="29030">
            <a:solidFill>
              <a:srgbClr val="EEB7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Connector 340"/>
          <p:cNvCxnSpPr/>
          <p:nvPr/>
        </p:nvCxnSpPr>
        <p:spPr>
          <a:xfrm>
            <a:off x="8685863" y="1844620"/>
            <a:ext cx="0" cy="211909"/>
          </a:xfrm>
          <a:prstGeom prst="line">
            <a:avLst/>
          </a:prstGeom>
          <a:ln w="29479">
            <a:solidFill>
              <a:srgbClr val="EDB3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Connector 341"/>
          <p:cNvCxnSpPr/>
          <p:nvPr/>
        </p:nvCxnSpPr>
        <p:spPr>
          <a:xfrm>
            <a:off x="6735878" y="2480346"/>
            <a:ext cx="324997" cy="0"/>
          </a:xfrm>
          <a:prstGeom prst="line">
            <a:avLst/>
          </a:prstGeom>
          <a:ln w="30527">
            <a:solidFill>
              <a:srgbClr val="EBA8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Connector 342"/>
          <p:cNvCxnSpPr/>
          <p:nvPr/>
        </p:nvCxnSpPr>
        <p:spPr>
          <a:xfrm>
            <a:off x="7060875" y="2480346"/>
            <a:ext cx="324998" cy="0"/>
          </a:xfrm>
          <a:prstGeom prst="line">
            <a:avLst/>
          </a:prstGeom>
          <a:ln w="31126">
            <a:solidFill>
              <a:srgbClr val="EAA2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4" name="Connector 343"/>
          <p:cNvCxnSpPr/>
          <p:nvPr/>
        </p:nvCxnSpPr>
        <p:spPr>
          <a:xfrm>
            <a:off x="7385873" y="2480346"/>
            <a:ext cx="324997" cy="0"/>
          </a:xfrm>
          <a:prstGeom prst="line">
            <a:avLst/>
          </a:prstGeom>
          <a:ln w="32624">
            <a:solidFill>
              <a:srgbClr val="E893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5" name="Connector 344"/>
          <p:cNvCxnSpPr/>
          <p:nvPr/>
        </p:nvCxnSpPr>
        <p:spPr>
          <a:xfrm>
            <a:off x="7710870" y="2480346"/>
            <a:ext cx="324998" cy="0"/>
          </a:xfrm>
          <a:prstGeom prst="line">
            <a:avLst/>
          </a:prstGeom>
          <a:ln w="33223">
            <a:solidFill>
              <a:srgbClr val="E78D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Connector 345"/>
          <p:cNvCxnSpPr/>
          <p:nvPr/>
        </p:nvCxnSpPr>
        <p:spPr>
          <a:xfrm>
            <a:off x="8035868" y="1632712"/>
            <a:ext cx="0" cy="211908"/>
          </a:xfrm>
          <a:prstGeom prst="line">
            <a:avLst/>
          </a:prstGeom>
          <a:ln w="33523">
            <a:solidFill>
              <a:srgbClr val="E68A2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Connector 346"/>
          <p:cNvCxnSpPr/>
          <p:nvPr/>
        </p:nvCxnSpPr>
        <p:spPr>
          <a:xfrm>
            <a:off x="7060875" y="1844620"/>
            <a:ext cx="0" cy="211909"/>
          </a:xfrm>
          <a:prstGeom prst="line">
            <a:avLst/>
          </a:prstGeom>
          <a:ln w="34871">
            <a:solidFill>
              <a:srgbClr val="E17B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Connector 347"/>
          <p:cNvCxnSpPr/>
          <p:nvPr/>
        </p:nvCxnSpPr>
        <p:spPr>
          <a:xfrm>
            <a:off x="8035868" y="1844620"/>
            <a:ext cx="0" cy="211909"/>
          </a:xfrm>
          <a:prstGeom prst="line">
            <a:avLst/>
          </a:prstGeom>
          <a:ln w="34871">
            <a:solidFill>
              <a:srgbClr val="E17B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Connector 348"/>
          <p:cNvCxnSpPr/>
          <p:nvPr/>
        </p:nvCxnSpPr>
        <p:spPr>
          <a:xfrm>
            <a:off x="7710870" y="2056529"/>
            <a:ext cx="324998" cy="0"/>
          </a:xfrm>
          <a:prstGeom prst="line">
            <a:avLst/>
          </a:prstGeom>
          <a:ln w="36518">
            <a:solidFill>
              <a:srgbClr val="D566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0" name="Connector 349"/>
          <p:cNvCxnSpPr/>
          <p:nvPr/>
        </p:nvCxnSpPr>
        <p:spPr>
          <a:xfrm>
            <a:off x="7385873" y="2056529"/>
            <a:ext cx="324997" cy="0"/>
          </a:xfrm>
          <a:prstGeom prst="line">
            <a:avLst/>
          </a:prstGeom>
          <a:ln w="39064">
            <a:solidFill>
              <a:srgbClr val="C346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1" name="Connector 350"/>
          <p:cNvCxnSpPr/>
          <p:nvPr/>
        </p:nvCxnSpPr>
        <p:spPr>
          <a:xfrm>
            <a:off x="7060875" y="2056529"/>
            <a:ext cx="324998" cy="0"/>
          </a:xfrm>
          <a:prstGeom prst="line">
            <a:avLst/>
          </a:prstGeom>
          <a:ln w="40711">
            <a:solidFill>
              <a:srgbClr val="B7321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Connector 351"/>
          <p:cNvCxnSpPr/>
          <p:nvPr/>
        </p:nvCxnSpPr>
        <p:spPr>
          <a:xfrm>
            <a:off x="6735878" y="2268437"/>
            <a:ext cx="324997" cy="0"/>
          </a:xfrm>
          <a:prstGeom prst="line">
            <a:avLst/>
          </a:prstGeom>
          <a:ln w="11430">
            <a:solidFill>
              <a:srgbClr val="9AA5B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Connector 352"/>
          <p:cNvCxnSpPr/>
          <p:nvPr/>
        </p:nvCxnSpPr>
        <p:spPr>
          <a:xfrm>
            <a:off x="6876126" y="2246187"/>
            <a:ext cx="44501" cy="44501"/>
          </a:xfrm>
          <a:prstGeom prst="line">
            <a:avLst/>
          </a:prstGeom>
          <a:ln w="114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Connector 353"/>
          <p:cNvCxnSpPr/>
          <p:nvPr/>
        </p:nvCxnSpPr>
        <p:spPr>
          <a:xfrm flipV="1">
            <a:off x="6876126" y="2246187"/>
            <a:ext cx="44501" cy="44501"/>
          </a:xfrm>
          <a:prstGeom prst="line">
            <a:avLst/>
          </a:prstGeom>
          <a:ln w="114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5" name="Oval 354"/>
          <p:cNvSpPr/>
          <p:nvPr/>
        </p:nvSpPr>
        <p:spPr>
          <a:xfrm>
            <a:off x="6379094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6704091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7029089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7354086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7679084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8004082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8329079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8654077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6379094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6704091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7029089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7354086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7679084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8004082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8329079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8654077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6379094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6704091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7029089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8004082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8329079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8654077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6379094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6704091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7029089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7354086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7679084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8004082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8329079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8654077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6379094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6704091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7029089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7354086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7679084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8004082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8329079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8654077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6379094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6704091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7029089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xfrm>
            <a:off x="7354086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xfrm>
            <a:off x="7679084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xfrm>
            <a:off x="8004082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xfrm>
            <a:off x="8329079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xfrm>
            <a:off x="8654077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1" name="Connector 400"/>
          <p:cNvCxnSpPr/>
          <p:nvPr/>
        </p:nvCxnSpPr>
        <p:spPr>
          <a:xfrm>
            <a:off x="7354086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2" name="Connector 401"/>
          <p:cNvCxnSpPr/>
          <p:nvPr/>
        </p:nvCxnSpPr>
        <p:spPr>
          <a:xfrm flipV="1">
            <a:off x="7354086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3" name="Connector 402"/>
          <p:cNvCxnSpPr/>
          <p:nvPr/>
        </p:nvCxnSpPr>
        <p:spPr>
          <a:xfrm>
            <a:off x="7679084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4" name="Connector 403"/>
          <p:cNvCxnSpPr/>
          <p:nvPr/>
        </p:nvCxnSpPr>
        <p:spPr>
          <a:xfrm flipV="1">
            <a:off x="7679084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5" name="5-Point Star 404"/>
          <p:cNvSpPr/>
          <p:nvPr/>
        </p:nvSpPr>
        <p:spPr>
          <a:xfrm>
            <a:off x="8606397" y="2400880"/>
            <a:ext cx="158931" cy="158931"/>
          </a:xfrm>
          <a:prstGeom prst="star5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TextBox 405"/>
          <p:cNvSpPr txBox="1"/>
          <p:nvPr/>
        </p:nvSpPr>
        <p:spPr>
          <a:xfrm>
            <a:off x="6199632" y="2798064"/>
            <a:ext cx="2697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30" b="0">
                <a:solidFill>
                  <a:srgbClr val="5A6673"/>
                </a:solidFill>
                <a:latin typeface="Microsoft YaHei"/>
              </a:rPr>
              <a:t>★ = 根 (7,5)；零牺牲 41/44</a:t>
            </a:r>
          </a:p>
        </p:txBody>
      </p:sp>
      <p:sp>
        <p:nvSpPr>
          <p:cNvPr id="407" name="TextBox 406"/>
          <p:cNvSpPr txBox="1"/>
          <p:nvPr/>
        </p:nvSpPr>
        <p:spPr>
          <a:xfrm>
            <a:off x="6199632" y="2999232"/>
            <a:ext cx="26974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30" b="1">
                <a:solidFill>
                  <a:srgbClr val="C7000B"/>
                </a:solidFill>
                <a:latin typeface="Microsoft YaHei"/>
              </a:rPr>
              <a:t>峰值 204 = 1.93× 割界（走廊拥塞）</a:t>
            </a:r>
          </a:p>
        </p:txBody>
      </p:sp>
      <p:sp>
        <p:nvSpPr>
          <p:cNvPr id="408" name="Rectangle 407"/>
          <p:cNvSpPr/>
          <p:nvPr/>
        </p:nvSpPr>
        <p:spPr>
          <a:xfrm>
            <a:off x="9098280" y="1453895"/>
            <a:ext cx="2697480" cy="1389888"/>
          </a:xfrm>
          <a:prstGeom prst="rect">
            <a:avLst/>
          </a:prstGeom>
          <a:solidFill>
            <a:srgbClr val="FDFDFE"/>
          </a:solidFill>
          <a:ln w="6350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9" name="TextBox 408"/>
          <p:cNvSpPr txBox="1"/>
          <p:nvPr/>
        </p:nvSpPr>
        <p:spPr>
          <a:xfrm>
            <a:off x="9098280" y="1261872"/>
            <a:ext cx="26974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40" b="1">
                <a:solidFill>
                  <a:srgbClr val="1E7F4F"/>
                </a:solidFill>
                <a:latin typeface="Microsoft YaHei"/>
              </a:rPr>
              <a:t>M3′ + min-max 选路，同一残图</a:t>
            </a:r>
          </a:p>
        </p:txBody>
      </p:sp>
      <p:cxnSp>
        <p:nvCxnSpPr>
          <p:cNvPr id="410" name="Connector 409"/>
          <p:cNvCxnSpPr/>
          <p:nvPr/>
        </p:nvCxnSpPr>
        <p:spPr>
          <a:xfrm>
            <a:off x="10284521" y="1420803"/>
            <a:ext cx="0" cy="211909"/>
          </a:xfrm>
          <a:prstGeom prst="line">
            <a:avLst/>
          </a:prstGeom>
          <a:ln w="11358">
            <a:solidFill>
              <a:srgbClr val="E0E9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1" name="Connector 410"/>
          <p:cNvCxnSpPr/>
          <p:nvPr/>
        </p:nvCxnSpPr>
        <p:spPr>
          <a:xfrm>
            <a:off x="10609518" y="1420803"/>
            <a:ext cx="0" cy="211909"/>
          </a:xfrm>
          <a:prstGeom prst="line">
            <a:avLst/>
          </a:prstGeom>
          <a:ln w="12106">
            <a:solidFill>
              <a:srgbClr val="DBE6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2" name="Connector 411"/>
          <p:cNvCxnSpPr/>
          <p:nvPr/>
        </p:nvCxnSpPr>
        <p:spPr>
          <a:xfrm>
            <a:off x="11259513" y="1844620"/>
            <a:ext cx="324998" cy="0"/>
          </a:xfrm>
          <a:prstGeom prst="line">
            <a:avLst/>
          </a:prstGeom>
          <a:ln w="12406">
            <a:solidFill>
              <a:srgbClr val="D9E5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3" name="Connector 412"/>
          <p:cNvCxnSpPr/>
          <p:nvPr/>
        </p:nvCxnSpPr>
        <p:spPr>
          <a:xfrm>
            <a:off x="10934516" y="1844620"/>
            <a:ext cx="324997" cy="0"/>
          </a:xfrm>
          <a:prstGeom prst="line">
            <a:avLst/>
          </a:prstGeom>
          <a:ln w="12556">
            <a:solidFill>
              <a:srgbClr val="D8E4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4" name="Connector 413"/>
          <p:cNvCxnSpPr/>
          <p:nvPr/>
        </p:nvCxnSpPr>
        <p:spPr>
          <a:xfrm>
            <a:off x="9309528" y="1420803"/>
            <a:ext cx="0" cy="211909"/>
          </a:xfrm>
          <a:prstGeom prst="line">
            <a:avLst/>
          </a:prstGeom>
          <a:ln w="13005">
            <a:solidFill>
              <a:srgbClr val="D5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5" name="Connector 414"/>
          <p:cNvCxnSpPr/>
          <p:nvPr/>
        </p:nvCxnSpPr>
        <p:spPr>
          <a:xfrm>
            <a:off x="9634526" y="1420803"/>
            <a:ext cx="0" cy="211909"/>
          </a:xfrm>
          <a:prstGeom prst="line">
            <a:avLst/>
          </a:prstGeom>
          <a:ln w="13604">
            <a:solidFill>
              <a:srgbClr val="D0E0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6" name="Connector 415"/>
          <p:cNvCxnSpPr/>
          <p:nvPr/>
        </p:nvCxnSpPr>
        <p:spPr>
          <a:xfrm>
            <a:off x="9634526" y="2056529"/>
            <a:ext cx="0" cy="211908"/>
          </a:xfrm>
          <a:prstGeom prst="line">
            <a:avLst/>
          </a:prstGeom>
          <a:ln w="13604">
            <a:solidFill>
              <a:srgbClr val="D0E0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7" name="Connector 416"/>
          <p:cNvCxnSpPr/>
          <p:nvPr/>
        </p:nvCxnSpPr>
        <p:spPr>
          <a:xfrm>
            <a:off x="10284521" y="2268437"/>
            <a:ext cx="0" cy="211909"/>
          </a:xfrm>
          <a:prstGeom prst="line">
            <a:avLst/>
          </a:prstGeom>
          <a:ln w="13904">
            <a:solidFill>
              <a:srgbClr val="CEDE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8" name="Connector 417"/>
          <p:cNvCxnSpPr/>
          <p:nvPr/>
        </p:nvCxnSpPr>
        <p:spPr>
          <a:xfrm>
            <a:off x="9309528" y="1420803"/>
            <a:ext cx="324998" cy="0"/>
          </a:xfrm>
          <a:prstGeom prst="line">
            <a:avLst/>
          </a:prstGeom>
          <a:ln w="14053">
            <a:solidFill>
              <a:srgbClr val="CDDE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9" name="Connector 418"/>
          <p:cNvCxnSpPr/>
          <p:nvPr/>
        </p:nvCxnSpPr>
        <p:spPr>
          <a:xfrm>
            <a:off x="9959523" y="1420803"/>
            <a:ext cx="0" cy="211909"/>
          </a:xfrm>
          <a:prstGeom prst="line">
            <a:avLst/>
          </a:prstGeom>
          <a:ln w="14203">
            <a:solidFill>
              <a:srgbClr val="CCDD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0" name="Connector 419"/>
          <p:cNvCxnSpPr/>
          <p:nvPr/>
        </p:nvCxnSpPr>
        <p:spPr>
          <a:xfrm>
            <a:off x="9309528" y="1632712"/>
            <a:ext cx="324998" cy="0"/>
          </a:xfrm>
          <a:prstGeom prst="line">
            <a:avLst/>
          </a:prstGeom>
          <a:ln w="14353">
            <a:solidFill>
              <a:srgbClr val="CBDD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1" name="Connector 420"/>
          <p:cNvCxnSpPr/>
          <p:nvPr/>
        </p:nvCxnSpPr>
        <p:spPr>
          <a:xfrm>
            <a:off x="9309528" y="2056529"/>
            <a:ext cx="0" cy="211908"/>
          </a:xfrm>
          <a:prstGeom prst="line">
            <a:avLst/>
          </a:prstGeom>
          <a:ln w="14503">
            <a:solidFill>
              <a:srgbClr val="CADC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2" name="Connector 421"/>
          <p:cNvCxnSpPr/>
          <p:nvPr/>
        </p:nvCxnSpPr>
        <p:spPr>
          <a:xfrm>
            <a:off x="10609518" y="2268437"/>
            <a:ext cx="0" cy="211909"/>
          </a:xfrm>
          <a:prstGeom prst="line">
            <a:avLst/>
          </a:prstGeom>
          <a:ln w="14503">
            <a:solidFill>
              <a:srgbClr val="CADC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3" name="Connector 422"/>
          <p:cNvCxnSpPr/>
          <p:nvPr/>
        </p:nvCxnSpPr>
        <p:spPr>
          <a:xfrm>
            <a:off x="9309528" y="2268437"/>
            <a:ext cx="0" cy="211909"/>
          </a:xfrm>
          <a:prstGeom prst="line">
            <a:avLst/>
          </a:prstGeom>
          <a:ln w="14652">
            <a:solidFill>
              <a:srgbClr val="C9DB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4" name="Connector 423"/>
          <p:cNvCxnSpPr/>
          <p:nvPr/>
        </p:nvCxnSpPr>
        <p:spPr>
          <a:xfrm>
            <a:off x="9959523" y="2268437"/>
            <a:ext cx="0" cy="211909"/>
          </a:xfrm>
          <a:prstGeom prst="line">
            <a:avLst/>
          </a:prstGeom>
          <a:ln w="14802">
            <a:solidFill>
              <a:srgbClr val="C8DB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5" name="Connector 424"/>
          <p:cNvCxnSpPr/>
          <p:nvPr/>
        </p:nvCxnSpPr>
        <p:spPr>
          <a:xfrm>
            <a:off x="9309528" y="1632712"/>
            <a:ext cx="0" cy="211908"/>
          </a:xfrm>
          <a:prstGeom prst="line">
            <a:avLst/>
          </a:prstGeom>
          <a:ln w="15251">
            <a:solidFill>
              <a:srgbClr val="C4D9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6" name="Connector 425"/>
          <p:cNvCxnSpPr/>
          <p:nvPr/>
        </p:nvCxnSpPr>
        <p:spPr>
          <a:xfrm>
            <a:off x="9309528" y="1844620"/>
            <a:ext cx="324998" cy="0"/>
          </a:xfrm>
          <a:prstGeom prst="line">
            <a:avLst/>
          </a:prstGeom>
          <a:ln w="15551">
            <a:solidFill>
              <a:srgbClr val="C2D8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7" name="Connector 426"/>
          <p:cNvCxnSpPr/>
          <p:nvPr/>
        </p:nvCxnSpPr>
        <p:spPr>
          <a:xfrm>
            <a:off x="9309528" y="2268437"/>
            <a:ext cx="324998" cy="0"/>
          </a:xfrm>
          <a:prstGeom prst="line">
            <a:avLst/>
          </a:prstGeom>
          <a:ln w="15551">
            <a:solidFill>
              <a:srgbClr val="C2D8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8" name="Connector 427"/>
          <p:cNvCxnSpPr/>
          <p:nvPr/>
        </p:nvCxnSpPr>
        <p:spPr>
          <a:xfrm>
            <a:off x="9634526" y="1632712"/>
            <a:ext cx="0" cy="211908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9" name="Connector 428"/>
          <p:cNvCxnSpPr/>
          <p:nvPr/>
        </p:nvCxnSpPr>
        <p:spPr>
          <a:xfrm>
            <a:off x="9309528" y="1844620"/>
            <a:ext cx="0" cy="211909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0" name="Connector 429"/>
          <p:cNvCxnSpPr/>
          <p:nvPr/>
        </p:nvCxnSpPr>
        <p:spPr>
          <a:xfrm>
            <a:off x="11259513" y="2056529"/>
            <a:ext cx="324998" cy="0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1" name="Connector 430"/>
          <p:cNvCxnSpPr/>
          <p:nvPr/>
        </p:nvCxnSpPr>
        <p:spPr>
          <a:xfrm>
            <a:off x="11259513" y="1420803"/>
            <a:ext cx="324998" cy="0"/>
          </a:xfrm>
          <a:prstGeom prst="line">
            <a:avLst/>
          </a:prstGeom>
          <a:ln w="16300">
            <a:solidFill>
              <a:srgbClr val="BDD4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2" name="Connector 431"/>
          <p:cNvCxnSpPr/>
          <p:nvPr/>
        </p:nvCxnSpPr>
        <p:spPr>
          <a:xfrm>
            <a:off x="11259513" y="1632712"/>
            <a:ext cx="324998" cy="0"/>
          </a:xfrm>
          <a:prstGeom prst="line">
            <a:avLst/>
          </a:prstGeom>
          <a:ln w="16599">
            <a:solidFill>
              <a:srgbClr val="BBD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3" name="Connector 432"/>
          <p:cNvCxnSpPr/>
          <p:nvPr/>
        </p:nvCxnSpPr>
        <p:spPr>
          <a:xfrm>
            <a:off x="10609518" y="2056529"/>
            <a:ext cx="0" cy="211908"/>
          </a:xfrm>
          <a:prstGeom prst="line">
            <a:avLst/>
          </a:prstGeom>
          <a:ln w="16899">
            <a:solidFill>
              <a:srgbClr val="B8D2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4" name="Connector 433"/>
          <p:cNvCxnSpPr/>
          <p:nvPr/>
        </p:nvCxnSpPr>
        <p:spPr>
          <a:xfrm>
            <a:off x="9959523" y="1632712"/>
            <a:ext cx="0" cy="211908"/>
          </a:xfrm>
          <a:prstGeom prst="line">
            <a:avLst/>
          </a:prstGeom>
          <a:ln w="17049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5" name="Connector 434"/>
          <p:cNvCxnSpPr/>
          <p:nvPr/>
        </p:nvCxnSpPr>
        <p:spPr>
          <a:xfrm>
            <a:off x="10284521" y="2056529"/>
            <a:ext cx="0" cy="211908"/>
          </a:xfrm>
          <a:prstGeom prst="line">
            <a:avLst/>
          </a:prstGeom>
          <a:ln w="17049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6" name="Connector 435"/>
          <p:cNvCxnSpPr/>
          <p:nvPr/>
        </p:nvCxnSpPr>
        <p:spPr>
          <a:xfrm>
            <a:off x="9634526" y="1420803"/>
            <a:ext cx="324997" cy="0"/>
          </a:xfrm>
          <a:prstGeom prst="line">
            <a:avLst/>
          </a:prstGeom>
          <a:ln w="17198">
            <a:solidFill>
              <a:srgbClr val="B6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7" name="Connector 436"/>
          <p:cNvCxnSpPr/>
          <p:nvPr/>
        </p:nvCxnSpPr>
        <p:spPr>
          <a:xfrm>
            <a:off x="9634526" y="1632712"/>
            <a:ext cx="324997" cy="0"/>
          </a:xfrm>
          <a:prstGeom prst="line">
            <a:avLst/>
          </a:prstGeom>
          <a:ln w="17348">
            <a:solidFill>
              <a:srgbClr val="B5D0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8" name="Connector 437"/>
          <p:cNvCxnSpPr/>
          <p:nvPr/>
        </p:nvCxnSpPr>
        <p:spPr>
          <a:xfrm>
            <a:off x="11259513" y="2268437"/>
            <a:ext cx="324998" cy="0"/>
          </a:xfrm>
          <a:prstGeom prst="line">
            <a:avLst/>
          </a:prstGeom>
          <a:ln w="17348">
            <a:solidFill>
              <a:srgbClr val="B5D0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9" name="Connector 438"/>
          <p:cNvCxnSpPr/>
          <p:nvPr/>
        </p:nvCxnSpPr>
        <p:spPr>
          <a:xfrm>
            <a:off x="9309528" y="2056529"/>
            <a:ext cx="324998" cy="0"/>
          </a:xfrm>
          <a:prstGeom prst="line">
            <a:avLst/>
          </a:prstGeom>
          <a:ln w="17648">
            <a:solidFill>
              <a:srgbClr val="B3CF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0" name="Connector 439"/>
          <p:cNvCxnSpPr/>
          <p:nvPr/>
        </p:nvCxnSpPr>
        <p:spPr>
          <a:xfrm>
            <a:off x="9634526" y="1844620"/>
            <a:ext cx="324997" cy="0"/>
          </a:xfrm>
          <a:prstGeom prst="line">
            <a:avLst/>
          </a:prstGeom>
          <a:ln w="18097">
            <a:solidFill>
              <a:srgbClr val="B0CD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1" name="Connector 440"/>
          <p:cNvCxnSpPr/>
          <p:nvPr/>
        </p:nvCxnSpPr>
        <p:spPr>
          <a:xfrm>
            <a:off x="9634526" y="1844620"/>
            <a:ext cx="0" cy="211909"/>
          </a:xfrm>
          <a:prstGeom prst="line">
            <a:avLst/>
          </a:prstGeom>
          <a:ln w="18097">
            <a:solidFill>
              <a:srgbClr val="B0CD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2" name="Connector 441"/>
          <p:cNvCxnSpPr/>
          <p:nvPr/>
        </p:nvCxnSpPr>
        <p:spPr>
          <a:xfrm>
            <a:off x="11259513" y="2480346"/>
            <a:ext cx="324998" cy="0"/>
          </a:xfrm>
          <a:prstGeom prst="line">
            <a:avLst/>
          </a:prstGeom>
          <a:ln w="18696">
            <a:solidFill>
              <a:srgbClr val="ACCA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3" name="Connector 442"/>
          <p:cNvCxnSpPr/>
          <p:nvPr/>
        </p:nvCxnSpPr>
        <p:spPr>
          <a:xfrm>
            <a:off x="9959523" y="1632712"/>
            <a:ext cx="324998" cy="0"/>
          </a:xfrm>
          <a:prstGeom prst="line">
            <a:avLst/>
          </a:prstGeom>
          <a:ln w="19145">
            <a:solidFill>
              <a:srgbClr val="AAC9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4" name="Connector 443"/>
          <p:cNvCxnSpPr/>
          <p:nvPr/>
        </p:nvCxnSpPr>
        <p:spPr>
          <a:xfrm>
            <a:off x="9959523" y="1420803"/>
            <a:ext cx="324998" cy="0"/>
          </a:xfrm>
          <a:prstGeom prst="line">
            <a:avLst/>
          </a:prstGeom>
          <a:ln w="19445">
            <a:solidFill>
              <a:srgbClr val="ADC9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5" name="Connector 444"/>
          <p:cNvCxnSpPr/>
          <p:nvPr/>
        </p:nvCxnSpPr>
        <p:spPr>
          <a:xfrm>
            <a:off x="9634526" y="2268437"/>
            <a:ext cx="0" cy="211909"/>
          </a:xfrm>
          <a:prstGeom prst="line">
            <a:avLst/>
          </a:prstGeom>
          <a:ln w="19744">
            <a:solidFill>
              <a:srgbClr val="B0CA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6" name="Connector 445"/>
          <p:cNvCxnSpPr/>
          <p:nvPr/>
        </p:nvCxnSpPr>
        <p:spPr>
          <a:xfrm>
            <a:off x="9309528" y="2480346"/>
            <a:ext cx="324998" cy="0"/>
          </a:xfrm>
          <a:prstGeom prst="line">
            <a:avLst/>
          </a:prstGeom>
          <a:ln w="19894">
            <a:solidFill>
              <a:srgbClr val="B1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7" name="Connector 446"/>
          <p:cNvCxnSpPr/>
          <p:nvPr/>
        </p:nvCxnSpPr>
        <p:spPr>
          <a:xfrm>
            <a:off x="10934516" y="1420803"/>
            <a:ext cx="0" cy="211909"/>
          </a:xfrm>
          <a:prstGeom prst="line">
            <a:avLst/>
          </a:prstGeom>
          <a:ln w="20943">
            <a:solidFill>
              <a:srgbClr val="BBCA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8" name="Connector 447"/>
          <p:cNvCxnSpPr/>
          <p:nvPr/>
        </p:nvCxnSpPr>
        <p:spPr>
          <a:xfrm>
            <a:off x="11259513" y="1420803"/>
            <a:ext cx="0" cy="211909"/>
          </a:xfrm>
          <a:prstGeom prst="line">
            <a:avLst/>
          </a:prstGeom>
          <a:ln w="20943">
            <a:solidFill>
              <a:srgbClr val="BBCA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9" name="Connector 448"/>
          <p:cNvCxnSpPr/>
          <p:nvPr/>
        </p:nvCxnSpPr>
        <p:spPr>
          <a:xfrm>
            <a:off x="11584511" y="1420803"/>
            <a:ext cx="0" cy="211909"/>
          </a:xfrm>
          <a:prstGeom prst="line">
            <a:avLst/>
          </a:prstGeom>
          <a:ln w="20943">
            <a:solidFill>
              <a:srgbClr val="BBCA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0" name="Connector 449"/>
          <p:cNvCxnSpPr/>
          <p:nvPr/>
        </p:nvCxnSpPr>
        <p:spPr>
          <a:xfrm>
            <a:off x="11259513" y="2268437"/>
            <a:ext cx="0" cy="211909"/>
          </a:xfrm>
          <a:prstGeom prst="line">
            <a:avLst/>
          </a:prstGeom>
          <a:ln w="21242">
            <a:solidFill>
              <a:srgbClr val="BECB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1" name="Connector 450"/>
          <p:cNvCxnSpPr/>
          <p:nvPr/>
        </p:nvCxnSpPr>
        <p:spPr>
          <a:xfrm>
            <a:off x="11584511" y="2268437"/>
            <a:ext cx="0" cy="211909"/>
          </a:xfrm>
          <a:prstGeom prst="line">
            <a:avLst/>
          </a:prstGeom>
          <a:ln w="21841">
            <a:solidFill>
              <a:srgbClr val="C4CB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2" name="Connector 451"/>
          <p:cNvCxnSpPr/>
          <p:nvPr/>
        </p:nvCxnSpPr>
        <p:spPr>
          <a:xfrm>
            <a:off x="10934516" y="1420803"/>
            <a:ext cx="324997" cy="0"/>
          </a:xfrm>
          <a:prstGeom prst="line">
            <a:avLst/>
          </a:prstGeom>
          <a:ln w="22141">
            <a:solidFill>
              <a:srgbClr val="C7CB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3" name="Connector 452"/>
          <p:cNvCxnSpPr/>
          <p:nvPr/>
        </p:nvCxnSpPr>
        <p:spPr>
          <a:xfrm>
            <a:off x="10934516" y="1632712"/>
            <a:ext cx="324997" cy="0"/>
          </a:xfrm>
          <a:prstGeom prst="line">
            <a:avLst/>
          </a:prstGeom>
          <a:ln w="22290">
            <a:solidFill>
              <a:srgbClr val="C8CC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4" name="Connector 453"/>
          <p:cNvCxnSpPr/>
          <p:nvPr/>
        </p:nvCxnSpPr>
        <p:spPr>
          <a:xfrm>
            <a:off x="10934516" y="2268437"/>
            <a:ext cx="324997" cy="0"/>
          </a:xfrm>
          <a:prstGeom prst="line">
            <a:avLst/>
          </a:prstGeom>
          <a:ln w="23189">
            <a:solidFill>
              <a:srgbClr val="D1CC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5" name="Connector 454"/>
          <p:cNvCxnSpPr/>
          <p:nvPr/>
        </p:nvCxnSpPr>
        <p:spPr>
          <a:xfrm>
            <a:off x="10934516" y="2056529"/>
            <a:ext cx="324997" cy="0"/>
          </a:xfrm>
          <a:prstGeom prst="line">
            <a:avLst/>
          </a:prstGeom>
          <a:ln w="23339">
            <a:solidFill>
              <a:srgbClr val="D2CC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6" name="Connector 455"/>
          <p:cNvCxnSpPr/>
          <p:nvPr/>
        </p:nvCxnSpPr>
        <p:spPr>
          <a:xfrm>
            <a:off x="10934516" y="2268437"/>
            <a:ext cx="0" cy="211909"/>
          </a:xfrm>
          <a:prstGeom prst="line">
            <a:avLst/>
          </a:prstGeom>
          <a:ln w="23489">
            <a:solidFill>
              <a:srgbClr val="D4CC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7" name="Connector 456"/>
          <p:cNvCxnSpPr/>
          <p:nvPr/>
        </p:nvCxnSpPr>
        <p:spPr>
          <a:xfrm>
            <a:off x="10284521" y="1420803"/>
            <a:ext cx="324997" cy="0"/>
          </a:xfrm>
          <a:prstGeom prst="line">
            <a:avLst/>
          </a:prstGeom>
          <a:ln w="24088">
            <a:solidFill>
              <a:srgbClr val="D9CD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8" name="Connector 457"/>
          <p:cNvCxnSpPr/>
          <p:nvPr/>
        </p:nvCxnSpPr>
        <p:spPr>
          <a:xfrm>
            <a:off x="10284521" y="1632712"/>
            <a:ext cx="324997" cy="0"/>
          </a:xfrm>
          <a:prstGeom prst="line">
            <a:avLst/>
          </a:prstGeom>
          <a:ln w="24088">
            <a:solidFill>
              <a:srgbClr val="D9CD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9" name="Connector 458"/>
          <p:cNvCxnSpPr/>
          <p:nvPr/>
        </p:nvCxnSpPr>
        <p:spPr>
          <a:xfrm>
            <a:off x="10934516" y="2480346"/>
            <a:ext cx="324997" cy="0"/>
          </a:xfrm>
          <a:prstGeom prst="line">
            <a:avLst/>
          </a:prstGeom>
          <a:ln w="24537">
            <a:solidFill>
              <a:srgbClr val="DEC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0" name="Connector 459"/>
          <p:cNvCxnSpPr/>
          <p:nvPr/>
        </p:nvCxnSpPr>
        <p:spPr>
          <a:xfrm>
            <a:off x="11259513" y="2056529"/>
            <a:ext cx="0" cy="211908"/>
          </a:xfrm>
          <a:prstGeom prst="line">
            <a:avLst/>
          </a:prstGeom>
          <a:ln w="24986">
            <a:solidFill>
              <a:srgbClr val="E2CE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1" name="Connector 460"/>
          <p:cNvCxnSpPr/>
          <p:nvPr/>
        </p:nvCxnSpPr>
        <p:spPr>
          <a:xfrm>
            <a:off x="11584511" y="2056529"/>
            <a:ext cx="0" cy="211908"/>
          </a:xfrm>
          <a:prstGeom prst="line">
            <a:avLst/>
          </a:prstGeom>
          <a:ln w="25136">
            <a:solidFill>
              <a:srgbClr val="E3CE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2" name="Connector 461"/>
          <p:cNvCxnSpPr/>
          <p:nvPr/>
        </p:nvCxnSpPr>
        <p:spPr>
          <a:xfrm>
            <a:off x="10934516" y="2056529"/>
            <a:ext cx="0" cy="211908"/>
          </a:xfrm>
          <a:prstGeom prst="line">
            <a:avLst/>
          </a:prstGeom>
          <a:ln w="25435">
            <a:solidFill>
              <a:srgbClr val="E6CE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3" name="Connector 462"/>
          <p:cNvCxnSpPr/>
          <p:nvPr/>
        </p:nvCxnSpPr>
        <p:spPr>
          <a:xfrm>
            <a:off x="9959523" y="2268437"/>
            <a:ext cx="324998" cy="0"/>
          </a:xfrm>
          <a:prstGeom prst="line">
            <a:avLst/>
          </a:prstGeom>
          <a:ln w="25885">
            <a:solidFill>
              <a:srgbClr val="EACE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4" name="Connector 463"/>
          <p:cNvCxnSpPr/>
          <p:nvPr/>
        </p:nvCxnSpPr>
        <p:spPr>
          <a:xfrm>
            <a:off x="9959523" y="2056529"/>
            <a:ext cx="0" cy="211908"/>
          </a:xfrm>
          <a:prstGeom prst="line">
            <a:avLst/>
          </a:prstGeom>
          <a:ln w="26783">
            <a:solidFill>
              <a:srgbClr val="F2CE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5" name="Connector 464"/>
          <p:cNvCxnSpPr/>
          <p:nvPr/>
        </p:nvCxnSpPr>
        <p:spPr>
          <a:xfrm>
            <a:off x="11584511" y="1632712"/>
            <a:ext cx="0" cy="211908"/>
          </a:xfrm>
          <a:prstGeom prst="line">
            <a:avLst/>
          </a:prstGeom>
          <a:ln w="27532">
            <a:solidFill>
              <a:srgbClr val="F1C6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6" name="Connector 465"/>
          <p:cNvCxnSpPr/>
          <p:nvPr/>
        </p:nvCxnSpPr>
        <p:spPr>
          <a:xfrm>
            <a:off x="10609518" y="1420803"/>
            <a:ext cx="324998" cy="0"/>
          </a:xfrm>
          <a:prstGeom prst="line">
            <a:avLst/>
          </a:prstGeom>
          <a:ln w="27682">
            <a:solidFill>
              <a:srgbClr val="F0C5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7" name="Connector 466"/>
          <p:cNvCxnSpPr/>
          <p:nvPr/>
        </p:nvCxnSpPr>
        <p:spPr>
          <a:xfrm>
            <a:off x="11259513" y="1632712"/>
            <a:ext cx="0" cy="211908"/>
          </a:xfrm>
          <a:prstGeom prst="line">
            <a:avLst/>
          </a:prstGeom>
          <a:ln w="27682">
            <a:solidFill>
              <a:srgbClr val="F0C5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8" name="Connector 467"/>
          <p:cNvCxnSpPr/>
          <p:nvPr/>
        </p:nvCxnSpPr>
        <p:spPr>
          <a:xfrm>
            <a:off x="9634526" y="2056529"/>
            <a:ext cx="324997" cy="0"/>
          </a:xfrm>
          <a:prstGeom prst="line">
            <a:avLst/>
          </a:prstGeom>
          <a:ln w="27981">
            <a:solidFill>
              <a:srgbClr val="F0C2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9" name="Connector 468"/>
          <p:cNvCxnSpPr/>
          <p:nvPr/>
        </p:nvCxnSpPr>
        <p:spPr>
          <a:xfrm>
            <a:off x="9959523" y="1844620"/>
            <a:ext cx="0" cy="211909"/>
          </a:xfrm>
          <a:prstGeom prst="line">
            <a:avLst/>
          </a:prstGeom>
          <a:ln w="28131">
            <a:solidFill>
              <a:srgbClr val="F0C0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0" name="Connector 469"/>
          <p:cNvCxnSpPr/>
          <p:nvPr/>
        </p:nvCxnSpPr>
        <p:spPr>
          <a:xfrm>
            <a:off x="10609518" y="1632712"/>
            <a:ext cx="324998" cy="0"/>
          </a:xfrm>
          <a:prstGeom prst="line">
            <a:avLst/>
          </a:prstGeom>
          <a:ln w="28880">
            <a:solidFill>
              <a:srgbClr val="EEB9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1" name="Connector 470"/>
          <p:cNvCxnSpPr/>
          <p:nvPr/>
        </p:nvCxnSpPr>
        <p:spPr>
          <a:xfrm>
            <a:off x="10284521" y="2268437"/>
            <a:ext cx="324997" cy="0"/>
          </a:xfrm>
          <a:prstGeom prst="line">
            <a:avLst/>
          </a:prstGeom>
          <a:ln w="29030">
            <a:solidFill>
              <a:srgbClr val="EEB7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2" name="Connector 471"/>
          <p:cNvCxnSpPr/>
          <p:nvPr/>
        </p:nvCxnSpPr>
        <p:spPr>
          <a:xfrm>
            <a:off x="11259513" y="1844620"/>
            <a:ext cx="0" cy="211909"/>
          </a:xfrm>
          <a:prstGeom prst="line">
            <a:avLst/>
          </a:prstGeom>
          <a:ln w="29329">
            <a:solidFill>
              <a:srgbClr val="EDB4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3" name="Connector 472"/>
          <p:cNvCxnSpPr/>
          <p:nvPr/>
        </p:nvCxnSpPr>
        <p:spPr>
          <a:xfrm>
            <a:off x="10609518" y="2056529"/>
            <a:ext cx="324998" cy="0"/>
          </a:xfrm>
          <a:prstGeom prst="line">
            <a:avLst/>
          </a:prstGeom>
          <a:ln w="29329">
            <a:solidFill>
              <a:srgbClr val="EDB4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4" name="Connector 473"/>
          <p:cNvCxnSpPr/>
          <p:nvPr/>
        </p:nvCxnSpPr>
        <p:spPr>
          <a:xfrm>
            <a:off x="10934516" y="1632712"/>
            <a:ext cx="0" cy="211908"/>
          </a:xfrm>
          <a:prstGeom prst="line">
            <a:avLst/>
          </a:prstGeom>
          <a:ln w="29479">
            <a:solidFill>
              <a:srgbClr val="EDB3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5" name="Connector 474"/>
          <p:cNvCxnSpPr/>
          <p:nvPr/>
        </p:nvCxnSpPr>
        <p:spPr>
          <a:xfrm>
            <a:off x="11584511" y="1844620"/>
            <a:ext cx="0" cy="211909"/>
          </a:xfrm>
          <a:prstGeom prst="line">
            <a:avLst/>
          </a:prstGeom>
          <a:ln w="29479">
            <a:solidFill>
              <a:srgbClr val="EDB3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6" name="Connector 475"/>
          <p:cNvCxnSpPr/>
          <p:nvPr/>
        </p:nvCxnSpPr>
        <p:spPr>
          <a:xfrm>
            <a:off x="10284521" y="2056529"/>
            <a:ext cx="324997" cy="0"/>
          </a:xfrm>
          <a:prstGeom prst="line">
            <a:avLst/>
          </a:prstGeom>
          <a:ln w="29779">
            <a:solidFill>
              <a:srgbClr val="EDB0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7" name="Connector 476"/>
          <p:cNvCxnSpPr/>
          <p:nvPr/>
        </p:nvCxnSpPr>
        <p:spPr>
          <a:xfrm>
            <a:off x="10609518" y="2268437"/>
            <a:ext cx="324998" cy="0"/>
          </a:xfrm>
          <a:prstGeom prst="line">
            <a:avLst/>
          </a:prstGeom>
          <a:ln w="29779">
            <a:solidFill>
              <a:srgbClr val="EDB0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8" name="Connector 477"/>
          <p:cNvCxnSpPr/>
          <p:nvPr/>
        </p:nvCxnSpPr>
        <p:spPr>
          <a:xfrm>
            <a:off x="10934516" y="1844620"/>
            <a:ext cx="0" cy="211909"/>
          </a:xfrm>
          <a:prstGeom prst="line">
            <a:avLst/>
          </a:prstGeom>
          <a:ln w="30977">
            <a:solidFill>
              <a:srgbClr val="EBA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9" name="Connector 478"/>
          <p:cNvCxnSpPr/>
          <p:nvPr/>
        </p:nvCxnSpPr>
        <p:spPr>
          <a:xfrm>
            <a:off x="9959523" y="2480346"/>
            <a:ext cx="324998" cy="0"/>
          </a:xfrm>
          <a:prstGeom prst="line">
            <a:avLst/>
          </a:prstGeom>
          <a:ln w="31126">
            <a:solidFill>
              <a:srgbClr val="EAA2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0" name="Connector 479"/>
          <p:cNvCxnSpPr/>
          <p:nvPr/>
        </p:nvCxnSpPr>
        <p:spPr>
          <a:xfrm>
            <a:off x="9634526" y="2480346"/>
            <a:ext cx="324997" cy="0"/>
          </a:xfrm>
          <a:prstGeom prst="line">
            <a:avLst/>
          </a:prstGeom>
          <a:ln w="31426">
            <a:solidFill>
              <a:srgbClr val="EA9F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1" name="Connector 480"/>
          <p:cNvCxnSpPr/>
          <p:nvPr/>
        </p:nvCxnSpPr>
        <p:spPr>
          <a:xfrm>
            <a:off x="9959523" y="2056529"/>
            <a:ext cx="324998" cy="0"/>
          </a:xfrm>
          <a:prstGeom prst="line">
            <a:avLst/>
          </a:prstGeom>
          <a:ln w="31576">
            <a:solidFill>
              <a:srgbClr val="EA9D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2" name="Connector 481"/>
          <p:cNvCxnSpPr/>
          <p:nvPr/>
        </p:nvCxnSpPr>
        <p:spPr>
          <a:xfrm>
            <a:off x="10284521" y="2480346"/>
            <a:ext cx="324997" cy="0"/>
          </a:xfrm>
          <a:prstGeom prst="line">
            <a:avLst/>
          </a:prstGeom>
          <a:ln w="32624">
            <a:solidFill>
              <a:srgbClr val="E893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3" name="Connector 482"/>
          <p:cNvCxnSpPr/>
          <p:nvPr/>
        </p:nvCxnSpPr>
        <p:spPr>
          <a:xfrm>
            <a:off x="10609518" y="2480346"/>
            <a:ext cx="324998" cy="0"/>
          </a:xfrm>
          <a:prstGeom prst="line">
            <a:avLst/>
          </a:prstGeom>
          <a:ln w="33223">
            <a:solidFill>
              <a:srgbClr val="E78D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4" name="Connector 483"/>
          <p:cNvCxnSpPr/>
          <p:nvPr/>
        </p:nvCxnSpPr>
        <p:spPr>
          <a:xfrm>
            <a:off x="9634526" y="2268437"/>
            <a:ext cx="324997" cy="0"/>
          </a:xfrm>
          <a:prstGeom prst="line">
            <a:avLst/>
          </a:prstGeom>
          <a:ln w="11430">
            <a:solidFill>
              <a:srgbClr val="9AA5B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5" name="Connector 484"/>
          <p:cNvCxnSpPr/>
          <p:nvPr/>
        </p:nvCxnSpPr>
        <p:spPr>
          <a:xfrm>
            <a:off x="9774774" y="2246187"/>
            <a:ext cx="44501" cy="44501"/>
          </a:xfrm>
          <a:prstGeom prst="line">
            <a:avLst/>
          </a:prstGeom>
          <a:ln w="114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6" name="Connector 485"/>
          <p:cNvCxnSpPr/>
          <p:nvPr/>
        </p:nvCxnSpPr>
        <p:spPr>
          <a:xfrm flipV="1">
            <a:off x="9774774" y="2246187"/>
            <a:ext cx="44501" cy="44501"/>
          </a:xfrm>
          <a:prstGeom prst="line">
            <a:avLst/>
          </a:prstGeom>
          <a:ln w="114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7" name="Oval 486"/>
          <p:cNvSpPr/>
          <p:nvPr/>
        </p:nvSpPr>
        <p:spPr>
          <a:xfrm>
            <a:off x="9277742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Oval 487"/>
          <p:cNvSpPr/>
          <p:nvPr/>
        </p:nvSpPr>
        <p:spPr>
          <a:xfrm>
            <a:off x="9602739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Oval 488"/>
          <p:cNvSpPr/>
          <p:nvPr/>
        </p:nvSpPr>
        <p:spPr>
          <a:xfrm>
            <a:off x="9927737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Oval 489"/>
          <p:cNvSpPr/>
          <p:nvPr/>
        </p:nvSpPr>
        <p:spPr>
          <a:xfrm>
            <a:off x="10252734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Oval 490"/>
          <p:cNvSpPr/>
          <p:nvPr/>
        </p:nvSpPr>
        <p:spPr>
          <a:xfrm>
            <a:off x="10577732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Oval 491"/>
          <p:cNvSpPr/>
          <p:nvPr/>
        </p:nvSpPr>
        <p:spPr>
          <a:xfrm>
            <a:off x="10902730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Oval 492"/>
          <p:cNvSpPr/>
          <p:nvPr/>
        </p:nvSpPr>
        <p:spPr>
          <a:xfrm>
            <a:off x="11227727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Oval 493"/>
          <p:cNvSpPr/>
          <p:nvPr/>
        </p:nvSpPr>
        <p:spPr>
          <a:xfrm>
            <a:off x="11552725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Oval 494"/>
          <p:cNvSpPr/>
          <p:nvPr/>
        </p:nvSpPr>
        <p:spPr>
          <a:xfrm>
            <a:off x="9277742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Oval 495"/>
          <p:cNvSpPr/>
          <p:nvPr/>
        </p:nvSpPr>
        <p:spPr>
          <a:xfrm>
            <a:off x="9602739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Oval 496"/>
          <p:cNvSpPr/>
          <p:nvPr/>
        </p:nvSpPr>
        <p:spPr>
          <a:xfrm>
            <a:off x="9927737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Oval 497"/>
          <p:cNvSpPr/>
          <p:nvPr/>
        </p:nvSpPr>
        <p:spPr>
          <a:xfrm>
            <a:off x="10252734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Oval 498"/>
          <p:cNvSpPr/>
          <p:nvPr/>
        </p:nvSpPr>
        <p:spPr>
          <a:xfrm>
            <a:off x="10577732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Oval 499"/>
          <p:cNvSpPr/>
          <p:nvPr/>
        </p:nvSpPr>
        <p:spPr>
          <a:xfrm>
            <a:off x="10902730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Oval 500"/>
          <p:cNvSpPr/>
          <p:nvPr/>
        </p:nvSpPr>
        <p:spPr>
          <a:xfrm>
            <a:off x="11227727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Oval 501"/>
          <p:cNvSpPr/>
          <p:nvPr/>
        </p:nvSpPr>
        <p:spPr>
          <a:xfrm>
            <a:off x="11552725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Oval 502"/>
          <p:cNvSpPr/>
          <p:nvPr/>
        </p:nvSpPr>
        <p:spPr>
          <a:xfrm>
            <a:off x="9277742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Oval 503"/>
          <p:cNvSpPr/>
          <p:nvPr/>
        </p:nvSpPr>
        <p:spPr>
          <a:xfrm>
            <a:off x="9602739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Oval 504"/>
          <p:cNvSpPr/>
          <p:nvPr/>
        </p:nvSpPr>
        <p:spPr>
          <a:xfrm>
            <a:off x="9927737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Oval 505"/>
          <p:cNvSpPr/>
          <p:nvPr/>
        </p:nvSpPr>
        <p:spPr>
          <a:xfrm>
            <a:off x="10902730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Oval 506"/>
          <p:cNvSpPr/>
          <p:nvPr/>
        </p:nvSpPr>
        <p:spPr>
          <a:xfrm>
            <a:off x="11227727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Oval 507"/>
          <p:cNvSpPr/>
          <p:nvPr/>
        </p:nvSpPr>
        <p:spPr>
          <a:xfrm>
            <a:off x="11552725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Oval 508"/>
          <p:cNvSpPr/>
          <p:nvPr/>
        </p:nvSpPr>
        <p:spPr>
          <a:xfrm>
            <a:off x="9277742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Oval 509"/>
          <p:cNvSpPr/>
          <p:nvPr/>
        </p:nvSpPr>
        <p:spPr>
          <a:xfrm>
            <a:off x="9602739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Oval 510"/>
          <p:cNvSpPr/>
          <p:nvPr/>
        </p:nvSpPr>
        <p:spPr>
          <a:xfrm>
            <a:off x="9927737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Oval 511"/>
          <p:cNvSpPr/>
          <p:nvPr/>
        </p:nvSpPr>
        <p:spPr>
          <a:xfrm>
            <a:off x="10252734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Oval 512"/>
          <p:cNvSpPr/>
          <p:nvPr/>
        </p:nvSpPr>
        <p:spPr>
          <a:xfrm>
            <a:off x="10577732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Oval 513"/>
          <p:cNvSpPr/>
          <p:nvPr/>
        </p:nvSpPr>
        <p:spPr>
          <a:xfrm>
            <a:off x="10902730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Oval 514"/>
          <p:cNvSpPr/>
          <p:nvPr/>
        </p:nvSpPr>
        <p:spPr>
          <a:xfrm>
            <a:off x="11227727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Oval 515"/>
          <p:cNvSpPr/>
          <p:nvPr/>
        </p:nvSpPr>
        <p:spPr>
          <a:xfrm>
            <a:off x="11552725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Oval 516"/>
          <p:cNvSpPr/>
          <p:nvPr/>
        </p:nvSpPr>
        <p:spPr>
          <a:xfrm>
            <a:off x="9277742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Oval 517"/>
          <p:cNvSpPr/>
          <p:nvPr/>
        </p:nvSpPr>
        <p:spPr>
          <a:xfrm>
            <a:off x="9602739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Oval 518"/>
          <p:cNvSpPr/>
          <p:nvPr/>
        </p:nvSpPr>
        <p:spPr>
          <a:xfrm>
            <a:off x="9927737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Oval 519"/>
          <p:cNvSpPr/>
          <p:nvPr/>
        </p:nvSpPr>
        <p:spPr>
          <a:xfrm>
            <a:off x="10252734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Oval 520"/>
          <p:cNvSpPr/>
          <p:nvPr/>
        </p:nvSpPr>
        <p:spPr>
          <a:xfrm>
            <a:off x="10577732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Oval 521"/>
          <p:cNvSpPr/>
          <p:nvPr/>
        </p:nvSpPr>
        <p:spPr>
          <a:xfrm>
            <a:off x="10902730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Oval 522"/>
          <p:cNvSpPr/>
          <p:nvPr/>
        </p:nvSpPr>
        <p:spPr>
          <a:xfrm>
            <a:off x="11227727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Oval 523"/>
          <p:cNvSpPr/>
          <p:nvPr/>
        </p:nvSpPr>
        <p:spPr>
          <a:xfrm>
            <a:off x="11552725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Oval 524"/>
          <p:cNvSpPr/>
          <p:nvPr/>
        </p:nvSpPr>
        <p:spPr>
          <a:xfrm>
            <a:off x="9277742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Oval 525"/>
          <p:cNvSpPr/>
          <p:nvPr/>
        </p:nvSpPr>
        <p:spPr>
          <a:xfrm>
            <a:off x="9602739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Oval 526"/>
          <p:cNvSpPr/>
          <p:nvPr/>
        </p:nvSpPr>
        <p:spPr>
          <a:xfrm>
            <a:off x="9927737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Oval 527"/>
          <p:cNvSpPr/>
          <p:nvPr/>
        </p:nvSpPr>
        <p:spPr>
          <a:xfrm>
            <a:off x="10252734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Oval 528"/>
          <p:cNvSpPr/>
          <p:nvPr/>
        </p:nvSpPr>
        <p:spPr>
          <a:xfrm>
            <a:off x="10577732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Oval 529"/>
          <p:cNvSpPr/>
          <p:nvPr/>
        </p:nvSpPr>
        <p:spPr>
          <a:xfrm>
            <a:off x="10902730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Oval 530"/>
          <p:cNvSpPr/>
          <p:nvPr/>
        </p:nvSpPr>
        <p:spPr>
          <a:xfrm>
            <a:off x="11227727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Oval 531"/>
          <p:cNvSpPr/>
          <p:nvPr/>
        </p:nvSpPr>
        <p:spPr>
          <a:xfrm>
            <a:off x="11552725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3" name="Connector 532"/>
          <p:cNvCxnSpPr/>
          <p:nvPr/>
        </p:nvCxnSpPr>
        <p:spPr>
          <a:xfrm>
            <a:off x="10252734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4" name="Connector 533"/>
          <p:cNvCxnSpPr/>
          <p:nvPr/>
        </p:nvCxnSpPr>
        <p:spPr>
          <a:xfrm flipV="1">
            <a:off x="10252734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5" name="Connector 534"/>
          <p:cNvCxnSpPr/>
          <p:nvPr/>
        </p:nvCxnSpPr>
        <p:spPr>
          <a:xfrm>
            <a:off x="10577732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6" name="Connector 535"/>
          <p:cNvCxnSpPr/>
          <p:nvPr/>
        </p:nvCxnSpPr>
        <p:spPr>
          <a:xfrm flipV="1">
            <a:off x="10577732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7" name="5-Point Star 536"/>
          <p:cNvSpPr/>
          <p:nvPr/>
        </p:nvSpPr>
        <p:spPr>
          <a:xfrm>
            <a:off x="11505045" y="2400880"/>
            <a:ext cx="158931" cy="158931"/>
          </a:xfrm>
          <a:prstGeom prst="star5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TextBox 537"/>
          <p:cNvSpPr txBox="1"/>
          <p:nvPr/>
        </p:nvSpPr>
        <p:spPr>
          <a:xfrm>
            <a:off x="9098280" y="2798064"/>
            <a:ext cx="2697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30" b="0">
                <a:solidFill>
                  <a:srgbClr val="5A6673"/>
                </a:solidFill>
                <a:latin typeface="Microsoft YaHei"/>
              </a:rPr>
              <a:t>同一转向集内换路径，容错不变</a:t>
            </a:r>
          </a:p>
        </p:txBody>
      </p:sp>
      <p:sp>
        <p:nvSpPr>
          <p:cNvPr id="539" name="TextBox 538"/>
          <p:cNvSpPr txBox="1"/>
          <p:nvPr/>
        </p:nvSpPr>
        <p:spPr>
          <a:xfrm>
            <a:off x="9098280" y="2999232"/>
            <a:ext cx="26974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30" b="1">
                <a:solidFill>
                  <a:srgbClr val="1E7F4F"/>
                </a:solidFill>
                <a:latin typeface="Microsoft YaHei"/>
              </a:rPr>
              <a:t>峰值 154 = 1.45× 割界（−25%）</a:t>
            </a:r>
          </a:p>
        </p:txBody>
      </p:sp>
      <p:sp>
        <p:nvSpPr>
          <p:cNvPr id="540" name="Rectangle 539"/>
          <p:cNvSpPr/>
          <p:nvPr/>
        </p:nvSpPr>
        <p:spPr>
          <a:xfrm>
            <a:off x="603504" y="3273552"/>
            <a:ext cx="67619" cy="109728"/>
          </a:xfrm>
          <a:prstGeom prst="rect">
            <a:avLst/>
          </a:prstGeom>
          <a:solidFill>
            <a:srgbClr val="E9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1" name="Rectangle 540"/>
          <p:cNvSpPr/>
          <p:nvPr/>
        </p:nvSpPr>
        <p:spPr>
          <a:xfrm>
            <a:off x="669798" y="3273552"/>
            <a:ext cx="67619" cy="109728"/>
          </a:xfrm>
          <a:prstGeom prst="rect">
            <a:avLst/>
          </a:prstGeom>
          <a:solidFill>
            <a:srgbClr val="E3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2" name="Rectangle 541"/>
          <p:cNvSpPr/>
          <p:nvPr/>
        </p:nvSpPr>
        <p:spPr>
          <a:xfrm>
            <a:off x="736092" y="3273552"/>
            <a:ext cx="67619" cy="109728"/>
          </a:xfrm>
          <a:prstGeom prst="rect">
            <a:avLst/>
          </a:prstGeom>
          <a:solidFill>
            <a:srgbClr val="DDE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3" name="Rectangle 542"/>
          <p:cNvSpPr/>
          <p:nvPr/>
        </p:nvSpPr>
        <p:spPr>
          <a:xfrm>
            <a:off x="802386" y="3273552"/>
            <a:ext cx="67619" cy="109728"/>
          </a:xfrm>
          <a:prstGeom prst="rect">
            <a:avLst/>
          </a:prstGeom>
          <a:solidFill>
            <a:srgbClr val="D7E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4" name="Rectangle 543"/>
          <p:cNvSpPr/>
          <p:nvPr/>
        </p:nvSpPr>
        <p:spPr>
          <a:xfrm>
            <a:off x="868680" y="3273552"/>
            <a:ext cx="67619" cy="109728"/>
          </a:xfrm>
          <a:prstGeom prst="rect">
            <a:avLst/>
          </a:prstGeom>
          <a:solidFill>
            <a:srgbClr val="D2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5" name="Rectangle 544"/>
          <p:cNvSpPr/>
          <p:nvPr/>
        </p:nvSpPr>
        <p:spPr>
          <a:xfrm>
            <a:off x="934974" y="3273552"/>
            <a:ext cx="67619" cy="109728"/>
          </a:xfrm>
          <a:prstGeom prst="rect">
            <a:avLst/>
          </a:prstGeom>
          <a:solidFill>
            <a:srgbClr val="CCD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6" name="Rectangle 545"/>
          <p:cNvSpPr/>
          <p:nvPr/>
        </p:nvSpPr>
        <p:spPr>
          <a:xfrm>
            <a:off x="1001268" y="3273552"/>
            <a:ext cx="67619" cy="109728"/>
          </a:xfrm>
          <a:prstGeom prst="rect">
            <a:avLst/>
          </a:prstGeom>
          <a:solidFill>
            <a:srgbClr val="C6DA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7" name="Rectangle 546"/>
          <p:cNvSpPr/>
          <p:nvPr/>
        </p:nvSpPr>
        <p:spPr>
          <a:xfrm>
            <a:off x="1067562" y="3273552"/>
            <a:ext cx="67619" cy="109728"/>
          </a:xfrm>
          <a:prstGeom prst="rect">
            <a:avLst/>
          </a:prstGeom>
          <a:solidFill>
            <a:srgbClr val="C0D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8" name="Rectangle 547"/>
          <p:cNvSpPr/>
          <p:nvPr/>
        </p:nvSpPr>
        <p:spPr>
          <a:xfrm>
            <a:off x="1133856" y="3273552"/>
            <a:ext cx="67619" cy="109728"/>
          </a:xfrm>
          <a:prstGeom prst="rect">
            <a:avLst/>
          </a:prstGeom>
          <a:solidFill>
            <a:srgbClr val="BAD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9" name="Rectangle 548"/>
          <p:cNvSpPr/>
          <p:nvPr/>
        </p:nvSpPr>
        <p:spPr>
          <a:xfrm>
            <a:off x="1200150" y="3273552"/>
            <a:ext cx="67619" cy="109728"/>
          </a:xfrm>
          <a:prstGeom prst="rect">
            <a:avLst/>
          </a:prstGeom>
          <a:solidFill>
            <a:srgbClr val="B4D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0" name="Rectangle 549"/>
          <p:cNvSpPr/>
          <p:nvPr/>
        </p:nvSpPr>
        <p:spPr>
          <a:xfrm>
            <a:off x="1266444" y="3273552"/>
            <a:ext cx="67619" cy="109728"/>
          </a:xfrm>
          <a:prstGeom prst="rect">
            <a:avLst/>
          </a:prstGeom>
          <a:solidFill>
            <a:srgbClr val="AEC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1" name="Rectangle 550"/>
          <p:cNvSpPr/>
          <p:nvPr/>
        </p:nvSpPr>
        <p:spPr>
          <a:xfrm>
            <a:off x="1332738" y="3273552"/>
            <a:ext cx="67619" cy="109728"/>
          </a:xfrm>
          <a:prstGeom prst="rect">
            <a:avLst/>
          </a:prstGeom>
          <a:solidFill>
            <a:srgbClr val="AAC9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2" name="Rectangle 551"/>
          <p:cNvSpPr/>
          <p:nvPr/>
        </p:nvSpPr>
        <p:spPr>
          <a:xfrm>
            <a:off x="1399031" y="3273552"/>
            <a:ext cx="67619" cy="109728"/>
          </a:xfrm>
          <a:prstGeom prst="rect">
            <a:avLst/>
          </a:prstGeom>
          <a:solidFill>
            <a:srgbClr val="B1CA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3" name="Rectangle 552"/>
          <p:cNvSpPr/>
          <p:nvPr/>
        </p:nvSpPr>
        <p:spPr>
          <a:xfrm>
            <a:off x="1465326" y="3273552"/>
            <a:ext cx="67619" cy="109728"/>
          </a:xfrm>
          <a:prstGeom prst="rect">
            <a:avLst/>
          </a:prstGeom>
          <a:solidFill>
            <a:srgbClr val="B9CA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4" name="Rectangle 553"/>
          <p:cNvSpPr/>
          <p:nvPr/>
        </p:nvSpPr>
        <p:spPr>
          <a:xfrm>
            <a:off x="1531620" y="3273552"/>
            <a:ext cx="67619" cy="109728"/>
          </a:xfrm>
          <a:prstGeom prst="rect">
            <a:avLst/>
          </a:prstGeom>
          <a:solidFill>
            <a:srgbClr val="C1CB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5" name="Rectangle 554"/>
          <p:cNvSpPr/>
          <p:nvPr/>
        </p:nvSpPr>
        <p:spPr>
          <a:xfrm>
            <a:off x="1597914" y="3273552"/>
            <a:ext cx="67619" cy="109728"/>
          </a:xfrm>
          <a:prstGeom prst="rect">
            <a:avLst/>
          </a:prstGeom>
          <a:solidFill>
            <a:srgbClr val="C9CC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6" name="Rectangle 555"/>
          <p:cNvSpPr/>
          <p:nvPr/>
        </p:nvSpPr>
        <p:spPr>
          <a:xfrm>
            <a:off x="1664207" y="3273552"/>
            <a:ext cx="67619" cy="109728"/>
          </a:xfrm>
          <a:prstGeom prst="rect">
            <a:avLst/>
          </a:prstGeom>
          <a:solidFill>
            <a:srgbClr val="D1C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7" name="Rectangle 556"/>
          <p:cNvSpPr/>
          <p:nvPr/>
        </p:nvSpPr>
        <p:spPr>
          <a:xfrm>
            <a:off x="1730502" y="3273552"/>
            <a:ext cx="67619" cy="109728"/>
          </a:xfrm>
          <a:prstGeom prst="rect">
            <a:avLst/>
          </a:prstGeom>
          <a:solidFill>
            <a:srgbClr val="D8CD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8" name="Rectangle 557"/>
          <p:cNvSpPr/>
          <p:nvPr/>
        </p:nvSpPr>
        <p:spPr>
          <a:xfrm>
            <a:off x="1796795" y="3273552"/>
            <a:ext cx="67619" cy="109728"/>
          </a:xfrm>
          <a:prstGeom prst="rect">
            <a:avLst/>
          </a:prstGeom>
          <a:solidFill>
            <a:srgbClr val="E0C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9" name="Rectangle 558"/>
          <p:cNvSpPr/>
          <p:nvPr/>
        </p:nvSpPr>
        <p:spPr>
          <a:xfrm>
            <a:off x="1863090" y="3273552"/>
            <a:ext cx="67619" cy="109728"/>
          </a:xfrm>
          <a:prstGeom prst="rect">
            <a:avLst/>
          </a:prstGeom>
          <a:solidFill>
            <a:srgbClr val="E8C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0" name="Rectangle 559"/>
          <p:cNvSpPr/>
          <p:nvPr/>
        </p:nvSpPr>
        <p:spPr>
          <a:xfrm>
            <a:off x="1929384" y="3273552"/>
            <a:ext cx="67619" cy="109728"/>
          </a:xfrm>
          <a:prstGeom prst="rect">
            <a:avLst/>
          </a:prstGeom>
          <a:solidFill>
            <a:srgbClr val="F0C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1" name="Rectangle 560"/>
          <p:cNvSpPr/>
          <p:nvPr/>
        </p:nvSpPr>
        <p:spPr>
          <a:xfrm>
            <a:off x="1995678" y="3273552"/>
            <a:ext cx="67619" cy="109728"/>
          </a:xfrm>
          <a:prstGeom prst="rect">
            <a:avLst/>
          </a:prstGeom>
          <a:solidFill>
            <a:srgbClr val="F1C9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2" name="Rectangle 561"/>
          <p:cNvSpPr/>
          <p:nvPr/>
        </p:nvSpPr>
        <p:spPr>
          <a:xfrm>
            <a:off x="2061972" y="3273552"/>
            <a:ext cx="67619" cy="109728"/>
          </a:xfrm>
          <a:prstGeom prst="rect">
            <a:avLst/>
          </a:prstGeom>
          <a:solidFill>
            <a:srgbClr val="F0C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3" name="Rectangle 562"/>
          <p:cNvSpPr/>
          <p:nvPr/>
        </p:nvSpPr>
        <p:spPr>
          <a:xfrm>
            <a:off x="2128266" y="3273552"/>
            <a:ext cx="67619" cy="109728"/>
          </a:xfrm>
          <a:prstGeom prst="rect">
            <a:avLst/>
          </a:prstGeom>
          <a:solidFill>
            <a:srgbClr val="EEB9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4" name="Rectangle 563"/>
          <p:cNvSpPr/>
          <p:nvPr/>
        </p:nvSpPr>
        <p:spPr>
          <a:xfrm>
            <a:off x="2194560" y="3273552"/>
            <a:ext cx="67619" cy="109728"/>
          </a:xfrm>
          <a:prstGeom prst="rect">
            <a:avLst/>
          </a:prstGeom>
          <a:solidFill>
            <a:srgbClr val="EDB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5" name="Rectangle 564"/>
          <p:cNvSpPr/>
          <p:nvPr/>
        </p:nvSpPr>
        <p:spPr>
          <a:xfrm>
            <a:off x="2260854" y="3273552"/>
            <a:ext cx="67619" cy="109728"/>
          </a:xfrm>
          <a:prstGeom prst="rect">
            <a:avLst/>
          </a:prstGeom>
          <a:solidFill>
            <a:srgbClr val="EBA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6" name="Rectangle 565"/>
          <p:cNvSpPr/>
          <p:nvPr/>
        </p:nvSpPr>
        <p:spPr>
          <a:xfrm>
            <a:off x="2327148" y="3273552"/>
            <a:ext cx="67619" cy="109728"/>
          </a:xfrm>
          <a:prstGeom prst="rect">
            <a:avLst/>
          </a:prstGeom>
          <a:solidFill>
            <a:srgbClr val="EAA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7" name="Rectangle 566"/>
          <p:cNvSpPr/>
          <p:nvPr/>
        </p:nvSpPr>
        <p:spPr>
          <a:xfrm>
            <a:off x="2393442" y="3273552"/>
            <a:ext cx="67619" cy="109728"/>
          </a:xfrm>
          <a:prstGeom prst="rect">
            <a:avLst/>
          </a:prstGeom>
          <a:solidFill>
            <a:srgbClr val="E99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8" name="Rectangle 567"/>
          <p:cNvSpPr/>
          <p:nvPr/>
        </p:nvSpPr>
        <p:spPr>
          <a:xfrm>
            <a:off x="2459736" y="3273552"/>
            <a:ext cx="67619" cy="109728"/>
          </a:xfrm>
          <a:prstGeom prst="rect">
            <a:avLst/>
          </a:prstGeom>
          <a:solidFill>
            <a:srgbClr val="E78F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9" name="Rectangle 568"/>
          <p:cNvSpPr/>
          <p:nvPr/>
        </p:nvSpPr>
        <p:spPr>
          <a:xfrm>
            <a:off x="2526030" y="3273552"/>
            <a:ext cx="67619" cy="109728"/>
          </a:xfrm>
          <a:prstGeom prst="rect">
            <a:avLst/>
          </a:prstGeom>
          <a:solidFill>
            <a:srgbClr val="E68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0" name="Rectangle 569"/>
          <p:cNvSpPr/>
          <p:nvPr/>
        </p:nvSpPr>
        <p:spPr>
          <a:xfrm>
            <a:off x="2592324" y="3273552"/>
            <a:ext cx="67619" cy="109728"/>
          </a:xfrm>
          <a:prstGeom prst="rect">
            <a:avLst/>
          </a:prstGeom>
          <a:solidFill>
            <a:srgbClr val="E37E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1" name="Rectangle 570"/>
          <p:cNvSpPr/>
          <p:nvPr/>
        </p:nvSpPr>
        <p:spPr>
          <a:xfrm>
            <a:off x="2658618" y="3273552"/>
            <a:ext cx="67619" cy="109728"/>
          </a:xfrm>
          <a:prstGeom prst="rect">
            <a:avLst/>
          </a:prstGeom>
          <a:solidFill>
            <a:srgbClr val="DD74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2" name="Rectangle 571"/>
          <p:cNvSpPr/>
          <p:nvPr/>
        </p:nvSpPr>
        <p:spPr>
          <a:xfrm>
            <a:off x="2724912" y="3273552"/>
            <a:ext cx="67619" cy="109728"/>
          </a:xfrm>
          <a:prstGeom prst="rect">
            <a:avLst/>
          </a:prstGeom>
          <a:solidFill>
            <a:srgbClr val="D76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3" name="Rectangle 572"/>
          <p:cNvSpPr/>
          <p:nvPr/>
        </p:nvSpPr>
        <p:spPr>
          <a:xfrm>
            <a:off x="2791206" y="3273552"/>
            <a:ext cx="67619" cy="109728"/>
          </a:xfrm>
          <a:prstGeom prst="rect">
            <a:avLst/>
          </a:prstGeom>
          <a:solidFill>
            <a:srgbClr val="D16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4" name="Rectangle 573"/>
          <p:cNvSpPr/>
          <p:nvPr/>
        </p:nvSpPr>
        <p:spPr>
          <a:xfrm>
            <a:off x="2857500" y="3273552"/>
            <a:ext cx="67619" cy="109728"/>
          </a:xfrm>
          <a:prstGeom prst="rect">
            <a:avLst/>
          </a:prstGeom>
          <a:solidFill>
            <a:srgbClr val="CB5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5" name="Rectangle 574"/>
          <p:cNvSpPr/>
          <p:nvPr/>
        </p:nvSpPr>
        <p:spPr>
          <a:xfrm>
            <a:off x="2923794" y="3273552"/>
            <a:ext cx="67619" cy="109728"/>
          </a:xfrm>
          <a:prstGeom prst="rect">
            <a:avLst/>
          </a:prstGeom>
          <a:solidFill>
            <a:srgbClr val="C64C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6" name="Rectangle 575"/>
          <p:cNvSpPr/>
          <p:nvPr/>
        </p:nvSpPr>
        <p:spPr>
          <a:xfrm>
            <a:off x="2990088" y="3273552"/>
            <a:ext cx="67619" cy="109728"/>
          </a:xfrm>
          <a:prstGeom prst="rect">
            <a:avLst/>
          </a:prstGeom>
          <a:solidFill>
            <a:srgbClr val="C04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7" name="Rectangle 576"/>
          <p:cNvSpPr/>
          <p:nvPr/>
        </p:nvSpPr>
        <p:spPr>
          <a:xfrm>
            <a:off x="3056382" y="3273552"/>
            <a:ext cx="67619" cy="109728"/>
          </a:xfrm>
          <a:prstGeom prst="rect">
            <a:avLst/>
          </a:prstGeom>
          <a:solidFill>
            <a:srgbClr val="BA3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8" name="Rectangle 577"/>
          <p:cNvSpPr/>
          <p:nvPr/>
        </p:nvSpPr>
        <p:spPr>
          <a:xfrm>
            <a:off x="3122676" y="3273552"/>
            <a:ext cx="67619" cy="109728"/>
          </a:xfrm>
          <a:prstGeom prst="rect">
            <a:avLst/>
          </a:prstGeom>
          <a:solidFill>
            <a:srgbClr val="B42D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9" name="Rectangle 578"/>
          <p:cNvSpPr/>
          <p:nvPr/>
        </p:nvSpPr>
        <p:spPr>
          <a:xfrm>
            <a:off x="3188970" y="3273552"/>
            <a:ext cx="67619" cy="109728"/>
          </a:xfrm>
          <a:prstGeom prst="rect">
            <a:avLst/>
          </a:prstGeom>
          <a:solidFill>
            <a:srgbClr val="AE2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0" name="Rectangle 579"/>
          <p:cNvSpPr/>
          <p:nvPr/>
        </p:nvSpPr>
        <p:spPr>
          <a:xfrm>
            <a:off x="603504" y="3273552"/>
            <a:ext cx="2651760" cy="109728"/>
          </a:xfrm>
          <a:prstGeom prst="rect">
            <a:avLst/>
          </a:prstGeom>
          <a:noFill/>
          <a:ln w="6350">
            <a:solidFill>
              <a:srgbClr val="9AA5B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581" name="Connector 580"/>
          <p:cNvCxnSpPr/>
          <p:nvPr/>
        </p:nvCxnSpPr>
        <p:spPr>
          <a:xfrm>
            <a:off x="603504" y="3383280"/>
            <a:ext cx="0" cy="45720"/>
          </a:xfrm>
          <a:prstGeom prst="line">
            <a:avLst/>
          </a:prstGeom>
          <a:ln w="7620">
            <a:solidFill>
              <a:srgbClr val="5A66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2" name="TextBox 581"/>
          <p:cNvSpPr txBox="1"/>
          <p:nvPr/>
        </p:nvSpPr>
        <p:spPr>
          <a:xfrm>
            <a:off x="219456" y="3429000"/>
            <a:ext cx="76809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0</a:t>
            </a:r>
          </a:p>
        </p:txBody>
      </p:sp>
      <p:cxnSp>
        <p:nvCxnSpPr>
          <p:cNvPr id="583" name="Connector 582"/>
          <p:cNvCxnSpPr/>
          <p:nvPr/>
        </p:nvCxnSpPr>
        <p:spPr>
          <a:xfrm>
            <a:off x="1266444" y="3383280"/>
            <a:ext cx="0" cy="45720"/>
          </a:xfrm>
          <a:prstGeom prst="line">
            <a:avLst/>
          </a:prstGeom>
          <a:ln w="7620">
            <a:solidFill>
              <a:srgbClr val="5A66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4" name="TextBox 583"/>
          <p:cNvSpPr txBox="1"/>
          <p:nvPr/>
        </p:nvSpPr>
        <p:spPr>
          <a:xfrm>
            <a:off x="882396" y="3429000"/>
            <a:ext cx="76809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0.5×</a:t>
            </a:r>
          </a:p>
        </p:txBody>
      </p:sp>
      <p:cxnSp>
        <p:nvCxnSpPr>
          <p:cNvPr id="585" name="Connector 584"/>
          <p:cNvCxnSpPr/>
          <p:nvPr/>
        </p:nvCxnSpPr>
        <p:spPr>
          <a:xfrm>
            <a:off x="1929384" y="3383280"/>
            <a:ext cx="0" cy="45720"/>
          </a:xfrm>
          <a:prstGeom prst="line">
            <a:avLst/>
          </a:prstGeom>
          <a:ln w="7620">
            <a:solidFill>
              <a:srgbClr val="5A66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6" name="TextBox 585"/>
          <p:cNvSpPr txBox="1"/>
          <p:nvPr/>
        </p:nvSpPr>
        <p:spPr>
          <a:xfrm>
            <a:off x="1545336" y="3429000"/>
            <a:ext cx="76809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1.0× 割界</a:t>
            </a:r>
          </a:p>
        </p:txBody>
      </p:sp>
      <p:cxnSp>
        <p:nvCxnSpPr>
          <p:cNvPr id="587" name="Connector 586"/>
          <p:cNvCxnSpPr/>
          <p:nvPr/>
        </p:nvCxnSpPr>
        <p:spPr>
          <a:xfrm>
            <a:off x="2592324" y="3383280"/>
            <a:ext cx="0" cy="45720"/>
          </a:xfrm>
          <a:prstGeom prst="line">
            <a:avLst/>
          </a:prstGeom>
          <a:ln w="7620">
            <a:solidFill>
              <a:srgbClr val="5A66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8" name="TextBox 587"/>
          <p:cNvSpPr txBox="1"/>
          <p:nvPr/>
        </p:nvSpPr>
        <p:spPr>
          <a:xfrm>
            <a:off x="2208276" y="3429000"/>
            <a:ext cx="76809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1.5×</a:t>
            </a:r>
          </a:p>
        </p:txBody>
      </p:sp>
      <p:cxnSp>
        <p:nvCxnSpPr>
          <p:cNvPr id="589" name="Connector 588"/>
          <p:cNvCxnSpPr/>
          <p:nvPr/>
        </p:nvCxnSpPr>
        <p:spPr>
          <a:xfrm>
            <a:off x="3255264" y="3383280"/>
            <a:ext cx="0" cy="45720"/>
          </a:xfrm>
          <a:prstGeom prst="line">
            <a:avLst/>
          </a:prstGeom>
          <a:ln w="7620">
            <a:solidFill>
              <a:srgbClr val="5A66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0" name="TextBox 589"/>
          <p:cNvSpPr txBox="1"/>
          <p:nvPr/>
        </p:nvSpPr>
        <p:spPr>
          <a:xfrm>
            <a:off x="2871216" y="3429000"/>
            <a:ext cx="76809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≥2.0×</a:t>
            </a:r>
          </a:p>
        </p:txBody>
      </p:sp>
      <p:sp>
        <p:nvSpPr>
          <p:cNvPr id="591" name="TextBox 590"/>
          <p:cNvSpPr txBox="1"/>
          <p:nvPr/>
        </p:nvSpPr>
        <p:spPr>
          <a:xfrm>
            <a:off x="3712463" y="3236976"/>
            <a:ext cx="80832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色标 = 该链路承载的 (s,d) 对数 ÷ 本场景割界（两方向取大者）；割界 = 任何路由都突破不了的最小可能峰值，所以「÷割界」才是跨场景可比的量。× = 死 router (3,2)/(4,2)，红叉虚线 = 断链 (1,4)–(2,4)，★ = 根。XY 与 west-first 在这张残图上无法覆盖全部 (s,d)，只能牺牲好节点，故无图。M3′ 最热 10 条链路的 ℓ 落在 2–7（其中 8 条在 ℓ=3–6，ℓ 最大 12）：拥塞不在根的邻边，而在洞左侧那条通往根的主干走廊上。</a:t>
            </a:r>
          </a:p>
        </p:txBody>
      </p:sp>
      <p:sp>
        <p:nvSpPr>
          <p:cNvPr id="592" name="Rounded Rectangle 591"/>
          <p:cNvSpPr/>
          <p:nvPr/>
        </p:nvSpPr>
        <p:spPr>
          <a:xfrm>
            <a:off x="274320" y="3785615"/>
            <a:ext cx="7406640" cy="1883664"/>
          </a:xfrm>
          <a:prstGeom prst="roundRect">
            <a:avLst>
              <a:gd name="adj" fmla="val 1941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93" name="Rounded Rectangle 592"/>
          <p:cNvSpPr/>
          <p:nvPr/>
        </p:nvSpPr>
        <p:spPr>
          <a:xfrm>
            <a:off x="274320" y="3785615"/>
            <a:ext cx="7406640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94" name="Rectangle 593"/>
          <p:cNvSpPr/>
          <p:nvPr/>
        </p:nvSpPr>
        <p:spPr>
          <a:xfrm>
            <a:off x="274320" y="3785615"/>
            <a:ext cx="50292" cy="2743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95" name="TextBox 594"/>
          <p:cNvSpPr txBox="1"/>
          <p:nvPr/>
        </p:nvSpPr>
        <p:spPr>
          <a:xfrm>
            <a:off x="420623" y="3813048"/>
            <a:ext cx="7132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② 同为 1 VC 的 turn model 横向对比</a:t>
            </a:r>
          </a:p>
        </p:txBody>
      </p:sp>
      <p:sp>
        <p:nvSpPr>
          <p:cNvPr id="596" name="Rectangle 595"/>
          <p:cNvSpPr/>
          <p:nvPr/>
        </p:nvSpPr>
        <p:spPr>
          <a:xfrm>
            <a:off x="384048" y="4096511"/>
            <a:ext cx="6995160" cy="219456"/>
          </a:xfrm>
          <a:prstGeom prst="rect">
            <a:avLst/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97" name="TextBox 596"/>
          <p:cNvSpPr txBox="1"/>
          <p:nvPr/>
        </p:nvSpPr>
        <p:spPr>
          <a:xfrm>
            <a:off x="420623" y="4096511"/>
            <a:ext cx="1444751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方案</a:t>
            </a:r>
          </a:p>
        </p:txBody>
      </p:sp>
      <p:sp>
        <p:nvSpPr>
          <p:cNvPr id="598" name="TextBox 597"/>
          <p:cNvSpPr txBox="1"/>
          <p:nvPr/>
        </p:nvSpPr>
        <p:spPr>
          <a:xfrm>
            <a:off x="1938528" y="4096511"/>
            <a:ext cx="107899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禁令怎么定</a:t>
            </a:r>
          </a:p>
        </p:txBody>
      </p:sp>
      <p:sp>
        <p:nvSpPr>
          <p:cNvPr id="599" name="TextBox 598"/>
          <p:cNvSpPr txBox="1"/>
          <p:nvPr/>
        </p:nvSpPr>
        <p:spPr>
          <a:xfrm>
            <a:off x="3090672" y="4096511"/>
            <a:ext cx="80467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参与节点</a:t>
            </a:r>
          </a:p>
        </p:txBody>
      </p:sp>
      <p:sp>
        <p:nvSpPr>
          <p:cNvPr id="600" name="TextBox 599"/>
          <p:cNvSpPr txBox="1"/>
          <p:nvPr/>
        </p:nvSpPr>
        <p:spPr>
          <a:xfrm>
            <a:off x="3968496" y="4096511"/>
            <a:ext cx="457199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峰值</a:t>
            </a:r>
          </a:p>
        </p:txBody>
      </p:sp>
      <p:sp>
        <p:nvSpPr>
          <p:cNvPr id="601" name="TextBox 600"/>
          <p:cNvSpPr txBox="1"/>
          <p:nvPr/>
        </p:nvSpPr>
        <p:spPr>
          <a:xfrm>
            <a:off x="4498848" y="4096511"/>
            <a:ext cx="384048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÷割界</a:t>
            </a:r>
          </a:p>
        </p:txBody>
      </p:sp>
      <p:sp>
        <p:nvSpPr>
          <p:cNvPr id="602" name="TextBox 601"/>
          <p:cNvSpPr txBox="1"/>
          <p:nvPr/>
        </p:nvSpPr>
        <p:spPr>
          <a:xfrm>
            <a:off x="4956048" y="4096511"/>
            <a:ext cx="384048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CV</a:t>
            </a:r>
          </a:p>
        </p:txBody>
      </p:sp>
      <p:sp>
        <p:nvSpPr>
          <p:cNvPr id="603" name="TextBox 602"/>
          <p:cNvSpPr txBox="1"/>
          <p:nvPr/>
        </p:nvSpPr>
        <p:spPr>
          <a:xfrm>
            <a:off x="5413248" y="4096511"/>
            <a:ext cx="43891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mk1</a:t>
            </a:r>
          </a:p>
        </p:txBody>
      </p:sp>
      <p:sp>
        <p:nvSpPr>
          <p:cNvPr id="604" name="TextBox 603"/>
          <p:cNvSpPr txBox="1"/>
          <p:nvPr/>
        </p:nvSpPr>
        <p:spPr>
          <a:xfrm>
            <a:off x="5925312" y="4096511"/>
            <a:ext cx="457199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mk13</a:t>
            </a:r>
          </a:p>
        </p:txBody>
      </p:sp>
      <p:sp>
        <p:nvSpPr>
          <p:cNvPr id="605" name="TextBox 604"/>
          <p:cNvSpPr txBox="1"/>
          <p:nvPr/>
        </p:nvSpPr>
        <p:spPr>
          <a:xfrm>
            <a:off x="6455664" y="4096511"/>
            <a:ext cx="886968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44 场景零牺牲</a:t>
            </a:r>
          </a:p>
        </p:txBody>
      </p:sp>
      <p:sp>
        <p:nvSpPr>
          <p:cNvPr id="606" name="Rectangle 605"/>
          <p:cNvSpPr/>
          <p:nvPr/>
        </p:nvSpPr>
        <p:spPr>
          <a:xfrm>
            <a:off x="384048" y="4315968"/>
            <a:ext cx="6995160" cy="1901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07" name="TextBox 606"/>
          <p:cNvSpPr txBox="1"/>
          <p:nvPr/>
        </p:nvSpPr>
        <p:spPr>
          <a:xfrm>
            <a:off x="429768" y="4315968"/>
            <a:ext cx="1426463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XY，无故障</a:t>
            </a:r>
          </a:p>
        </p:txBody>
      </p:sp>
      <p:sp>
        <p:nvSpPr>
          <p:cNvPr id="608" name="TextBox 607"/>
          <p:cNvSpPr txBox="1"/>
          <p:nvPr/>
        </p:nvSpPr>
        <p:spPr>
          <a:xfrm>
            <a:off x="1947672" y="4315968"/>
            <a:ext cx="1060704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N→E/W、S→E/W</a:t>
            </a:r>
          </a:p>
        </p:txBody>
      </p:sp>
      <p:sp>
        <p:nvSpPr>
          <p:cNvPr id="609" name="TextBox 608"/>
          <p:cNvSpPr txBox="1"/>
          <p:nvPr/>
        </p:nvSpPr>
        <p:spPr>
          <a:xfrm>
            <a:off x="3099815" y="4315968"/>
            <a:ext cx="786384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48/48</a:t>
            </a:r>
          </a:p>
        </p:txBody>
      </p:sp>
      <p:sp>
        <p:nvSpPr>
          <p:cNvPr id="610" name="TextBox 609"/>
          <p:cNvSpPr txBox="1"/>
          <p:nvPr/>
        </p:nvSpPr>
        <p:spPr>
          <a:xfrm>
            <a:off x="3977639" y="4315968"/>
            <a:ext cx="438912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96</a:t>
            </a:r>
          </a:p>
        </p:txBody>
      </p:sp>
      <p:sp>
        <p:nvSpPr>
          <p:cNvPr id="611" name="TextBox 610"/>
          <p:cNvSpPr txBox="1"/>
          <p:nvPr/>
        </p:nvSpPr>
        <p:spPr>
          <a:xfrm>
            <a:off x="4507992" y="4315968"/>
            <a:ext cx="365760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1.00×</a:t>
            </a:r>
          </a:p>
        </p:txBody>
      </p:sp>
      <p:sp>
        <p:nvSpPr>
          <p:cNvPr id="612" name="TextBox 611"/>
          <p:cNvSpPr txBox="1"/>
          <p:nvPr/>
        </p:nvSpPr>
        <p:spPr>
          <a:xfrm>
            <a:off x="4965192" y="4315968"/>
            <a:ext cx="365760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0.30</a:t>
            </a:r>
          </a:p>
        </p:txBody>
      </p:sp>
      <p:sp>
        <p:nvSpPr>
          <p:cNvPr id="613" name="TextBox 612"/>
          <p:cNvSpPr txBox="1"/>
          <p:nvPr/>
        </p:nvSpPr>
        <p:spPr>
          <a:xfrm>
            <a:off x="5422392" y="4315968"/>
            <a:ext cx="420624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188</a:t>
            </a:r>
          </a:p>
        </p:txBody>
      </p:sp>
      <p:sp>
        <p:nvSpPr>
          <p:cNvPr id="614" name="TextBox 613"/>
          <p:cNvSpPr txBox="1"/>
          <p:nvPr/>
        </p:nvSpPr>
        <p:spPr>
          <a:xfrm>
            <a:off x="5934455" y="4315968"/>
            <a:ext cx="438912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2179</a:t>
            </a:r>
          </a:p>
        </p:txBody>
      </p:sp>
      <p:sp>
        <p:nvSpPr>
          <p:cNvPr id="615" name="TextBox 614"/>
          <p:cNvSpPr txBox="1"/>
          <p:nvPr/>
        </p:nvSpPr>
        <p:spPr>
          <a:xfrm>
            <a:off x="6464807" y="4315968"/>
            <a:ext cx="868680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0/44</a:t>
            </a:r>
          </a:p>
        </p:txBody>
      </p:sp>
      <p:cxnSp>
        <p:nvCxnSpPr>
          <p:cNvPr id="616" name="Connector 615"/>
          <p:cNvCxnSpPr/>
          <p:nvPr/>
        </p:nvCxnSpPr>
        <p:spPr>
          <a:xfrm>
            <a:off x="384048" y="4315968"/>
            <a:ext cx="699516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7" name="Rectangle 616"/>
          <p:cNvSpPr/>
          <p:nvPr/>
        </p:nvSpPr>
        <p:spPr>
          <a:xfrm>
            <a:off x="384048" y="4506163"/>
            <a:ext cx="6995160" cy="190195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8" name="TextBox 617"/>
          <p:cNvSpPr txBox="1"/>
          <p:nvPr/>
        </p:nvSpPr>
        <p:spPr>
          <a:xfrm>
            <a:off x="429768" y="4506163"/>
            <a:ext cx="1426463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west-first，无故障</a:t>
            </a:r>
          </a:p>
        </p:txBody>
      </p:sp>
      <p:sp>
        <p:nvSpPr>
          <p:cNvPr id="619" name="TextBox 618"/>
          <p:cNvSpPr txBox="1"/>
          <p:nvPr/>
        </p:nvSpPr>
        <p:spPr>
          <a:xfrm>
            <a:off x="1947672" y="4506163"/>
            <a:ext cx="1060704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N→W、S→W</a:t>
            </a:r>
          </a:p>
        </p:txBody>
      </p:sp>
      <p:sp>
        <p:nvSpPr>
          <p:cNvPr id="620" name="TextBox 619"/>
          <p:cNvSpPr txBox="1"/>
          <p:nvPr/>
        </p:nvSpPr>
        <p:spPr>
          <a:xfrm>
            <a:off x="3099815" y="4506163"/>
            <a:ext cx="786384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48/48</a:t>
            </a:r>
          </a:p>
        </p:txBody>
      </p:sp>
      <p:sp>
        <p:nvSpPr>
          <p:cNvPr id="621" name="TextBox 620"/>
          <p:cNvSpPr txBox="1"/>
          <p:nvPr/>
        </p:nvSpPr>
        <p:spPr>
          <a:xfrm>
            <a:off x="3977639" y="4506163"/>
            <a:ext cx="438912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98</a:t>
            </a:r>
          </a:p>
        </p:txBody>
      </p:sp>
      <p:sp>
        <p:nvSpPr>
          <p:cNvPr id="622" name="TextBox 621"/>
          <p:cNvSpPr txBox="1"/>
          <p:nvPr/>
        </p:nvSpPr>
        <p:spPr>
          <a:xfrm>
            <a:off x="4507992" y="4506163"/>
            <a:ext cx="365760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1.02×</a:t>
            </a:r>
          </a:p>
        </p:txBody>
      </p:sp>
      <p:sp>
        <p:nvSpPr>
          <p:cNvPr id="623" name="TextBox 622"/>
          <p:cNvSpPr txBox="1"/>
          <p:nvPr/>
        </p:nvSpPr>
        <p:spPr>
          <a:xfrm>
            <a:off x="4965192" y="4506163"/>
            <a:ext cx="365760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0.29</a:t>
            </a:r>
          </a:p>
        </p:txBody>
      </p:sp>
      <p:sp>
        <p:nvSpPr>
          <p:cNvPr id="624" name="TextBox 623"/>
          <p:cNvSpPr txBox="1"/>
          <p:nvPr/>
        </p:nvSpPr>
        <p:spPr>
          <a:xfrm>
            <a:off x="5422392" y="4506163"/>
            <a:ext cx="420624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189</a:t>
            </a:r>
          </a:p>
        </p:txBody>
      </p:sp>
      <p:sp>
        <p:nvSpPr>
          <p:cNvPr id="625" name="TextBox 624"/>
          <p:cNvSpPr txBox="1"/>
          <p:nvPr/>
        </p:nvSpPr>
        <p:spPr>
          <a:xfrm>
            <a:off x="5934455" y="4506163"/>
            <a:ext cx="438912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5858</a:t>
            </a:r>
          </a:p>
        </p:txBody>
      </p:sp>
      <p:sp>
        <p:nvSpPr>
          <p:cNvPr id="626" name="TextBox 625"/>
          <p:cNvSpPr txBox="1"/>
          <p:nvPr/>
        </p:nvSpPr>
        <p:spPr>
          <a:xfrm>
            <a:off x="6464807" y="4506163"/>
            <a:ext cx="868680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0/44</a:t>
            </a:r>
          </a:p>
        </p:txBody>
      </p:sp>
      <p:cxnSp>
        <p:nvCxnSpPr>
          <p:cNvPr id="627" name="Connector 626"/>
          <p:cNvCxnSpPr/>
          <p:nvPr/>
        </p:nvCxnSpPr>
        <p:spPr>
          <a:xfrm>
            <a:off x="384048" y="4506163"/>
            <a:ext cx="699516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8" name="Rectangle 627"/>
          <p:cNvSpPr/>
          <p:nvPr/>
        </p:nvSpPr>
        <p:spPr>
          <a:xfrm>
            <a:off x="384048" y="4696358"/>
            <a:ext cx="6995160" cy="1901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9" name="TextBox 628"/>
          <p:cNvSpPr txBox="1"/>
          <p:nvPr/>
        </p:nvSpPr>
        <p:spPr>
          <a:xfrm>
            <a:off x="429768" y="4696358"/>
            <a:ext cx="1426463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neg-first，无故障</a:t>
            </a:r>
          </a:p>
        </p:txBody>
      </p:sp>
      <p:sp>
        <p:nvSpPr>
          <p:cNvPr id="630" name="TextBox 629"/>
          <p:cNvSpPr txBox="1"/>
          <p:nvPr/>
        </p:nvSpPr>
        <p:spPr>
          <a:xfrm>
            <a:off x="1947672" y="4696358"/>
            <a:ext cx="1060704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E→S、N→W</a:t>
            </a:r>
          </a:p>
        </p:txBody>
      </p:sp>
      <p:sp>
        <p:nvSpPr>
          <p:cNvPr id="631" name="TextBox 630"/>
          <p:cNvSpPr txBox="1"/>
          <p:nvPr/>
        </p:nvSpPr>
        <p:spPr>
          <a:xfrm>
            <a:off x="3099815" y="4696358"/>
            <a:ext cx="786384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48/48</a:t>
            </a:r>
          </a:p>
        </p:txBody>
      </p:sp>
      <p:sp>
        <p:nvSpPr>
          <p:cNvPr id="632" name="TextBox 631"/>
          <p:cNvSpPr txBox="1"/>
          <p:nvPr/>
        </p:nvSpPr>
        <p:spPr>
          <a:xfrm>
            <a:off x="3977639" y="4696358"/>
            <a:ext cx="438912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111</a:t>
            </a:r>
          </a:p>
        </p:txBody>
      </p:sp>
      <p:sp>
        <p:nvSpPr>
          <p:cNvPr id="633" name="TextBox 632"/>
          <p:cNvSpPr txBox="1"/>
          <p:nvPr/>
        </p:nvSpPr>
        <p:spPr>
          <a:xfrm>
            <a:off x="4507992" y="4696358"/>
            <a:ext cx="365760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1.16×</a:t>
            </a:r>
          </a:p>
        </p:txBody>
      </p:sp>
      <p:sp>
        <p:nvSpPr>
          <p:cNvPr id="634" name="TextBox 633"/>
          <p:cNvSpPr txBox="1"/>
          <p:nvPr/>
        </p:nvSpPr>
        <p:spPr>
          <a:xfrm>
            <a:off x="4965192" y="4696358"/>
            <a:ext cx="365760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0.42</a:t>
            </a:r>
          </a:p>
        </p:txBody>
      </p:sp>
      <p:sp>
        <p:nvSpPr>
          <p:cNvPr id="635" name="TextBox 634"/>
          <p:cNvSpPr txBox="1"/>
          <p:nvPr/>
        </p:nvSpPr>
        <p:spPr>
          <a:xfrm>
            <a:off x="5422392" y="4696358"/>
            <a:ext cx="420624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211</a:t>
            </a:r>
          </a:p>
        </p:txBody>
      </p:sp>
      <p:sp>
        <p:nvSpPr>
          <p:cNvPr id="636" name="TextBox 635"/>
          <p:cNvSpPr txBox="1"/>
          <p:nvPr/>
        </p:nvSpPr>
        <p:spPr>
          <a:xfrm>
            <a:off x="5934455" y="4696358"/>
            <a:ext cx="438912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5170</a:t>
            </a:r>
          </a:p>
        </p:txBody>
      </p:sp>
      <p:sp>
        <p:nvSpPr>
          <p:cNvPr id="637" name="TextBox 636"/>
          <p:cNvSpPr txBox="1"/>
          <p:nvPr/>
        </p:nvSpPr>
        <p:spPr>
          <a:xfrm>
            <a:off x="6464807" y="4696358"/>
            <a:ext cx="868680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10/44</a:t>
            </a:r>
          </a:p>
        </p:txBody>
      </p:sp>
      <p:cxnSp>
        <p:nvCxnSpPr>
          <p:cNvPr id="638" name="Connector 637"/>
          <p:cNvCxnSpPr/>
          <p:nvPr/>
        </p:nvCxnSpPr>
        <p:spPr>
          <a:xfrm>
            <a:off x="384048" y="4696358"/>
            <a:ext cx="699516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9" name="Rectangle 638"/>
          <p:cNvSpPr/>
          <p:nvPr/>
        </p:nvSpPr>
        <p:spPr>
          <a:xfrm>
            <a:off x="384048" y="4886553"/>
            <a:ext cx="6995160" cy="190195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0" name="TextBox 639"/>
          <p:cNvSpPr txBox="1"/>
          <p:nvPr/>
        </p:nvSpPr>
        <p:spPr>
          <a:xfrm>
            <a:off x="429768" y="4886553"/>
            <a:ext cx="1426463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neg-first，残图</a:t>
            </a:r>
          </a:p>
        </p:txBody>
      </p:sp>
      <p:sp>
        <p:nvSpPr>
          <p:cNvPr id="641" name="TextBox 640"/>
          <p:cNvSpPr txBox="1"/>
          <p:nvPr/>
        </p:nvSpPr>
        <p:spPr>
          <a:xfrm>
            <a:off x="1947672" y="4886553"/>
            <a:ext cx="1060704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同上（与洞无关）</a:t>
            </a:r>
          </a:p>
        </p:txBody>
      </p:sp>
      <p:sp>
        <p:nvSpPr>
          <p:cNvPr id="642" name="TextBox 641"/>
          <p:cNvSpPr txBox="1"/>
          <p:nvPr/>
        </p:nvSpPr>
        <p:spPr>
          <a:xfrm>
            <a:off x="3099815" y="4886553"/>
            <a:ext cx="786384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46/46</a:t>
            </a:r>
          </a:p>
        </p:txBody>
      </p:sp>
      <p:sp>
        <p:nvSpPr>
          <p:cNvPr id="643" name="TextBox 642"/>
          <p:cNvSpPr txBox="1"/>
          <p:nvPr/>
        </p:nvSpPr>
        <p:spPr>
          <a:xfrm>
            <a:off x="3977639" y="4886553"/>
            <a:ext cx="438912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160</a:t>
            </a:r>
          </a:p>
        </p:txBody>
      </p:sp>
      <p:sp>
        <p:nvSpPr>
          <p:cNvPr id="644" name="TextBox 643"/>
          <p:cNvSpPr txBox="1"/>
          <p:nvPr/>
        </p:nvSpPr>
        <p:spPr>
          <a:xfrm>
            <a:off x="4507992" y="4886553"/>
            <a:ext cx="365760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1.51×</a:t>
            </a:r>
          </a:p>
        </p:txBody>
      </p:sp>
      <p:sp>
        <p:nvSpPr>
          <p:cNvPr id="645" name="TextBox 644"/>
          <p:cNvSpPr txBox="1"/>
          <p:nvPr/>
        </p:nvSpPr>
        <p:spPr>
          <a:xfrm>
            <a:off x="4965192" y="4886553"/>
            <a:ext cx="365760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0.59</a:t>
            </a:r>
          </a:p>
        </p:txBody>
      </p:sp>
      <p:sp>
        <p:nvSpPr>
          <p:cNvPr id="646" name="TextBox 645"/>
          <p:cNvSpPr txBox="1"/>
          <p:nvPr/>
        </p:nvSpPr>
        <p:spPr>
          <a:xfrm>
            <a:off x="5422392" y="4886553"/>
            <a:ext cx="420624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308</a:t>
            </a:r>
          </a:p>
        </p:txBody>
      </p:sp>
      <p:sp>
        <p:nvSpPr>
          <p:cNvPr id="647" name="TextBox 646"/>
          <p:cNvSpPr txBox="1"/>
          <p:nvPr/>
        </p:nvSpPr>
        <p:spPr>
          <a:xfrm>
            <a:off x="5934455" y="4886553"/>
            <a:ext cx="438912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5591</a:t>
            </a:r>
          </a:p>
        </p:txBody>
      </p:sp>
      <p:sp>
        <p:nvSpPr>
          <p:cNvPr id="648" name="TextBox 647"/>
          <p:cNvSpPr txBox="1"/>
          <p:nvPr/>
        </p:nvSpPr>
        <p:spPr>
          <a:xfrm>
            <a:off x="6464807" y="4886553"/>
            <a:ext cx="868680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10/44</a:t>
            </a:r>
          </a:p>
        </p:txBody>
      </p:sp>
      <p:cxnSp>
        <p:nvCxnSpPr>
          <p:cNvPr id="649" name="Connector 648"/>
          <p:cNvCxnSpPr/>
          <p:nvPr/>
        </p:nvCxnSpPr>
        <p:spPr>
          <a:xfrm>
            <a:off x="384048" y="4886553"/>
            <a:ext cx="699516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0" name="Rectangle 649"/>
          <p:cNvSpPr/>
          <p:nvPr/>
        </p:nvSpPr>
        <p:spPr>
          <a:xfrm>
            <a:off x="384048" y="5076748"/>
            <a:ext cx="6995160" cy="1901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51" name="TextBox 650"/>
          <p:cNvSpPr txBox="1"/>
          <p:nvPr/>
        </p:nvSpPr>
        <p:spPr>
          <a:xfrm>
            <a:off x="429768" y="5076748"/>
            <a:ext cx="1426463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M3′，残图</a:t>
            </a:r>
          </a:p>
        </p:txBody>
      </p:sp>
      <p:sp>
        <p:nvSpPr>
          <p:cNvPr id="652" name="TextBox 651"/>
          <p:cNvSpPr txBox="1"/>
          <p:nvPr/>
        </p:nvSpPr>
        <p:spPr>
          <a:xfrm>
            <a:off x="1947672" y="5076748"/>
            <a:ext cx="1060704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down→up（按 ℓ）</a:t>
            </a:r>
          </a:p>
        </p:txBody>
      </p:sp>
      <p:sp>
        <p:nvSpPr>
          <p:cNvPr id="653" name="TextBox 652"/>
          <p:cNvSpPr txBox="1"/>
          <p:nvPr/>
        </p:nvSpPr>
        <p:spPr>
          <a:xfrm>
            <a:off x="3099815" y="5076748"/>
            <a:ext cx="786384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46/46</a:t>
            </a:r>
          </a:p>
        </p:txBody>
      </p:sp>
      <p:sp>
        <p:nvSpPr>
          <p:cNvPr id="654" name="TextBox 653"/>
          <p:cNvSpPr txBox="1"/>
          <p:nvPr/>
        </p:nvSpPr>
        <p:spPr>
          <a:xfrm>
            <a:off x="3977639" y="5076748"/>
            <a:ext cx="438912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204</a:t>
            </a:r>
          </a:p>
        </p:txBody>
      </p:sp>
      <p:sp>
        <p:nvSpPr>
          <p:cNvPr id="655" name="TextBox 654"/>
          <p:cNvSpPr txBox="1"/>
          <p:nvPr/>
        </p:nvSpPr>
        <p:spPr>
          <a:xfrm>
            <a:off x="4507992" y="5076748"/>
            <a:ext cx="365760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1.93×</a:t>
            </a:r>
          </a:p>
        </p:txBody>
      </p:sp>
      <p:sp>
        <p:nvSpPr>
          <p:cNvPr id="656" name="TextBox 655"/>
          <p:cNvSpPr txBox="1"/>
          <p:nvPr/>
        </p:nvSpPr>
        <p:spPr>
          <a:xfrm>
            <a:off x="4965192" y="5076748"/>
            <a:ext cx="365760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0.69</a:t>
            </a:r>
          </a:p>
        </p:txBody>
      </p:sp>
      <p:sp>
        <p:nvSpPr>
          <p:cNvPr id="657" name="TextBox 656"/>
          <p:cNvSpPr txBox="1"/>
          <p:nvPr/>
        </p:nvSpPr>
        <p:spPr>
          <a:xfrm>
            <a:off x="5422392" y="5076748"/>
            <a:ext cx="420624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370</a:t>
            </a:r>
          </a:p>
        </p:txBody>
      </p:sp>
      <p:sp>
        <p:nvSpPr>
          <p:cNvPr id="658" name="TextBox 657"/>
          <p:cNvSpPr txBox="1"/>
          <p:nvPr/>
        </p:nvSpPr>
        <p:spPr>
          <a:xfrm>
            <a:off x="5934455" y="5076748"/>
            <a:ext cx="438912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6452</a:t>
            </a:r>
          </a:p>
        </p:txBody>
      </p:sp>
      <p:sp>
        <p:nvSpPr>
          <p:cNvPr id="659" name="TextBox 658"/>
          <p:cNvSpPr txBox="1"/>
          <p:nvPr/>
        </p:nvSpPr>
        <p:spPr>
          <a:xfrm>
            <a:off x="6464807" y="5076748"/>
            <a:ext cx="868680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41/44</a:t>
            </a:r>
          </a:p>
        </p:txBody>
      </p:sp>
      <p:cxnSp>
        <p:nvCxnSpPr>
          <p:cNvPr id="660" name="Connector 659"/>
          <p:cNvCxnSpPr/>
          <p:nvPr/>
        </p:nvCxnSpPr>
        <p:spPr>
          <a:xfrm>
            <a:off x="384048" y="5076748"/>
            <a:ext cx="699516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1" name="Rectangle 660"/>
          <p:cNvSpPr/>
          <p:nvPr/>
        </p:nvSpPr>
        <p:spPr>
          <a:xfrm>
            <a:off x="384048" y="5266944"/>
            <a:ext cx="6995160" cy="190195"/>
          </a:xfrm>
          <a:prstGeom prst="rect">
            <a:avLst/>
          </a:prstGeom>
          <a:solidFill>
            <a:srgbClr val="FF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62" name="Rectangle 661"/>
          <p:cNvSpPr/>
          <p:nvPr/>
        </p:nvSpPr>
        <p:spPr>
          <a:xfrm>
            <a:off x="384048" y="5266944"/>
            <a:ext cx="32004" cy="190195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63" name="TextBox 662"/>
          <p:cNvSpPr txBox="1"/>
          <p:nvPr/>
        </p:nvSpPr>
        <p:spPr>
          <a:xfrm>
            <a:off x="429768" y="5266944"/>
            <a:ext cx="1426463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M3′+min-max，残图</a:t>
            </a:r>
          </a:p>
        </p:txBody>
      </p:sp>
      <p:sp>
        <p:nvSpPr>
          <p:cNvPr id="664" name="TextBox 663"/>
          <p:cNvSpPr txBox="1"/>
          <p:nvPr/>
        </p:nvSpPr>
        <p:spPr>
          <a:xfrm>
            <a:off x="1947672" y="5266944"/>
            <a:ext cx="1060704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同上 + 换选路</a:t>
            </a:r>
          </a:p>
        </p:txBody>
      </p:sp>
      <p:sp>
        <p:nvSpPr>
          <p:cNvPr id="665" name="TextBox 664"/>
          <p:cNvSpPr txBox="1"/>
          <p:nvPr/>
        </p:nvSpPr>
        <p:spPr>
          <a:xfrm>
            <a:off x="3099815" y="5266944"/>
            <a:ext cx="786384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46/46</a:t>
            </a:r>
          </a:p>
        </p:txBody>
      </p:sp>
      <p:sp>
        <p:nvSpPr>
          <p:cNvPr id="666" name="TextBox 665"/>
          <p:cNvSpPr txBox="1"/>
          <p:nvPr/>
        </p:nvSpPr>
        <p:spPr>
          <a:xfrm>
            <a:off x="3977639" y="5266944"/>
            <a:ext cx="438912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154</a:t>
            </a:r>
          </a:p>
        </p:txBody>
      </p:sp>
      <p:sp>
        <p:nvSpPr>
          <p:cNvPr id="667" name="TextBox 666"/>
          <p:cNvSpPr txBox="1"/>
          <p:nvPr/>
        </p:nvSpPr>
        <p:spPr>
          <a:xfrm>
            <a:off x="4507992" y="5266944"/>
            <a:ext cx="365760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1.45×</a:t>
            </a:r>
          </a:p>
        </p:txBody>
      </p:sp>
      <p:sp>
        <p:nvSpPr>
          <p:cNvPr id="668" name="TextBox 667"/>
          <p:cNvSpPr txBox="1"/>
          <p:nvPr/>
        </p:nvSpPr>
        <p:spPr>
          <a:xfrm>
            <a:off x="4965192" y="5266944"/>
            <a:ext cx="365760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0.56</a:t>
            </a:r>
          </a:p>
        </p:txBody>
      </p:sp>
      <p:sp>
        <p:nvSpPr>
          <p:cNvPr id="669" name="TextBox 668"/>
          <p:cNvSpPr txBox="1"/>
          <p:nvPr/>
        </p:nvSpPr>
        <p:spPr>
          <a:xfrm>
            <a:off x="5422392" y="5266944"/>
            <a:ext cx="420624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293</a:t>
            </a:r>
          </a:p>
        </p:txBody>
      </p:sp>
      <p:sp>
        <p:nvSpPr>
          <p:cNvPr id="670" name="TextBox 669"/>
          <p:cNvSpPr txBox="1"/>
          <p:nvPr/>
        </p:nvSpPr>
        <p:spPr>
          <a:xfrm>
            <a:off x="5934455" y="5266944"/>
            <a:ext cx="438912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6392</a:t>
            </a:r>
          </a:p>
        </p:txBody>
      </p:sp>
      <p:sp>
        <p:nvSpPr>
          <p:cNvPr id="671" name="TextBox 670"/>
          <p:cNvSpPr txBox="1"/>
          <p:nvPr/>
        </p:nvSpPr>
        <p:spPr>
          <a:xfrm>
            <a:off x="6464807" y="5266944"/>
            <a:ext cx="868680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41/44</a:t>
            </a:r>
          </a:p>
        </p:txBody>
      </p:sp>
      <p:cxnSp>
        <p:nvCxnSpPr>
          <p:cNvPr id="672" name="Connector 671"/>
          <p:cNvCxnSpPr/>
          <p:nvPr/>
        </p:nvCxnSpPr>
        <p:spPr>
          <a:xfrm>
            <a:off x="384048" y="5266944"/>
            <a:ext cx="699516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3" name="Rectangle 672"/>
          <p:cNvSpPr/>
          <p:nvPr/>
        </p:nvSpPr>
        <p:spPr>
          <a:xfrm>
            <a:off x="384048" y="5457139"/>
            <a:ext cx="6995160" cy="1901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74" name="TextBox 673"/>
          <p:cNvSpPr txBox="1"/>
          <p:nvPr/>
        </p:nvSpPr>
        <p:spPr>
          <a:xfrm>
            <a:off x="429768" y="5457139"/>
            <a:ext cx="1426463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XY / wf，残图</a:t>
            </a:r>
          </a:p>
        </p:txBody>
      </p:sp>
      <p:sp>
        <p:nvSpPr>
          <p:cNvPr id="675" name="TextBox 674"/>
          <p:cNvSpPr txBox="1"/>
          <p:nvPr/>
        </p:nvSpPr>
        <p:spPr>
          <a:xfrm>
            <a:off x="1947672" y="5457139"/>
            <a:ext cx="1060704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方位型</a:t>
            </a:r>
          </a:p>
        </p:txBody>
      </p:sp>
      <p:sp>
        <p:nvSpPr>
          <p:cNvPr id="676" name="TextBox 675"/>
          <p:cNvSpPr txBox="1"/>
          <p:nvPr/>
        </p:nvSpPr>
        <p:spPr>
          <a:xfrm>
            <a:off x="3099815" y="5457139"/>
            <a:ext cx="786384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牺牲 22/46</a:t>
            </a:r>
          </a:p>
        </p:txBody>
      </p:sp>
      <p:sp>
        <p:nvSpPr>
          <p:cNvPr id="677" name="TextBox 676"/>
          <p:cNvSpPr txBox="1"/>
          <p:nvPr/>
        </p:nvSpPr>
        <p:spPr>
          <a:xfrm>
            <a:off x="3977639" y="5457139"/>
            <a:ext cx="438912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678" name="TextBox 677"/>
          <p:cNvSpPr txBox="1"/>
          <p:nvPr/>
        </p:nvSpPr>
        <p:spPr>
          <a:xfrm>
            <a:off x="4507992" y="5457139"/>
            <a:ext cx="365760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679" name="TextBox 678"/>
          <p:cNvSpPr txBox="1"/>
          <p:nvPr/>
        </p:nvSpPr>
        <p:spPr>
          <a:xfrm>
            <a:off x="4965192" y="5457139"/>
            <a:ext cx="365760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680" name="TextBox 679"/>
          <p:cNvSpPr txBox="1"/>
          <p:nvPr/>
        </p:nvSpPr>
        <p:spPr>
          <a:xfrm>
            <a:off x="5422392" y="5457139"/>
            <a:ext cx="420624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681" name="TextBox 680"/>
          <p:cNvSpPr txBox="1"/>
          <p:nvPr/>
        </p:nvSpPr>
        <p:spPr>
          <a:xfrm>
            <a:off x="5934455" y="5457139"/>
            <a:ext cx="438912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682" name="TextBox 681"/>
          <p:cNvSpPr txBox="1"/>
          <p:nvPr/>
        </p:nvSpPr>
        <p:spPr>
          <a:xfrm>
            <a:off x="6464807" y="5457139"/>
            <a:ext cx="868680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0/44</a:t>
            </a:r>
          </a:p>
        </p:txBody>
      </p:sp>
      <p:cxnSp>
        <p:nvCxnSpPr>
          <p:cNvPr id="683" name="Connector 682"/>
          <p:cNvCxnSpPr/>
          <p:nvPr/>
        </p:nvCxnSpPr>
        <p:spPr>
          <a:xfrm>
            <a:off x="384048" y="5457139"/>
            <a:ext cx="699516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4" name="Rectangle 683"/>
          <p:cNvSpPr/>
          <p:nvPr/>
        </p:nvSpPr>
        <p:spPr>
          <a:xfrm>
            <a:off x="384048" y="4096511"/>
            <a:ext cx="6995160" cy="1550822"/>
          </a:xfrm>
          <a:prstGeom prst="rect">
            <a:avLst/>
          </a:prstGeom>
          <a:noFill/>
          <a:ln w="762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85" name="Rounded Rectangle 684"/>
          <p:cNvSpPr/>
          <p:nvPr/>
        </p:nvSpPr>
        <p:spPr>
          <a:xfrm>
            <a:off x="7827264" y="3785615"/>
            <a:ext cx="4090111" cy="1883664"/>
          </a:xfrm>
          <a:prstGeom prst="roundRect">
            <a:avLst>
              <a:gd name="adj" fmla="val 1941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86" name="Rounded Rectangle 685"/>
          <p:cNvSpPr/>
          <p:nvPr/>
        </p:nvSpPr>
        <p:spPr>
          <a:xfrm>
            <a:off x="7827264" y="3785615"/>
            <a:ext cx="4090111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87" name="Rectangle 686"/>
          <p:cNvSpPr/>
          <p:nvPr/>
        </p:nvSpPr>
        <p:spPr>
          <a:xfrm>
            <a:off x="7827264" y="3785615"/>
            <a:ext cx="50292" cy="274320"/>
          </a:xfrm>
          <a:prstGeom prst="rect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88" name="TextBox 687"/>
          <p:cNvSpPr txBox="1"/>
          <p:nvPr/>
        </p:nvSpPr>
        <p:spPr>
          <a:xfrm>
            <a:off x="7973568" y="3813048"/>
            <a:ext cx="381579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③ 这四幅图该怎么读</a:t>
            </a:r>
          </a:p>
        </p:txBody>
      </p:sp>
      <p:sp>
        <p:nvSpPr>
          <p:cNvPr id="689" name="TextBox 688"/>
          <p:cNvSpPr txBox="1"/>
          <p:nvPr/>
        </p:nvSpPr>
        <p:spPr>
          <a:xfrm>
            <a:off x="7955280" y="4114800"/>
            <a:ext cx="3834079" cy="14996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840" b="1">
                <a:solidFill>
                  <a:srgbClr val="0B6BA8"/>
                </a:solidFill>
                <a:latin typeface="Microsoft YaHei"/>
              </a:rPr>
              <a:t>方位型 turn model 更均衡，但容错靠不住。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800" b="0">
                <a:solidFill>
                  <a:srgbClr val="5A6673"/>
                </a:solidFill>
                <a:latin typeface="Microsoft YaHei"/>
              </a:rPr>
              <a:t>禁令写死在方向上、与洞无关：残图一有洞就可能整片 (s,d) 断供 —— XY / west-first 零牺牲 0/44、neg-first 10/44；M3′ 的禁令按 ℓ 随残图重算，41/44（余 3 例残图本身断开）。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840" b="1">
                <a:solidFill>
                  <a:srgbClr val="C7000B"/>
                </a:solidFill>
                <a:latin typeface="Microsoft YaHei"/>
              </a:rPr>
              <a:t>M3′ 的代价不是绕远，是选路集中。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800" b="0">
                <a:solidFill>
                  <a:srgbClr val="5A6673"/>
                </a:solidFill>
                <a:latin typeface="Microsoft YaHei"/>
              </a:rPr>
              <a:t>无故障时 M3′ 与 XY 总跳数都是 10528、平均 4.67 跳（都走最短路）⇒ 不均衡纯粹来自「同一最短路集合里怎么挑」，换选路即可改善（第 5 页）。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00" b="1">
                <a:solidFill>
                  <a:srgbClr val="C87209"/>
                </a:solidFill>
                <a:latin typeface="Microsoft YaHei"/>
              </a:rPr>
              <a:t>坦白说：本场景重载 neg-first 5591 cy 快于 M3′+min-max 6392 cy，但它只在 10/44 场景可用。</a:t>
            </a:r>
          </a:p>
        </p:txBody>
      </p:sp>
      <p:sp>
        <p:nvSpPr>
          <p:cNvPr id="690" name="Rounded Rectangle 689"/>
          <p:cNvSpPr/>
          <p:nvPr/>
        </p:nvSpPr>
        <p:spPr>
          <a:xfrm>
            <a:off x="274320" y="5742432"/>
            <a:ext cx="11643055" cy="932688"/>
          </a:xfrm>
          <a:prstGeom prst="roundRect">
            <a:avLst>
              <a:gd name="adj" fmla="val 3921"/>
            </a:avLst>
          </a:prstGeom>
          <a:solidFill>
            <a:srgbClr val="F2F7F4"/>
          </a:solidFill>
          <a:ln w="11430">
            <a:solidFill>
              <a:srgbClr val="1E7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1" name="Rectangle 690"/>
          <p:cNvSpPr/>
          <p:nvPr/>
        </p:nvSpPr>
        <p:spPr>
          <a:xfrm>
            <a:off x="274320" y="5742432"/>
            <a:ext cx="50292" cy="932688"/>
          </a:xfrm>
          <a:prstGeom prst="rect">
            <a:avLst/>
          </a:prstGeom>
          <a:solidFill>
            <a:srgbClr val="1E7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2" name="TextBox 691"/>
          <p:cNvSpPr txBox="1"/>
          <p:nvPr/>
        </p:nvSpPr>
        <p:spPr>
          <a:xfrm>
            <a:off x="438912" y="5833872"/>
            <a:ext cx="5577840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20"/>
              </a:spcAft>
            </a:pPr>
            <a:r>
              <a:rPr sz="940" b="1">
                <a:solidFill>
                  <a:srgbClr val="1E7F4F"/>
                </a:solidFill>
                <a:latin typeface="Microsoft YaHei"/>
              </a:rPr>
              <a:t>定理 1 实测校核（44 场景 ≤4 router / ≤8 link）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19" b="0">
                <a:solidFill>
                  <a:srgbClr val="1F2933"/>
                </a:solidFill>
                <a:latin typeface="Microsoft YaHei"/>
              </a:rPr>
              <a:t>41 个残图连通的场景全部零牺牲、CDG 成环 0 例、反例 0 个；余下 3 个场景残图本身断开（分别孤立 1/2/1 个好节点），牺牲量等于信息论下界。同批场景 XY 零牺牲 0/44。</a:t>
            </a:r>
          </a:p>
        </p:txBody>
      </p:sp>
      <p:sp>
        <p:nvSpPr>
          <p:cNvPr id="693" name="TextBox 692"/>
          <p:cNvSpPr txBox="1"/>
          <p:nvPr/>
        </p:nvSpPr>
        <p:spPr>
          <a:xfrm>
            <a:off x="6217920" y="5833872"/>
            <a:ext cx="3017520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20"/>
              </a:spcAft>
            </a:pPr>
            <a:r>
              <a:rPr sz="940" b="1">
                <a:solidFill>
                  <a:srgbClr val="1E7F4F"/>
                </a:solidFill>
                <a:latin typeface="Microsoft YaHei"/>
              </a:rPr>
              <a:t>定理 2（极大性）＝ 没有更宽松的 turn model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19" b="0">
                <a:solidFill>
                  <a:srgbClr val="1F2933"/>
                </a:solidFill>
                <a:latin typeface="Microsoft YaHei"/>
              </a:rPr>
              <a:t>M3′ 允许 346/416 个转向，与 west-first / neg-first 同级；再放开任一条 down→up 即成环。</a:t>
            </a:r>
          </a:p>
        </p:txBody>
      </p:sp>
      <p:sp>
        <p:nvSpPr>
          <p:cNvPr id="694" name="TextBox 693"/>
          <p:cNvSpPr txBox="1"/>
          <p:nvPr/>
        </p:nvSpPr>
        <p:spPr>
          <a:xfrm>
            <a:off x="9418320" y="5833872"/>
            <a:ext cx="2361895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20"/>
              </a:spcAft>
            </a:pPr>
            <a:r>
              <a:rPr sz="940" b="1">
                <a:solidFill>
                  <a:srgbClr val="1E7F4F"/>
                </a:solidFill>
                <a:latin typeface="Microsoft YaHei"/>
              </a:rPr>
              <a:t>下一页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19" b="0">
                <a:solidFill>
                  <a:srgbClr val="1F2933"/>
                </a:solidFill>
                <a:latin typeface="Microsoft YaHei"/>
              </a:rPr>
              <a:t>符号（u/v/w、通道势能 Φ）见第 3 页，两条定理的逐步推导见第 4 页；min-max 算法与 1 VC 边界见第 5 页。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841248"/>
          </a:xfrm>
          <a:prstGeom prst="rect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91440"/>
            <a:ext cx="115214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符号与概念：G′ · r · ℓ(v) · 转向 (u→v→w) · 通道势能 Φ(c)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502920"/>
            <a:ext cx="11521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>
                <a:solidFill>
                  <a:srgbClr val="C3CBD4"/>
                </a:solidFill>
                <a:latin typeface="Microsoft YaHei"/>
              </a:rPr>
              <a:t>下一页两条定理只用到这五个记号；其中 (u→v→w) 就是「拐弯」，Φ(c) 是只为证明服务的编号，硬件里并不存在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914400"/>
            <a:ext cx="5669280" cy="2651760"/>
          </a:xfrm>
          <a:prstGeom prst="roundRect">
            <a:avLst>
              <a:gd name="adj" fmla="val 1379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4320" y="914400"/>
            <a:ext cx="5669280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14400"/>
            <a:ext cx="50292" cy="274320"/>
          </a:xfrm>
          <a:prstGeom prst="rect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3" y="941832"/>
            <a:ext cx="5394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① 五个记号（数字取自本例：8×6、2 洞 + 1 断链）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1243584"/>
            <a:ext cx="2615184" cy="2267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G=(V,E)　原始 8×6 mesh：|V|=48 个 router，|E|=82 条链路，即 164 条有向通道。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F　故障集：死 router ∪ 断链（本例 2 个 router + 1 条链路）。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780" b="1">
                <a:solidFill>
                  <a:srgbClr val="1F2933"/>
                </a:solidFill>
                <a:latin typeface="Microsoft YaHei"/>
              </a:rPr>
              <a:t>G′=(V′,E′)　残图 = 从 G 删掉 F 及其附属链路后剩下的图（本例 |V′|=46、|E′|=74）。所有推导都在 G′ 上进行。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780" b="1">
                <a:solidFill>
                  <a:srgbClr val="1F2933"/>
                </a:solidFill>
                <a:latin typeface="Microsoft YaHei"/>
              </a:rPr>
              <a:t>r ∈ V′　根：一个普通存活 router，被选作 BFS 源点。best-root 把 48 个候选全试一遍，取峰值最小者（本例 (7,5)）。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80" b="1">
                <a:solidFill>
                  <a:srgbClr val="1F2933"/>
                </a:solidFill>
                <a:latin typeface="Microsoft YaHei"/>
              </a:rPr>
              <a:t>ℓ(v)　高度：G′ 上 r 到 v 的 BFS 跳数，ℓ(r)=0（本例 0…12）。它只是个整数标号，不是坐标、也不是延迟。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0672" y="1243584"/>
            <a:ext cx="2688336" cy="1316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780" b="1">
                <a:solidFill>
                  <a:srgbClr val="1F2933"/>
                </a:solidFill>
                <a:latin typeface="Microsoft YaHei"/>
              </a:rPr>
              <a:t>u, v, w　残图里任意三个节点，v 与 u、w 都相邻。(u→v) 与 (v→w) 是两条首尾相接的有向通道，合起来就是「报文在 v 处拐的那个弯」，记作转向 (u→v→w)。8×6 残图上共 344 个转向。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up / down　给每条有向通道贴的标签：(u→v) 若 ℓ(v)=ℓ(u)−1 记 up（朝根），若 ℓ(v)=ℓ(u)+1 记 down（离根）。mesh 按 x+y 奇偶二分 ⇒ 相邻点 ℓ 必差 1，不存在 ℓ 相等的「横向」边。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511296" y="2945465"/>
            <a:ext cx="175564" cy="0"/>
          </a:xfrm>
          <a:prstGeom prst="line">
            <a:avLst/>
          </a:prstGeom>
          <a:ln w="19050">
            <a:solidFill>
              <a:srgbClr val="C8720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379622" y="2667487"/>
            <a:ext cx="43891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40" b="1">
                <a:solidFill>
                  <a:srgbClr val="C87209"/>
                </a:solidFill>
                <a:latin typeface="Microsoft YaHei"/>
              </a:rPr>
              <a:t>down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4052139" y="2783845"/>
            <a:ext cx="205788" cy="87324"/>
          </a:xfrm>
          <a:prstGeom prst="line">
            <a:avLst/>
          </a:prstGeom>
          <a:ln w="19050">
            <a:solidFill>
              <a:srgbClr val="1E7F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935577" y="2549530"/>
            <a:ext cx="43891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40" b="1">
                <a:solidFill>
                  <a:srgbClr val="1E7F4F"/>
                </a:solidFill>
                <a:latin typeface="Microsoft YaHei"/>
              </a:rPr>
              <a:t>up</a:t>
            </a:r>
          </a:p>
        </p:txBody>
      </p:sp>
      <p:sp>
        <p:nvSpPr>
          <p:cNvPr id="17" name="Oval 16"/>
          <p:cNvSpPr/>
          <p:nvPr/>
        </p:nvSpPr>
        <p:spPr>
          <a:xfrm>
            <a:off x="3174796" y="2799161"/>
            <a:ext cx="292608" cy="292608"/>
          </a:xfrm>
          <a:prstGeom prst="ellipse">
            <a:avLst/>
          </a:prstGeom>
          <a:solidFill>
            <a:srgbClr val="AFD0EA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74796" y="2848904"/>
            <a:ext cx="292608" cy="2048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u</a:t>
            </a:r>
          </a:p>
        </p:txBody>
      </p:sp>
      <p:sp>
        <p:nvSpPr>
          <p:cNvPr id="19" name="Oval 18"/>
          <p:cNvSpPr/>
          <p:nvPr/>
        </p:nvSpPr>
        <p:spPr>
          <a:xfrm>
            <a:off x="3730752" y="2799161"/>
            <a:ext cx="292608" cy="292608"/>
          </a:xfrm>
          <a:prstGeom prst="ellipse">
            <a:avLst/>
          </a:prstGeom>
          <a:solidFill>
            <a:srgbClr val="4E94CC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30752" y="2848904"/>
            <a:ext cx="292608" cy="2048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Microsoft YaHei"/>
              </a:rPr>
              <a:t>v</a:t>
            </a:r>
          </a:p>
        </p:txBody>
      </p:sp>
      <p:sp>
        <p:nvSpPr>
          <p:cNvPr id="21" name="Oval 20"/>
          <p:cNvSpPr/>
          <p:nvPr/>
        </p:nvSpPr>
        <p:spPr>
          <a:xfrm>
            <a:off x="4286707" y="2563246"/>
            <a:ext cx="292608" cy="292608"/>
          </a:xfrm>
          <a:prstGeom prst="ellipse">
            <a:avLst/>
          </a:prstGeom>
          <a:solidFill>
            <a:srgbClr val="AFD0EA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86707" y="2612989"/>
            <a:ext cx="292608" cy="2048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45536" y="3218688"/>
            <a:ext cx="1463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在 v 处的一个转向 (u→v→w)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2633472"/>
            <a:ext cx="1133856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20" b="0">
                <a:solidFill>
                  <a:srgbClr val="C7000B"/>
                </a:solidFill>
                <a:latin typeface="Microsoft YaHei"/>
              </a:rPr>
              <a:t>M3′ 的唯一禁令：(u→v)=down 且 (v→w)=up，即「下完又往上拐」。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71616" y="914400"/>
            <a:ext cx="5845759" cy="2651760"/>
          </a:xfrm>
          <a:prstGeom prst="roundRect">
            <a:avLst>
              <a:gd name="adj" fmla="val 1379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071616" y="914400"/>
            <a:ext cx="5845759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071616" y="914400"/>
            <a:ext cx="50292" cy="274320"/>
          </a:xfrm>
          <a:prstGeom prst="rect">
            <a:avLst/>
          </a:prstGeom>
          <a:solidFill>
            <a:srgbClr val="C872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0" y="941832"/>
            <a:ext cx="55714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② 「通道势能 Φ(c)」是什么、为什么需要它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99631" y="1243584"/>
            <a:ext cx="5589727" cy="2267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800" b="1">
                <a:solidFill>
                  <a:srgbClr val="C87209"/>
                </a:solidFill>
                <a:latin typeface="Microsoft YaHei"/>
              </a:rPr>
              <a:t>一句话　Φ 是给每一条有向通道（不是节点）人为编的一个「序号」，纯粹为证明服务：不进硬件、不占存储、运行时不存在。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800" b="0">
                <a:solidFill>
                  <a:srgbClr val="5A6673"/>
                </a:solidFill>
                <a:latin typeface="Microsoft YaHei"/>
              </a:rPr>
              <a:t>为什么需要　死锁 ⇔ 通道依赖图 CDG 里有环。要证明「无环」，最省事的办法是找一个沿依赖边单调变化的量：只要每一次合法衔接都让 Φ 严格变大，就永远回不到起点，环自然不存在 —— 相当于「只上不下的楼梯不可能绕回原地」（形式上即势能 / Lyapunov 函数）。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800" b="1">
                <a:solidFill>
                  <a:srgbClr val="1F2933"/>
                </a:solidFill>
                <a:latin typeface="Microsoft YaHei"/>
              </a:rPr>
              <a:t>M3′ 的取法　Φ(u→v) = (0, −ℓ(v)) 若该通道是 up；(1, +ℓ(v)) 若是 down。两位数按字典序比较：先比第一位，相同才比第二位。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800" b="0">
                <a:solidFill>
                  <a:srgbClr val="5A6673"/>
                </a:solidFill>
                <a:latin typeface="Microsoft YaHei"/>
              </a:rPr>
              <a:t>两位各管一件事　第一位是「阶段位」：0 = 还在上行，1 = 已转入下行 —— 它保证一旦下行就再不能上行。第二位是同阶段内的先后：上行段里 ℓ 越小越靠后（越接近根），下行段里 ℓ 越大越靠后（越远离根）。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00" b="0">
                <a:solidFill>
                  <a:srgbClr val="5A6673"/>
                </a:solidFill>
                <a:latin typeface="Microsoft YaHei"/>
              </a:rPr>
              <a:t>于是三种合法衔接都严格升 Φ：up→up 是 (0,−ℓ) → (0,−ℓ+1)，up→down 是 (0,·) → (1,·)，down→down 是 (1,ℓ) → (1,ℓ+1)；唯一被禁的 down→up 恰好是 (1,·) → (0,·)，即会让 Φ 变小的那一种。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4320" y="3675887"/>
            <a:ext cx="7680960" cy="2962656"/>
          </a:xfrm>
          <a:prstGeom prst="roundRect">
            <a:avLst>
              <a:gd name="adj" fmla="val 1234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274320" y="3675887"/>
            <a:ext cx="7680960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74320" y="3675887"/>
            <a:ext cx="50292" cy="274320"/>
          </a:xfrm>
          <a:prstGeom prst="rect">
            <a:avLst/>
          </a:prstGeom>
          <a:solidFill>
            <a:srgbClr val="1E7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0623" y="3703320"/>
            <a:ext cx="7406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③ 实例校核：从真实路由表里取 (0,0)→(3,4)，逐跳看 ℓ 与 Φ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571765" y="5861866"/>
            <a:ext cx="257907" cy="350919"/>
          </a:xfrm>
          <a:prstGeom prst="line">
            <a:avLst/>
          </a:prstGeom>
          <a:ln w="20320">
            <a:solidFill>
              <a:srgbClr val="1E7F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944744" y="5354374"/>
            <a:ext cx="257907" cy="350919"/>
          </a:xfrm>
          <a:prstGeom prst="line">
            <a:avLst/>
          </a:prstGeom>
          <a:ln w="20320">
            <a:solidFill>
              <a:srgbClr val="1E7F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317723" y="4846882"/>
            <a:ext cx="257907" cy="350919"/>
          </a:xfrm>
          <a:prstGeom prst="line">
            <a:avLst/>
          </a:prstGeom>
          <a:ln w="20320">
            <a:solidFill>
              <a:srgbClr val="1E7F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690702" y="4339390"/>
            <a:ext cx="257907" cy="350919"/>
          </a:xfrm>
          <a:prstGeom prst="line">
            <a:avLst/>
          </a:prstGeom>
          <a:ln w="20320">
            <a:solidFill>
              <a:srgbClr val="1E7F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063681" y="4339390"/>
            <a:ext cx="257907" cy="350919"/>
          </a:xfrm>
          <a:prstGeom prst="line">
            <a:avLst/>
          </a:prstGeom>
          <a:ln w="20320">
            <a:solidFill>
              <a:srgbClr val="C8720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436660" y="4846882"/>
            <a:ext cx="257907" cy="350919"/>
          </a:xfrm>
          <a:prstGeom prst="line">
            <a:avLst/>
          </a:prstGeom>
          <a:ln w="20320">
            <a:solidFill>
              <a:srgbClr val="C8720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809639" y="5354374"/>
            <a:ext cx="257907" cy="350919"/>
          </a:xfrm>
          <a:prstGeom prst="line">
            <a:avLst/>
          </a:prstGeom>
          <a:ln w="20320">
            <a:solidFill>
              <a:srgbClr val="C8720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436505" y="6213348"/>
            <a:ext cx="155448" cy="155448"/>
          </a:xfrm>
          <a:prstGeom prst="ellipse">
            <a:avLst/>
          </a:prstGeom>
          <a:solidFill>
            <a:srgbClr val="7FB4DE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36505" y="6239774"/>
            <a:ext cx="155448" cy="1088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43" name="Oval 42"/>
          <p:cNvSpPr/>
          <p:nvPr/>
        </p:nvSpPr>
        <p:spPr>
          <a:xfrm>
            <a:off x="809484" y="5705856"/>
            <a:ext cx="155448" cy="155448"/>
          </a:xfrm>
          <a:prstGeom prst="ellipse">
            <a:avLst/>
          </a:prstGeom>
          <a:solidFill>
            <a:srgbClr val="AFD0EA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9484" y="5732282"/>
            <a:ext cx="155448" cy="1088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45" name="Oval 44"/>
          <p:cNvSpPr/>
          <p:nvPr/>
        </p:nvSpPr>
        <p:spPr>
          <a:xfrm>
            <a:off x="1182463" y="5198364"/>
            <a:ext cx="155448" cy="155448"/>
          </a:xfrm>
          <a:prstGeom prst="ellipse">
            <a:avLst/>
          </a:prstGeom>
          <a:solidFill>
            <a:srgbClr val="AFD0EA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82463" y="5224790"/>
            <a:ext cx="155448" cy="1088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20" b="1">
                <a:solidFill>
                  <a:srgbClr val="1F2933"/>
                </a:solidFill>
                <a:latin typeface="Microsoft YaHei"/>
              </a:rPr>
              <a:t>3</a:t>
            </a:r>
          </a:p>
        </p:txBody>
      </p:sp>
      <p:sp>
        <p:nvSpPr>
          <p:cNvPr id="47" name="Oval 46"/>
          <p:cNvSpPr/>
          <p:nvPr/>
        </p:nvSpPr>
        <p:spPr>
          <a:xfrm>
            <a:off x="1555442" y="4690872"/>
            <a:ext cx="155448" cy="155448"/>
          </a:xfrm>
          <a:prstGeom prst="ellipse">
            <a:avLst/>
          </a:prstGeom>
          <a:solidFill>
            <a:srgbClr val="DCE7F5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555442" y="4717298"/>
            <a:ext cx="155448" cy="1088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20" b="1">
                <a:solidFill>
                  <a:srgbClr val="1F2933"/>
                </a:solidFill>
                <a:latin typeface="Microsoft YaHei"/>
              </a:rPr>
              <a:t>2</a:t>
            </a:r>
          </a:p>
        </p:txBody>
      </p:sp>
      <p:sp>
        <p:nvSpPr>
          <p:cNvPr id="49" name="Oval 48"/>
          <p:cNvSpPr/>
          <p:nvPr/>
        </p:nvSpPr>
        <p:spPr>
          <a:xfrm>
            <a:off x="1928421" y="4183380"/>
            <a:ext cx="155448" cy="155448"/>
          </a:xfrm>
          <a:prstGeom prst="ellipse">
            <a:avLst/>
          </a:prstGeom>
          <a:solidFill>
            <a:srgbClr val="DCE7F5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928421" y="4209806"/>
            <a:ext cx="155448" cy="1088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20" b="1">
                <a:solidFill>
                  <a:srgbClr val="1F2933"/>
                </a:solidFill>
                <a:latin typeface="Microsoft YaHei"/>
              </a:rPr>
              <a:t>1</a:t>
            </a:r>
          </a:p>
        </p:txBody>
      </p:sp>
      <p:sp>
        <p:nvSpPr>
          <p:cNvPr id="51" name="Oval 50"/>
          <p:cNvSpPr/>
          <p:nvPr/>
        </p:nvSpPr>
        <p:spPr>
          <a:xfrm>
            <a:off x="2301400" y="4690872"/>
            <a:ext cx="155448" cy="155448"/>
          </a:xfrm>
          <a:prstGeom prst="ellipse">
            <a:avLst/>
          </a:prstGeom>
          <a:solidFill>
            <a:srgbClr val="DCE7F5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301400" y="4717298"/>
            <a:ext cx="155448" cy="1088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20" b="1">
                <a:solidFill>
                  <a:srgbClr val="1F2933"/>
                </a:solidFill>
                <a:latin typeface="Microsoft YaHei"/>
              </a:rPr>
              <a:t>2</a:t>
            </a:r>
          </a:p>
        </p:txBody>
      </p:sp>
      <p:sp>
        <p:nvSpPr>
          <p:cNvPr id="53" name="Oval 52"/>
          <p:cNvSpPr/>
          <p:nvPr/>
        </p:nvSpPr>
        <p:spPr>
          <a:xfrm>
            <a:off x="2674379" y="5198364"/>
            <a:ext cx="155448" cy="155448"/>
          </a:xfrm>
          <a:prstGeom prst="ellipse">
            <a:avLst/>
          </a:prstGeom>
          <a:solidFill>
            <a:srgbClr val="AFD0EA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674379" y="5224790"/>
            <a:ext cx="155448" cy="1088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20" b="1">
                <a:solidFill>
                  <a:srgbClr val="1F2933"/>
                </a:solidFill>
                <a:latin typeface="Microsoft YaHei"/>
              </a:rPr>
              <a:t>3</a:t>
            </a:r>
          </a:p>
        </p:txBody>
      </p:sp>
      <p:sp>
        <p:nvSpPr>
          <p:cNvPr id="55" name="Oval 54"/>
          <p:cNvSpPr/>
          <p:nvPr/>
        </p:nvSpPr>
        <p:spPr>
          <a:xfrm>
            <a:off x="3047358" y="5705856"/>
            <a:ext cx="155448" cy="155448"/>
          </a:xfrm>
          <a:prstGeom prst="ellipse">
            <a:avLst/>
          </a:prstGeom>
          <a:solidFill>
            <a:srgbClr val="AFD0EA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047358" y="5732282"/>
            <a:ext cx="155448" cy="1088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02336" y="6327648"/>
            <a:ext cx="1417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E7F4F"/>
                </a:solidFill>
                <a:latin typeface="Microsoft YaHei"/>
              </a:rPr>
              <a:t>↑ up：ℓ−1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819656" y="6327648"/>
            <a:ext cx="1417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C87209"/>
                </a:solidFill>
                <a:latin typeface="Microsoft YaHei"/>
              </a:rPr>
              <a:t>↓ down：ℓ+1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401568" y="4041648"/>
            <a:ext cx="4389120" cy="219456"/>
          </a:xfrm>
          <a:prstGeom prst="rect">
            <a:avLst/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438144" y="4041648"/>
            <a:ext cx="85953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通道 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370832" y="4041648"/>
            <a:ext cx="42062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c1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64608" y="4041648"/>
            <a:ext cx="42062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c2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358384" y="4041648"/>
            <a:ext cx="42062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c3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852160" y="4041648"/>
            <a:ext cx="42062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c4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45936" y="4041648"/>
            <a:ext cx="42062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c5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39712" y="4041648"/>
            <a:ext cx="42062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c6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333488" y="4041648"/>
            <a:ext cx="42062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c7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01568" y="4261104"/>
            <a:ext cx="4389120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447288" y="4261104"/>
            <a:ext cx="84124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ℓ：u→v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379976" y="4261104"/>
            <a:ext cx="402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5→4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873752" y="4261104"/>
            <a:ext cx="402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4→3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67528" y="4261104"/>
            <a:ext cx="402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3→2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861304" y="4261104"/>
            <a:ext cx="402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2→1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55080" y="4261104"/>
            <a:ext cx="402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1→2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848856" y="4261104"/>
            <a:ext cx="402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2→3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342632" y="4261104"/>
            <a:ext cx="402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3→4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3401568" y="4261104"/>
            <a:ext cx="438912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ectangle 77"/>
          <p:cNvSpPr/>
          <p:nvPr/>
        </p:nvSpPr>
        <p:spPr>
          <a:xfrm>
            <a:off x="3401568" y="4498848"/>
            <a:ext cx="4389120" cy="237744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447288" y="4498848"/>
            <a:ext cx="84124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类型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379976" y="4498848"/>
            <a:ext cx="402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up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873752" y="4498848"/>
            <a:ext cx="402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up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367528" y="4498848"/>
            <a:ext cx="402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up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861304" y="4498848"/>
            <a:ext cx="402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up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355080" y="4498848"/>
            <a:ext cx="402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down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48856" y="4498848"/>
            <a:ext cx="402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down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342632" y="4498848"/>
            <a:ext cx="402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down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3401568" y="4498848"/>
            <a:ext cx="438912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Rectangle 87"/>
          <p:cNvSpPr/>
          <p:nvPr/>
        </p:nvSpPr>
        <p:spPr>
          <a:xfrm>
            <a:off x="3401568" y="4736592"/>
            <a:ext cx="4389120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447288" y="4736592"/>
            <a:ext cx="84124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Φ(c) 第一位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379976" y="4736592"/>
            <a:ext cx="402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73752" y="4736592"/>
            <a:ext cx="402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367528" y="4736592"/>
            <a:ext cx="402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861304" y="4736592"/>
            <a:ext cx="402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55080" y="4736592"/>
            <a:ext cx="402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848856" y="4736592"/>
            <a:ext cx="402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342632" y="4736592"/>
            <a:ext cx="402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1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3401568" y="4736592"/>
            <a:ext cx="438912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Rectangle 97"/>
          <p:cNvSpPr/>
          <p:nvPr/>
        </p:nvSpPr>
        <p:spPr>
          <a:xfrm>
            <a:off x="3401568" y="4974336"/>
            <a:ext cx="4389120" cy="237744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3447288" y="4974336"/>
            <a:ext cx="84124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Φ(c) 第二位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379976" y="4974336"/>
            <a:ext cx="402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-4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873752" y="4974336"/>
            <a:ext cx="402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-3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367528" y="4974336"/>
            <a:ext cx="402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-2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861304" y="4974336"/>
            <a:ext cx="402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-1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355080" y="4974336"/>
            <a:ext cx="402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+2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848856" y="4974336"/>
            <a:ext cx="402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+3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342632" y="4974336"/>
            <a:ext cx="402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+4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3401568" y="4974336"/>
            <a:ext cx="438912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ectangle 107"/>
          <p:cNvSpPr/>
          <p:nvPr/>
        </p:nvSpPr>
        <p:spPr>
          <a:xfrm>
            <a:off x="3401568" y="4041648"/>
            <a:ext cx="4389120" cy="1170431"/>
          </a:xfrm>
          <a:prstGeom prst="rect">
            <a:avLst/>
          </a:prstGeom>
          <a:noFill/>
          <a:ln w="762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3401568" y="5321807"/>
            <a:ext cx="4462272" cy="1207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8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路径：(0,0) → (0,1) → (0,2) → (0,3) → (0,4) → (1,4) → (2,4) → (3,4)（7 跳）；ℓ 序列 5→4→3→2→1→2→3→4。</a:t>
            </a:r>
          </a:p>
          <a:p>
            <a:pPr algn="l">
              <a:lnSpc>
                <a:spcPct val="118000"/>
              </a:lnSpc>
              <a:spcAft>
                <a:spcPts val="180"/>
              </a:spcAft>
            </a:pPr>
            <a:r>
              <a:rPr sz="740" b="1">
                <a:solidFill>
                  <a:srgbClr val="1E7F4F"/>
                </a:solidFill>
                <a:latin typeface="Microsoft YaHei"/>
              </a:rPr>
              <a:t>Φ 按字典序严格递增（代码里的断言 strict=True）：(0,-4) &lt; (0,-3) &lt; (0,-2) &lt; (0,-1) &lt; …，一路只升不降 ⇒ 这条路径不可能参与任何依赖环。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注意转折点在 ℓ=1，并没有爬到根（ℓ=0）：up*·down* 只要求「先升后降」，并不要求经过根。定理 1 第 2 步里那条「爬到根再下来」的路径只是用来证明「存在解」，实际选路会取更短的那条。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8083296" y="3675887"/>
            <a:ext cx="3834079" cy="2962656"/>
          </a:xfrm>
          <a:prstGeom prst="roundRect">
            <a:avLst>
              <a:gd name="adj" fmla="val 1234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1" name="Rounded Rectangle 110"/>
          <p:cNvSpPr/>
          <p:nvPr/>
        </p:nvSpPr>
        <p:spPr>
          <a:xfrm>
            <a:off x="8083296" y="3675887"/>
            <a:ext cx="3834079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8083296" y="3675887"/>
            <a:ext cx="50292" cy="274320"/>
          </a:xfrm>
          <a:prstGeom prst="rect">
            <a:avLst/>
          </a:prstGeom>
          <a:solidFill>
            <a:srgbClr val="5A66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229600" y="3703320"/>
            <a:ext cx="355975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④ 读这些符号时的两个坑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211312" y="4005072"/>
            <a:ext cx="3578047" cy="2578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819" b="1">
                <a:solidFill>
                  <a:srgbClr val="1F2933"/>
                </a:solidFill>
                <a:latin typeface="Microsoft YaHei"/>
              </a:rPr>
              <a:t>坑 1：ℓ 是无权跳数，不是线延迟。</a:t>
            </a:r>
          </a:p>
          <a:p>
            <a:pPr algn="l">
              <a:lnSpc>
                <a:spcPct val="118000"/>
              </a:lnSpc>
              <a:spcAft>
                <a:spcPts val="24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本项目实际链路延迟横向 H=7 cy、纵向 V=9 cy，两者并不相等；但 ℓ 只承担「定序、保证 CDG 无环」的职责，用跳数即可。线延迟只影响端到端时间，不影响两条定理是否成立。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819" b="1">
                <a:solidFill>
                  <a:srgbClr val="1F2933"/>
                </a:solidFill>
                <a:latin typeface="Microsoft YaHei"/>
              </a:rPr>
              <a:t>坑 2：Φ 不是任何物理量。</a:t>
            </a:r>
          </a:p>
          <a:p>
            <a:pPr algn="l">
              <a:lnSpc>
                <a:spcPct val="118000"/>
              </a:lnSpc>
              <a:spcAft>
                <a:spcPts val="24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它不是缓冲占用、也不是优先级，硬件里查不到这个字段。它只是证明用的排序函数：换一组同样单调的 Φ，结论完全一样。真正落到硬件里的只有一张静态转向许可表 + 一张 (s,d)→出端口表，1 个 VC。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0B6BA8"/>
                </a:solidFill>
                <a:latin typeface="Microsoft YaHei"/>
              </a:rPr>
              <a:t>代码对应：ℓ = _updown_labels，路径 = _tree_path，无环复验 = build_cdg + cdg_acyclic，Φ 单调性由本页实例断言。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841248"/>
          </a:xfrm>
          <a:prstGeom prst="rect">
            <a:avLst/>
          </a:prstGeom>
          <a:solidFill>
            <a:srgbClr val="1E7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91440"/>
            <a:ext cx="115214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定理 1 / 定理 2 的逐步推导：零牺牲 · 无死锁 · 转向集已极大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502920"/>
            <a:ext cx="11521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>
                <a:solidFill>
                  <a:srgbClr val="C3CBD4"/>
                </a:solidFill>
                <a:latin typeface="Microsoft YaHei"/>
              </a:rPr>
              <a:t>定理 1 = 只要残图连通，表一定建得出且 1 VC 无死锁；定理 2 = 转向集是极大无环集，等价于「不存在比 M3′ 更宽松的 turn model」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914400"/>
            <a:ext cx="5669280" cy="3035808"/>
          </a:xfrm>
          <a:prstGeom prst="roundRect">
            <a:avLst>
              <a:gd name="adj" fmla="val 1204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4320" y="914400"/>
            <a:ext cx="5669280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14400"/>
            <a:ext cx="50292" cy="274320"/>
          </a:xfrm>
          <a:prstGeom prst="rect">
            <a:avLst/>
          </a:prstGeom>
          <a:solidFill>
            <a:srgbClr val="1E7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3" y="941832"/>
            <a:ext cx="5394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① 定理 1：残图连通 ⇒ 零牺牲 + 无死锁 + 保序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1243584"/>
            <a:ext cx="5449824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80"/>
              </a:spcAft>
            </a:pPr>
            <a:r>
              <a:rPr sz="780" b="1">
                <a:solidFill>
                  <a:srgbClr val="1E7F4F"/>
                </a:solidFill>
                <a:latin typeface="Microsoft YaHei"/>
              </a:rPr>
              <a:t>陈述　对任意故障集 F：G′ 连通 ⇔ 存在覆盖全部 (s,d) 的合法路由表且牺牲集 S=∅。（⇐ 方向显然：残图断开时跨分量物理不可达，任何路由都做不到；以下证 ⇒。）</a:t>
            </a:r>
          </a:p>
          <a:p>
            <a:pPr algn="l">
              <a:lnSpc>
                <a:spcPct val="118000"/>
              </a:lnSpc>
              <a:spcAft>
                <a:spcPts val="180"/>
              </a:spcAft>
            </a:pPr>
            <a:r>
              <a:rPr sz="770" b="0">
                <a:solidFill>
                  <a:srgbClr val="5A6673"/>
                </a:solidFill>
                <a:latin typeface="Microsoft YaHei"/>
              </a:rPr>
              <a:t>第 1 步 · ℓ 存在　G′ 连通 ⇒ 从任一 r 出发的 BFS 能到达全部节点，ℓ(v)=dist(r,v) 有限；且每个 v≠r 至少有一个邻居 u 满足 ℓ(u)=ℓ(v)−1，称为 v 的父节点。</a:t>
            </a:r>
          </a:p>
          <a:p>
            <a:pPr algn="l">
              <a:lnSpc>
                <a:spcPct val="118000"/>
              </a:lnSpc>
              <a:spcAft>
                <a:spcPts val="180"/>
              </a:spcAft>
            </a:pPr>
            <a:r>
              <a:rPr sz="770" b="0">
                <a:solidFill>
                  <a:srgbClr val="5A6673"/>
                </a:solidFill>
                <a:latin typeface="Microsoft YaHei"/>
              </a:rPr>
              <a:t>第 2 步 · 每对都有合法路径　对任意 (s,d)：从 s 沿父链上行到 r（全是 up），再沿 d 的父链下行到 d（全是 down），拼成 up*·down*，长度 ≤ ℓ(s)+ℓ(d) 且不含 down→up ⇒ 表必然建得出、S=∅。</a:t>
            </a:r>
          </a:p>
          <a:p>
            <a:pPr algn="l">
              <a:lnSpc>
                <a:spcPct val="118000"/>
              </a:lnSpc>
              <a:spcAft>
                <a:spcPts val="180"/>
              </a:spcAft>
            </a:pPr>
            <a:r>
              <a:rPr sz="770" b="0">
                <a:solidFill>
                  <a:srgbClr val="5A6673"/>
                </a:solidFill>
                <a:latin typeface="Microsoft YaHei"/>
              </a:rPr>
              <a:t>第 3 步 · 无死锁　路径里只可能出现 up→up、up→down、down→down 三种衔接，而它们都严格升 Φ（第 3 页 ②）。CDG 的每条边都升 Φ，而 Φ 取值在有限集合里 ⇒ CDG 无环 ⇒ 按 Dally–Seitz，1 个 VC 就无死锁。</a:t>
            </a:r>
          </a:p>
          <a:p>
            <a:pPr algn="l">
              <a:lnSpc>
                <a:spcPct val="118000"/>
              </a:lnSpc>
              <a:spcAft>
                <a:spcPts val="180"/>
              </a:spcAft>
            </a:pPr>
            <a:r>
              <a:rPr sz="770" b="0">
                <a:solidFill>
                  <a:srgbClr val="5A6673"/>
                </a:solidFill>
                <a:latin typeface="Microsoft YaHei"/>
              </a:rPr>
              <a:t>第 4 步 · 保序　每对 (s,d) 只有一条静态路径，单 VC 不存在换道，每跳先进先出 ⇒ 同一包的 flit 不会乱序，无需重排序缓冲。</a:t>
            </a:r>
          </a:p>
          <a:p>
            <a:pPr algn="l">
              <a:lnSpc>
                <a:spcPct val="118000"/>
              </a:lnSpc>
              <a:spcAft>
                <a:spcPts val="180"/>
              </a:spcAft>
            </a:pPr>
            <a:r>
              <a:rPr sz="770" b="0">
                <a:solidFill>
                  <a:srgbClr val="5A6673"/>
                </a:solidFill>
                <a:latin typeface="Microsoft YaHei"/>
              </a:rPr>
              <a:t>第 5 步 · 与根无关　第 1–4 步对任意 r∈V′ 都成立 ⇒ 48 个候选根的表全都合法；best-root 只是在合法解里挑峰值最小的那个，不影响容错。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70" b="1">
                <a:solidFill>
                  <a:srgbClr val="1E7F4F"/>
                </a:solidFill>
                <a:latin typeface="Microsoft YaHei"/>
              </a:rPr>
              <a:t>实测校核　44 个预算场景（≤4 死 router / ≤8 断链）：牺牲 0、CDG 成环 0、反例 0；仅 3 例残图本身断开，牺牲量等于信息论下界。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71616" y="914400"/>
            <a:ext cx="5845759" cy="3035808"/>
          </a:xfrm>
          <a:prstGeom prst="roundRect">
            <a:avLst>
              <a:gd name="adj" fmla="val 1204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71616" y="914400"/>
            <a:ext cx="5845759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71616" y="914400"/>
            <a:ext cx="50292" cy="2743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941832"/>
            <a:ext cx="55714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② 定理 2：转向集极大 —— 再放开任一条即成环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99631" y="1243584"/>
            <a:ext cx="5589727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80" b="1">
                <a:solidFill>
                  <a:srgbClr val="C7000B"/>
                </a:solidFill>
                <a:latin typeface="Microsoft YaHei"/>
              </a:rPr>
              <a:t>陈述　T_UD = 全部 up→up / up→down / down→down 转向。任取一条不在 T_UD 里的转向 t（必然是某个 down→up），则 T_UD ∪ {t} 的 CDG 一定含环。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1883664"/>
            <a:ext cx="1005840" cy="237744"/>
          </a:xfrm>
          <a:prstGeom prst="rect">
            <a:avLst/>
          </a:prstGeom>
          <a:solidFill>
            <a:srgbClr val="FDFDFE"/>
          </a:solidFill>
          <a:ln w="10160">
            <a:solidFill>
              <a:srgbClr val="1E7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1920240"/>
            <a:ext cx="1005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E7F4F"/>
                </a:solidFill>
                <a:latin typeface="Microsoft YaHei"/>
              </a:rPr>
              <a:t>(v→w) up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0" y="1883664"/>
            <a:ext cx="1005840" cy="237744"/>
          </a:xfrm>
          <a:prstGeom prst="rect">
            <a:avLst/>
          </a:prstGeom>
          <a:solidFill>
            <a:srgbClr val="FDFDFE"/>
          </a:solidFill>
          <a:ln w="10160">
            <a:solidFill>
              <a:srgbClr val="1E7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0" y="1920240"/>
            <a:ext cx="1005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E7F4F"/>
                </a:solidFill>
                <a:latin typeface="Microsoft YaHei"/>
              </a:rPr>
              <a:t>(·→r) up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98080" y="2651760"/>
            <a:ext cx="1005840" cy="237744"/>
          </a:xfrm>
          <a:prstGeom prst="rect">
            <a:avLst/>
          </a:prstGeom>
          <a:solidFill>
            <a:srgbClr val="FDFDFE"/>
          </a:solidFill>
          <a:ln w="10160">
            <a:solidFill>
              <a:srgbClr val="C872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0" y="2688336"/>
            <a:ext cx="1005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C87209"/>
                </a:solidFill>
                <a:latin typeface="Microsoft YaHei"/>
              </a:rPr>
              <a:t>(r→·) down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2651760"/>
            <a:ext cx="1005840" cy="237744"/>
          </a:xfrm>
          <a:prstGeom prst="rect">
            <a:avLst/>
          </a:prstGeom>
          <a:solidFill>
            <a:srgbClr val="FDFDFE"/>
          </a:solidFill>
          <a:ln w="10160">
            <a:solidFill>
              <a:srgbClr val="C872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17920" y="2688336"/>
            <a:ext cx="1005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C87209"/>
                </a:solidFill>
                <a:latin typeface="Microsoft YaHei"/>
              </a:rPr>
              <a:t>(u→v) down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251192" y="2002536"/>
            <a:ext cx="219456" cy="0"/>
          </a:xfrm>
          <a:prstGeom prst="line">
            <a:avLst/>
          </a:prstGeom>
          <a:ln w="15240">
            <a:solidFill>
              <a:srgbClr val="5A66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001000" y="2148840"/>
            <a:ext cx="0" cy="475488"/>
          </a:xfrm>
          <a:prstGeom prst="line">
            <a:avLst/>
          </a:prstGeom>
          <a:ln w="15240">
            <a:solidFill>
              <a:srgbClr val="5A66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7251192" y="2770632"/>
            <a:ext cx="219456" cy="0"/>
          </a:xfrm>
          <a:prstGeom prst="line">
            <a:avLst/>
          </a:prstGeom>
          <a:ln w="15240">
            <a:solidFill>
              <a:srgbClr val="5A66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6720840" y="2148840"/>
            <a:ext cx="0" cy="475488"/>
          </a:xfrm>
          <a:prstGeom prst="line">
            <a:avLst/>
          </a:prstGeom>
          <a:ln w="20320">
            <a:solidFill>
              <a:srgbClr val="C7000B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296912" y="1819656"/>
            <a:ext cx="1828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5A6673"/>
                </a:solidFill>
                <a:latin typeface="Microsoft YaHei"/>
              </a:rPr>
              <a:t>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28432" y="2270272"/>
            <a:ext cx="1828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5A6673"/>
                </a:solidFill>
                <a:latin typeface="Microsoft YaHei"/>
              </a:rPr>
              <a:t>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96912" y="2788920"/>
            <a:ext cx="1828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5A6673"/>
                </a:solidFill>
                <a:latin typeface="Microsoft YaHei"/>
              </a:rPr>
              <a:t>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37959" y="2270272"/>
            <a:ext cx="1828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C7000B"/>
                </a:solidFill>
                <a:latin typeface="Microsoft YaHei"/>
              </a:rPr>
              <a:t>④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907792"/>
            <a:ext cx="22860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C7000B"/>
                </a:solidFill>
                <a:latin typeface="Microsoft YaHei"/>
              </a:rPr>
              <a:t>④ 一放开 ⇒ 闭环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31936" y="1828800"/>
            <a:ext cx="3157423" cy="1316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60"/>
              </a:spcAft>
            </a:pPr>
            <a:r>
              <a:rPr sz="760" b="0">
                <a:solidFill>
                  <a:srgbClr val="1F2933"/>
                </a:solidFill>
                <a:latin typeface="Microsoft YaHei"/>
              </a:rPr>
              <a:t>设 t 把通道 (u→v)（down）接到 (v→w)（up）。构造环只需四段，前三段全部用 T_UD 里的合法衔接：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750" b="0">
                <a:solidFill>
                  <a:srgbClr val="5A6673"/>
                </a:solidFill>
                <a:latin typeface="Microsoft YaHei"/>
              </a:rPr>
              <a:t>① 从 (v→w) 出发继续沿父链上行，ℓ 每跳 −1，有限步必达根（ℓ=0），沿途衔接全是 up→up。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750" b="0">
                <a:solidFill>
                  <a:srgbClr val="5A6673"/>
                </a:solidFill>
                <a:latin typeface="Microsoft YaHei"/>
              </a:rPr>
              <a:t>② 在根处拐头：一次 up→down 衔接，合法。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750" b="0">
                <a:solidFill>
                  <a:srgbClr val="5A6673"/>
                </a:solidFill>
                <a:latin typeface="Microsoft YaHei"/>
              </a:rPr>
              <a:t>③ 沿 u 的父链下行到 u，衔接全是 down→down，于是到达 (u→v)。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50" b="1">
                <a:solidFill>
                  <a:srgbClr val="C7000B"/>
                </a:solidFill>
                <a:latin typeface="Microsoft YaHei"/>
              </a:rPr>
              <a:t>④ 最后用新放开的 t，从 (u→v) 接回 (v→w) —— 回到起点，环闭合（证毕）。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99631" y="3401568"/>
            <a:ext cx="5589727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60"/>
              </a:spcAft>
            </a:pPr>
            <a:r>
              <a:rPr sz="760" b="0">
                <a:solidFill>
                  <a:srgbClr val="5A6673"/>
                </a:solidFill>
                <a:latin typeface="Microsoft YaHei"/>
              </a:rPr>
              <a:t>要点　这一步只用到「r 到任何点都有父链」，也就是定理 1 第 1 步的同一个事实 ⇒ 只要残图连通，禁令就一条都不能少。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60" b="1">
                <a:solidFill>
                  <a:srgbClr val="C7000B"/>
                </a:solidFill>
                <a:latin typeface="Microsoft YaHei"/>
              </a:rPr>
              <a:t>实测　48 个候选根 × 共 3360 条被禁转向，逐条放开后重建 CDG 检测：可安全加入 0 条。极大性对每个根都成立。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74320" y="4059936"/>
            <a:ext cx="7223760" cy="2578608"/>
          </a:xfrm>
          <a:prstGeom prst="roundRect">
            <a:avLst>
              <a:gd name="adj" fmla="val 1418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74320" y="4059936"/>
            <a:ext cx="7223760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74320" y="4059936"/>
            <a:ext cx="50292" cy="274320"/>
          </a:xfrm>
          <a:prstGeom prst="rect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0623" y="4087368"/>
            <a:ext cx="69494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③ 映射到 turn model 语境：M3′ = 禁令按 ℓ 定义的 turn model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02336" y="4407408"/>
            <a:ext cx="3429000" cy="2157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840" b="1">
                <a:solidFill>
                  <a:srgbClr val="0B6BA8"/>
                </a:solidFill>
                <a:latin typeface="Microsoft YaHei"/>
              </a:rPr>
              <a:t>同一件事，两种写法。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XY / west-first / negative-first 把禁令写成「(入方向, 出方向)」的方位对，例如 XY 禁 N→E、N→W、S→E、S→W。M3′ 先按 ℓ 给每条链路贴 up/down 标签，再禁掉一整类衔接 down→up。两者最终都落成同一种东西：一张静态转向许可表，硬件实现、面积、VC 数完全一样（查表 + 1 VC）。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840" b="1">
                <a:solidFill>
                  <a:srgbClr val="0B6BA8"/>
                </a:solidFill>
                <a:latin typeface="Microsoft YaHei"/>
              </a:rPr>
              <a:t>宽松程度也在同一量级（8×6 共 416 个转向）。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XY 允许 276（66%）、west-first 346、negative-first 346、M3′ 346（83%）—— M3′ 与最灵活的 Glass–Ni 类模型同级，并不比它们「保守」。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014216" y="4407408"/>
            <a:ext cx="3355848" cy="2157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840" b="1">
                <a:solidFill>
                  <a:srgbClr val="C7000B"/>
                </a:solidFill>
                <a:latin typeface="Microsoft YaHei"/>
              </a:rPr>
              <a:t>定理 2 的 turn-model 版本：不存在更宽松的 turn model。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在这张残图上，M3′ 的转向集已经是极大无环集：再放开任何一条被禁转向，CDG 立刻成环（上面 ② 的构造对每条禁令都适用）。所以「找一个转向集严格包含 M3′ 的 turn model」是不可能的 —— 唯一的自由度是把同样多的禁令挪到别处，这正是第 5 页 L4「禁令换位」在搜的东西。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840" b="1">
                <a:solidFill>
                  <a:srgbClr val="C87209"/>
                </a:solidFill>
                <a:latin typeface="Microsoft YaHei"/>
              </a:rPr>
              <a:t>差别不在宽松度，而在禁令「放在哪」。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方位型禁令写死在方向上，与洞的位置无关：残图一有洞，某些 (s,d) 就整片断供 —— 44 场景里 XY / west-first 零牺牲 0 次、negative-first 只 10 次。ℓ 型禁令随残图重新生成，因此「连通即可达」（41/44）。这就是 M3′ 用同样多的禁令换来容错的原因。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626096" y="4059936"/>
            <a:ext cx="4291279" cy="2578608"/>
          </a:xfrm>
          <a:prstGeom prst="roundRect">
            <a:avLst>
              <a:gd name="adj" fmla="val 1418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7626096" y="4059936"/>
            <a:ext cx="4291279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626096" y="4059936"/>
            <a:ext cx="50292" cy="274320"/>
          </a:xfrm>
          <a:prstGeom prst="rect">
            <a:avLst/>
          </a:prstGeom>
          <a:solidFill>
            <a:srgbClr val="5A66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0" y="4087368"/>
            <a:ext cx="401695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④ 两个容易读错的结论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54112" y="4407408"/>
            <a:ext cx="4035247" cy="2157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819" b="1">
                <a:solidFill>
                  <a:srgbClr val="1F2933"/>
                </a:solidFill>
                <a:latin typeface="Microsoft YaHei"/>
              </a:rPr>
              <a:t>① 极大 ≠ 最大（maximal ≠ maximum）。</a:t>
            </a:r>
          </a:p>
          <a:p>
            <a:pPr algn="l">
              <a:lnSpc>
                <a:spcPct val="118000"/>
              </a:lnSpc>
              <a:spcAft>
                <a:spcPts val="22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定理 2 只说「不能再单独加一条」，并不说 M3′ 是所有无环转向集里最大的那个。随机贪心能生成大量别的极大集，大小 319–327 条不等（M3′ 是 346 条）。这些集合就是第 5 页 L4 的搜索空间：总量相当、位置不同。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819" b="1">
                <a:solidFill>
                  <a:srgbClr val="1F2933"/>
                </a:solidFill>
                <a:latin typeface="Microsoft YaHei"/>
              </a:rPr>
              <a:t>② 零牺牲 ≠ 零性能损失。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定理 1 只保证「连通即可达」，负载均衡完全不在结论里：M3′ 会把流挤到通往根的主干走廊上，峰值可达 1.93× 割界（第 2 页热点图）。改善它要靠同一转向集内换选路（第 5 页 L3 min-max），而不是改禁令。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841248"/>
          </a:xfrm>
          <a:prstGeom prst="rect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91440"/>
            <a:ext cx="115214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</a:rPr>
              <a:t>M3′ 有超集吗？—— 转向不能再放宽，但选路可以：1 VC 的可行边界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502920"/>
            <a:ext cx="11521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>
                <a:solidFill>
                  <a:srgbClr val="C3CBD4"/>
                </a:solidFill>
                <a:latin typeface="Microsoft YaHei"/>
              </a:rPr>
              <a:t>① 转向不能再放宽（定理 2，第 4 页 ③）；② 同一转向集内 min-max 选路是唯一「免费」的超集：峰值 1.41×→1.16× 割界；③ 禁令换位更均衡却更慢 ⇒ 不推荐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932688"/>
            <a:ext cx="11643055" cy="2212848"/>
          </a:xfrm>
          <a:prstGeom prst="roundRect">
            <a:avLst>
              <a:gd name="adj" fmla="val 1652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4320" y="932688"/>
            <a:ext cx="11643055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32688"/>
            <a:ext cx="50292" cy="274320"/>
          </a:xfrm>
          <a:prstGeom prst="rect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3" y="960120"/>
            <a:ext cx="11368735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① 五层设计空间，硬件同为物理 1 VC，自由参数逐层增加（mk = all-to-all DES makespan, cy）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" y="1243584"/>
            <a:ext cx="11155680" cy="237744"/>
          </a:xfrm>
          <a:prstGeom prst="rect">
            <a:avLst/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" y="1243584"/>
            <a:ext cx="197510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20" b="1">
                <a:solidFill>
                  <a:srgbClr val="1F2933"/>
                </a:solidFill>
                <a:latin typeface="Microsoft YaHei"/>
              </a:rPr>
              <a:t>层次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87168" y="1243584"/>
            <a:ext cx="149961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20" b="1">
                <a:solidFill>
                  <a:srgbClr val="1F2933"/>
                </a:solidFill>
                <a:latin typeface="Microsoft YaHei"/>
              </a:rPr>
              <a:t>自由参数（搜索空间）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9936" y="1243584"/>
            <a:ext cx="78638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20" b="1">
                <a:solidFill>
                  <a:srgbClr val="1F2933"/>
                </a:solidFill>
                <a:latin typeface="Microsoft YaHei"/>
              </a:rPr>
              <a:t>无故障 ÷割界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19472" y="1243584"/>
            <a:ext cx="65836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20" b="1">
                <a:solidFill>
                  <a:srgbClr val="1F2933"/>
                </a:solidFill>
                <a:latin typeface="Microsoft YaHei"/>
              </a:rPr>
              <a:t>mk m=1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50992" y="1243584"/>
            <a:ext cx="713232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20" b="1">
                <a:solidFill>
                  <a:srgbClr val="1F2933"/>
                </a:solidFill>
                <a:latin typeface="Microsoft YaHei"/>
              </a:rPr>
              <a:t>mk m=13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7376" y="1243584"/>
            <a:ext cx="93268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20" b="1">
                <a:solidFill>
                  <a:srgbClr val="1F2933"/>
                </a:solidFill>
                <a:latin typeface="Microsoft YaHei"/>
              </a:rPr>
              <a:t>2洞1断链 ÷割界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43215" y="1243584"/>
            <a:ext cx="74980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20" b="1">
                <a:solidFill>
                  <a:srgbClr val="1F2933"/>
                </a:solidFill>
                <a:latin typeface="Microsoft YaHei"/>
              </a:rPr>
              <a:t>mk m=1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6175" y="1243584"/>
            <a:ext cx="84124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20" b="1">
                <a:solidFill>
                  <a:srgbClr val="1F2933"/>
                </a:solidFill>
                <a:latin typeface="Microsoft YaHei"/>
              </a:rPr>
              <a:t>有洞可用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0576" y="1243584"/>
            <a:ext cx="234086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20" b="1">
                <a:solidFill>
                  <a:srgbClr val="1F2933"/>
                </a:solidFill>
                <a:latin typeface="Microsoft YaHei"/>
              </a:rPr>
              <a:t>结论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36" y="1481328"/>
            <a:ext cx="1115568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056" y="1481328"/>
            <a:ext cx="1956816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L0  方位型 turn model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96312" y="1481328"/>
            <a:ext cx="1481328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无：禁令写死在方向上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69080" y="1481328"/>
            <a:ext cx="768096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1.00×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28616" y="1481328"/>
            <a:ext cx="64008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188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0136" y="1481328"/>
            <a:ext cx="694944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2179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1481328"/>
            <a:ext cx="91440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不可路由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52360" y="1481328"/>
            <a:ext cx="73152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1481328"/>
            <a:ext cx="82296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0/44（neg-first 10）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9720" y="1481328"/>
            <a:ext cx="2322576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最均衡也最快，但残图上要牺牲好节点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02336" y="1481328"/>
            <a:ext cx="1115568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402336" y="1696212"/>
            <a:ext cx="11155680" cy="214884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8056" y="1696212"/>
            <a:ext cx="1956816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L1  M3 Up*/Down*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96312" y="1696212"/>
            <a:ext cx="1481328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根 = 度最大点（1 个）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69080" y="1696212"/>
            <a:ext cx="768096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2.33×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28616" y="1696212"/>
            <a:ext cx="64008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348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0136" y="1696212"/>
            <a:ext cx="694944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5303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46520" y="1696212"/>
            <a:ext cx="91440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2.43×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52360" y="1696212"/>
            <a:ext cx="73152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435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20" y="1696212"/>
            <a:ext cx="82296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41/44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89720" y="1696212"/>
            <a:ext cx="2322576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容错满分，最不均衡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02336" y="1696212"/>
            <a:ext cx="1115568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402336" y="1911095"/>
            <a:ext cx="1115568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48056" y="1911095"/>
            <a:ext cx="1956816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L2  M3′ best-root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96312" y="1911095"/>
            <a:ext cx="1481328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根（48 个候选）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69080" y="1911095"/>
            <a:ext cx="768096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1.41×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28616" y="1911095"/>
            <a:ext cx="64008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233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0136" y="1911095"/>
            <a:ext cx="694944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4579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46520" y="1911095"/>
            <a:ext cx="91440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1.93×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52360" y="1911095"/>
            <a:ext cx="73152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370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75320" y="1911095"/>
            <a:ext cx="82296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41/44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89720" y="1911095"/>
            <a:ext cx="2322576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现方案，容错满分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402336" y="1911095"/>
            <a:ext cx="1115568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402336" y="2125979"/>
            <a:ext cx="11155680" cy="214884"/>
          </a:xfrm>
          <a:prstGeom prst="rect">
            <a:avLst/>
          </a:prstGeom>
          <a:solidFill>
            <a:srgbClr val="FF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02336" y="2125979"/>
            <a:ext cx="32004" cy="214884"/>
          </a:xfrm>
          <a:prstGeom prst="rect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48056" y="2125979"/>
            <a:ext cx="1956816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L3  L2 + min-max 选路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496312" y="2125979"/>
            <a:ext cx="1481328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路径：∏(s,d) 合法路径数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69080" y="2125979"/>
            <a:ext cx="768096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1.16×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928616" y="2125979"/>
            <a:ext cx="64008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233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60136" y="2125979"/>
            <a:ext cx="694944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4561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46520" y="2125979"/>
            <a:ext cx="91440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1.45×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452360" y="2125979"/>
            <a:ext cx="73152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293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75320" y="2125979"/>
            <a:ext cx="82296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41/44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89720" y="2125979"/>
            <a:ext cx="2322576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✔ 免费，证明一字不改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402336" y="2125979"/>
            <a:ext cx="1115568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ectangle 65"/>
          <p:cNvSpPr/>
          <p:nvPr/>
        </p:nvSpPr>
        <p:spPr>
          <a:xfrm>
            <a:off x="402336" y="2340863"/>
            <a:ext cx="1115568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48056" y="2340863"/>
            <a:ext cx="1956816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L4  L3 + 禁令换位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496312" y="2340863"/>
            <a:ext cx="1481328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禁令位置（70 条）：极大无环集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069080" y="2340863"/>
            <a:ext cx="768096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1.05×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928616" y="2340863"/>
            <a:ext cx="64008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245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660136" y="2340863"/>
            <a:ext cx="694944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6392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446520" y="2340863"/>
            <a:ext cx="91440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1.45×（无改进）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452360" y="2340863"/>
            <a:ext cx="73152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320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75320" y="2340863"/>
            <a:ext cx="82296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41/44（兜底）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189720" y="2340863"/>
            <a:ext cx="2322576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✘ 峰值更低，端到端反而更慢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402336" y="2340863"/>
            <a:ext cx="1115568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ectangle 76"/>
          <p:cNvSpPr/>
          <p:nvPr/>
        </p:nvSpPr>
        <p:spPr>
          <a:xfrm>
            <a:off x="402336" y="2555747"/>
            <a:ext cx="11155680" cy="214884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48056" y="2555747"/>
            <a:ext cx="1956816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割界（任何路由的下界）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496312" y="2555747"/>
            <a:ext cx="1481328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069080" y="2555747"/>
            <a:ext cx="768096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1.00×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928616" y="2555747"/>
            <a:ext cx="64008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60136" y="2555747"/>
            <a:ext cx="694944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446520" y="2555747"/>
            <a:ext cx="91440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1.00×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452360" y="2555747"/>
            <a:ext cx="73152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75320" y="2555747"/>
            <a:ext cx="82296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189720" y="2555747"/>
            <a:ext cx="2322576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XY 达到，但不容错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402336" y="2555747"/>
            <a:ext cx="1115568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Rectangle 87"/>
          <p:cNvSpPr/>
          <p:nvPr/>
        </p:nvSpPr>
        <p:spPr>
          <a:xfrm>
            <a:off x="402336" y="1243584"/>
            <a:ext cx="11155680" cy="1527047"/>
          </a:xfrm>
          <a:prstGeom prst="rect">
            <a:avLst/>
          </a:prstGeom>
          <a:noFill/>
          <a:ln w="762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274320" y="3255264"/>
            <a:ext cx="5760720" cy="2212848"/>
          </a:xfrm>
          <a:prstGeom prst="roundRect">
            <a:avLst>
              <a:gd name="adj" fmla="val 1652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274320" y="3255264"/>
            <a:ext cx="5760720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274320" y="3255264"/>
            <a:ext cx="50292" cy="274320"/>
          </a:xfrm>
          <a:prstGeom prst="rect">
            <a:avLst/>
          </a:prstGeom>
          <a:solidFill>
            <a:srgbClr val="1E7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420623" y="3282696"/>
            <a:ext cx="5486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② L3 min-max 选路：算法步骤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02336" y="3584448"/>
            <a:ext cx="5504688" cy="1810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60"/>
              </a:spcAft>
            </a:pPr>
            <a:r>
              <a:rPr sz="770" b="1">
                <a:solidFill>
                  <a:srgbClr val="1E7F4F"/>
                </a:solidFill>
                <a:latin typeface="Microsoft YaHei"/>
              </a:rPr>
              <a:t>输入：M3′ 的转向许可表 T（禁 down→up）+ M3′ 原路由表。输出：同一个 T 内的另一组路径 —— 禁令、VC 数、表规模都不动。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760" b="0">
                <a:solidFill>
                  <a:srgbClr val="5A6673"/>
                </a:solidFill>
                <a:latin typeface="Microsoft YaHei"/>
              </a:rPr>
              <a:t>① 统计负载　对每条有向链路 e 记 load(e) = 当前经过它的 (s,d) 对数。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760" b="0">
                <a:solidFill>
                  <a:srgbClr val="5A6673"/>
                </a:solidFill>
                <a:latin typeface="Microsoft YaHei"/>
              </a:rPr>
              <a:t>② 拆（rip-up）　按固定顺序取一对 (s,d)，把它现有路径上每条链路的 load 减 1，相当于先把这条流从网络里抽走。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760" b="0">
                <a:solidFill>
                  <a:srgbClr val="5A6673"/>
                </a:solidFill>
                <a:latin typeface="Microsoft YaHei"/>
              </a:rPr>
              <a:t>③ 重路由（re-route）　在 T 内跑 Dijkstra 重新给它选路，链路代价 c(e) = (load(e)+1)³；只允许 T 许可的衔接，因此绝不会产生 down→up。选出的新路径再把 load 加回去。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760" b="0">
                <a:solidFill>
                  <a:srgbClr val="5A6673"/>
                </a:solidFill>
                <a:latin typeface="Microsoft YaHei"/>
              </a:rPr>
              <a:t>④ 为什么用三次方　凸代价让「再往热链路塞一条流」的边际成本远高于绕到冷链路，于是流自动摊开 —— 这就是 min-max 的来源。若指数取 1，只会最小化总跳数，起不到均衡作用。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760" b="0">
                <a:solidFill>
                  <a:srgbClr val="5A6673"/>
                </a:solidFill>
                <a:latin typeface="Microsoft YaHei"/>
              </a:rPr>
              <a:t>⑤ 迭代到收敛　全部 2256 对流过一遍算一轮，共 6 轮；峰值不再下降即停，离线约 1 s。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760" b="0">
                <a:solidFill>
                  <a:srgbClr val="5A6673"/>
                </a:solidFill>
                <a:latin typeface="Microsoft YaHei"/>
              </a:rPr>
              <a:t>⑥ 复验后才交付　全对可达 + CDG 无环 + 每对唯一路径（保序）+ 牺牲仍为 0；任一项不过就整体回退到 M3′ 原表（兜底）。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60" b="1">
                <a:solidFill>
                  <a:srgbClr val="1E7F4F"/>
                </a:solidFill>
                <a:latin typeface="Microsoft YaHei"/>
              </a:rPr>
              <a:t>收益：峰值 135→111（无故障）、204→154（残图）；残图轻载 makespan 370→293 cy。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6163055" y="3255264"/>
            <a:ext cx="5754319" cy="2212848"/>
          </a:xfrm>
          <a:prstGeom prst="roundRect">
            <a:avLst>
              <a:gd name="adj" fmla="val 1652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6163055" y="3255264"/>
            <a:ext cx="5754319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6163055" y="3255264"/>
            <a:ext cx="50292" cy="2743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309359" y="3282696"/>
            <a:ext cx="547999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③ L4「禁令换位」：做法、结果、为什么不推荐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291071" y="3584448"/>
            <a:ext cx="5498287" cy="1810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800" b="1">
                <a:solidFill>
                  <a:srgbClr val="1F2933"/>
                </a:solidFill>
                <a:latin typeface="Microsoft YaHei"/>
              </a:rPr>
              <a:t>禁令换位是什么　禁令总数不变，只把它们挪个位置：</a:t>
            </a:r>
          </a:p>
          <a:p>
            <a:pPr algn="l">
              <a:lnSpc>
                <a:spcPct val="118000"/>
              </a:lnSpc>
              <a:spcAft>
                <a:spcPts val="160"/>
              </a:spcAft>
            </a:pPr>
            <a:r>
              <a:rPr sz="770" b="0">
                <a:solidFill>
                  <a:srgbClr val="5A6673"/>
                </a:solidFill>
                <a:latin typeface="Microsoft YaHei"/>
              </a:rPr>
              <a:t>① 找出当前最热的那条链路；② 在与它相关的被禁转向里挑一条放开；③ 放开必然成环（第 4 页 ②），就在这个环上挑一条「被路径用得最少」的转向改判为禁令，把环重新打断；④ 重验全对可达 + CDG 无环，峰值下降就保留、否则回退。如此反复若干轮。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800" b="1">
                <a:solidFill>
                  <a:srgbClr val="C7000B"/>
                </a:solidFill>
                <a:latin typeface="Microsoft YaHei"/>
              </a:rPr>
              <a:t>结果：更均衡，但更慢。</a:t>
            </a:r>
          </a:p>
          <a:p>
            <a:pPr algn="l">
              <a:lnSpc>
                <a:spcPct val="118000"/>
              </a:lnSpc>
              <a:spcAft>
                <a:spcPts val="160"/>
              </a:spcAft>
            </a:pPr>
            <a:r>
              <a:rPr sz="770" b="0">
                <a:solidFill>
                  <a:srgbClr val="5A6673"/>
                </a:solidFill>
                <a:latin typeface="Microsoft YaHei"/>
              </a:rPr>
              <a:t>无故障峰值 111→101（1.05× 割界，几乎贴住理论下界），可是 all-to-all 重载 makespan 从 4561 涨到 6392 cy（+40%）；残图上峰值一点没降（154→154）。</a:t>
            </a:r>
          </a:p>
          <a:p>
            <a:pPr algn="l">
              <a:lnSpc>
                <a:spcPct val="118000"/>
              </a:lnSpc>
              <a:spcAft>
                <a:spcPts val="160"/>
              </a:spcAft>
            </a:pPr>
            <a:r>
              <a:rPr sz="770" b="0">
                <a:solidFill>
                  <a:srgbClr val="5A6673"/>
                </a:solidFill>
                <a:latin typeface="Microsoft YaHei"/>
              </a:rPr>
              <a:t>原因（一句话）　1 个 VC 意味着每个输入口只有一个共享队列：转向越自由，不同流在同一个队列里交织越多，队头阻塞（HOL）比链路负载更决定速度。west-first 峰值 98（1.02× 割界）却要 5858 cy，是同一现象。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800" b="1">
                <a:solidFill>
                  <a:srgbClr val="C87209"/>
                </a:solidFill>
                <a:latin typeface="Microsoft YaHei"/>
              </a:rPr>
              <a:t>所以真正该看的是这两个指标：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70" b="0">
                <a:solidFill>
                  <a:srgbClr val="1F2933"/>
                </a:solidFill>
                <a:latin typeface="Microsoft YaHei"/>
              </a:rPr>
              <a:t>① 牺牲了几个计算节点 —— 少牺牲就是多算力，每节点分到的活更少，端到端任务完成更快；② 实测 makespan。峰值只能当诊断量：最均衡的 XY 型放法恰恰在残图上不可路由、必须牺牲好节点。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274320" y="5577840"/>
            <a:ext cx="6729984" cy="1060704"/>
          </a:xfrm>
          <a:prstGeom prst="roundRect">
            <a:avLst>
              <a:gd name="adj" fmla="val 3448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274320" y="5577840"/>
            <a:ext cx="6729984" cy="256032"/>
          </a:xfrm>
          <a:prstGeom prst="roundRect">
            <a:avLst>
              <a:gd name="adj" fmla="val 14285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274320" y="5577840"/>
            <a:ext cx="50292" cy="256032"/>
          </a:xfrm>
          <a:prstGeom prst="rect">
            <a:avLst/>
          </a:prstGeom>
          <a:solidFill>
            <a:srgbClr val="1E7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20623" y="5605272"/>
            <a:ext cx="645566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⑤ 结论与落地建议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02336" y="5870448"/>
            <a:ext cx="6492240" cy="7132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819" b="0">
                <a:solidFill>
                  <a:srgbClr val="1F2933"/>
                </a:solidFill>
                <a:latin typeface="Microsoft YaHei"/>
              </a:rPr>
              <a:t>① 上 L3（M3′ + min-max 选路）：零硬件改动、表规模不变、离线 1 s，峰值 −18%、故障场景轻载 −21%，三条证明一字不改 —— 没有理由不做。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819" b="0">
                <a:solidFill>
                  <a:srgbClr val="1F2933"/>
                </a:solidFill>
                <a:latin typeface="Microsoft YaHei"/>
              </a:rPr>
              <a:t>② 不上 L4：峰值虽再降 9% 到 1.05× 割界（已接近 XY），但重载 makespan 反而 +40%，且每个故障图都要重跑数分钟离线搜索 —— 收益为负。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19" b="0">
                <a:solidFill>
                  <a:srgbClr val="1F2933"/>
                </a:solidFill>
                <a:latin typeface="Microsoft YaHei"/>
              </a:rPr>
              <a:t>③ 想再提升重载吞吐，1 VC 已到边界：只能加 VC（LASH / Dual-UD）或时间分批（BB UD policy）。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7132320" y="5577840"/>
            <a:ext cx="4785055" cy="1060704"/>
          </a:xfrm>
          <a:prstGeom prst="roundRect">
            <a:avLst>
              <a:gd name="adj" fmla="val 3448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7132320" y="5577840"/>
            <a:ext cx="4785055" cy="256032"/>
          </a:xfrm>
          <a:prstGeom prst="roundRect">
            <a:avLst>
              <a:gd name="adj" fmla="val 14285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7132320" y="5577840"/>
            <a:ext cx="50292" cy="256032"/>
          </a:xfrm>
          <a:prstGeom prst="rect">
            <a:avLst/>
          </a:prstGeom>
          <a:solidFill>
            <a:srgbClr val="5A66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7278624" y="5605272"/>
            <a:ext cx="4510735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⑥ 出处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260336" y="5870448"/>
            <a:ext cx="4529023" cy="7132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800" b="0">
                <a:solidFill>
                  <a:srgbClr val="5A6673"/>
                </a:solidFill>
                <a:latin typeface="Microsoft YaHei"/>
              </a:rPr>
              <a:t>Up*/Down* 原始出处：Schroeder 等，Autonet，IEEE JSAC 9(8), 1991。无环 CDG 判据：Dally &amp; Seitz，IEEE TC C-36(5), 1987。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00" b="0">
                <a:solidFill>
                  <a:srgbClr val="5A6673"/>
                </a:solidFill>
                <a:latin typeface="Microsoft YaHei"/>
              </a:rPr>
              <a:t>「禁令放哪」的系统性方法：Mejía 等，Segment-based Routing，IPDPS 2006；Starobinski 等，Turn Prohibition，IEEE/ACM ToN 11(3), 2003；DFS 建树的 up*/down*：Sancho 等，Euro-Par 2000。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