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M3′ + min-max 的实现：流程、路由表怎么配、硬件与软件代价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离线 3.7 s 生成表 → 复位写入 1.7 KB → 运行时零软件；硬件只多 293 bit/router 的可写表（每节点存储的 2.3%）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1481328"/>
          </a:xfrm>
          <a:prstGeom prst="roundRect">
            <a:avLst>
              <a:gd name="adj" fmla="val 246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56032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离线流程：每张故障图跑一次，产物是一张静态表（括号内为实测耗时）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5A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6" y="1207008"/>
            <a:ext cx="1524827" cy="201168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① 采集故障图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自检 / BIST 给出死 router 与断链清单。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5A6673"/>
                </a:solidFill>
                <a:latin typeface="Microsoft YaHei"/>
              </a:rPr>
              <a:t>输入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46035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46035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2611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② 建残图 G′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899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删掉故障点及其链路，查连通性。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899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定理 1（第 5 页）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36307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89734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89734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6310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③ 选根 best-root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4598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48 个存活 router 逐个当根建表，取峰值最小者。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598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3.5 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580006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3334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33433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70009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④ 标高度 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8297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从根 BFS 得 ℓ(v)，同时给每端口标 up/down。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8297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&lt;0.1 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237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9771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77133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13709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⑤ min-max 重选路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997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按目的地拆-重路由，代价 (load+1)³。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997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0.1 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674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620832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20832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7408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⑥ 三项复验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75696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可达 · 无环 · 唯一路径，不过就回退。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75696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&lt;0.1 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511104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0264531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64531" y="1207008"/>
            <a:ext cx="1524827" cy="201168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01107" y="1225296"/>
            <a:ext cx="14516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⑦ 编表 + 写入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9395" y="1463040"/>
            <a:ext cx="141509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 router 288 bit，复位时经 CSR 写入。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19395" y="2103120"/>
            <a:ext cx="14150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1.7 KB / 全片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154803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74320" y="2468880"/>
            <a:ext cx="6675120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74320" y="2468880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246888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3" y="2496312"/>
            <a:ext cx="6400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up/down 机制怎么落到路由表里（出端口 = 表[目的 d][相位 φ]）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" y="2761488"/>
            <a:ext cx="3383280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键只有两项：目的地 d + 1 bit 相位 φ。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φ = 「是否已经走过一条 down 通道」。注入时 φ=0；入端口是 down 就置 1（每端口一个 up/down 标记位，随表一起写）⇒ φ 不必进包头，本地就能算。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禁令 down→up 就是一条填表约束：φ=1 的行只允许填 down 端口。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硬件因此不需要转向检查逻辑，也不需要知道 ℓ —— 合法性由离线工具一次性保证。表里「—」= 该键不可能出现，填什么都不影响。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表规模：48 目的 × 2 相位 × 3 bit = 288 bit = 36 B/router，全片 1.7 KB。实测只有 15 个键两相位不同 ⇒ 也可退化成 144 bit 主表 + 15 条例外。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77056" y="2761488"/>
            <a:ext cx="2980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真实表片段：router (4,3)，ℓ=5，端口 W=down / E=up / N=up；S 口因 (4,2) 死而禁用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77056" y="3108960"/>
            <a:ext cx="2871216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13632" y="3108960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目的 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0016" y="3108960"/>
            <a:ext cx="4389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ℓ(d)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3108960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φ=0 出端口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98464" y="3108960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φ=1 出端口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77056" y="3310128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2776" y="3310128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3310128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1224" y="3310128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07608" y="3310128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877056" y="3310128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77056" y="3483864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22776" y="3483864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(2,3)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09160" y="3483864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21224" y="3483864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07608" y="3483864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877056" y="3483864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877056" y="3657600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22776" y="3657600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(6,0)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09160" y="3657600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21224" y="3657600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07608" y="3657600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877056" y="3657600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877056" y="3831336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3831336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(0,5)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9160" y="3831336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21224" y="3831336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07608" y="3831336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877056" y="3831336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3877056" y="4005072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22776" y="4005072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(7,5)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09160" y="4005072"/>
            <a:ext cx="42062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21224" y="4005072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07608" y="4005072"/>
            <a:ext cx="694944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877056" y="4005072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877056" y="3108960"/>
            <a:ext cx="2871216" cy="1069848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77056" y="4297680"/>
            <a:ext cx="29809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C87209"/>
                </a:solidFill>
                <a:latin typeface="Microsoft YaHei"/>
              </a:rPr>
              <a:t>注：逐对 min-max 有 194 个键冲突（同一节点到同一目的要两个出端口），根本装不进按目的地的表；改成「按目的地树」重选路后 0 冲突。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077455" y="2468880"/>
            <a:ext cx="4839919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077455" y="2468880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077455" y="2468880"/>
            <a:ext cx="50292" cy="256032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223759" y="2496312"/>
            <a:ext cx="456559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硬件代价（新增部分，同为 1 VC）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87183" y="2761488"/>
            <a:ext cx="4645152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23759" y="2761488"/>
            <a:ext cx="11704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模块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67343" y="2761488"/>
            <a:ext cx="1408176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baseline（分组交换 mesh）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48672" y="2761488"/>
            <a:ext cx="106070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M3′+min-max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82528" y="2761488"/>
            <a:ext cx="71323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增量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87183" y="2962656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232903" y="2962656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路由计算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76488" y="2962656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XY 比较器（组合）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57816" y="2962656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96 项 × 3 bit 查表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91672" y="2962656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+288 bit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187183" y="2962656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7187183" y="3147364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232903" y="3147364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端口 up/down 标记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476488" y="3147364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57816" y="3147364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每端口 1 bit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91672" y="3147364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+5 bit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87183" y="3147364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187183" y="3332073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232903" y="3332073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相位 φ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76488" y="3332073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957816" y="3332073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入端口本地推出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91672" y="3332073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187183" y="3332073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7187183" y="3516782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232903" y="3516782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VC 数 / 输入缓冲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76488" y="3516782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 VC × 20 flit × 128 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57816" y="3516782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完全不变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091672" y="3516782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7187183" y="3516782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7187183" y="3701491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232903" y="3701491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credit / 仲裁 / 开关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476488" y="3701491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iSLIP + credit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57816" y="3701491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完全不变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091672" y="3701491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7187183" y="3701491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7187183" y="3886200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232903" y="3886200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重排序缓冲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476488" y="3886200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957816" y="3886200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091672" y="3886200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7187183" y="3886200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/>
          <p:cNvSpPr/>
          <p:nvPr/>
        </p:nvSpPr>
        <p:spPr>
          <a:xfrm>
            <a:off x="7187183" y="4070908"/>
            <a:ext cx="4645152" cy="184708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187183" y="4070908"/>
            <a:ext cx="32004" cy="18470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232903" y="4070908"/>
            <a:ext cx="11521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合计（每节点）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76488" y="4070908"/>
            <a:ext cx="1389888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12845 bit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957816" y="4070908"/>
            <a:ext cx="1042415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+293 bit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091672" y="4070908"/>
            <a:ext cx="694944" cy="184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+2.3%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187183" y="4070908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7187183" y="2761488"/>
            <a:ext cx="4645152" cy="1494129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87183" y="4279392"/>
            <a:ext cx="462046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按本项目 bit 等价口径（ROM/SRAM 位 = 0.15 触发器位）≈ 0.34%；配置通路复用已有 CSR / JTAG，无新增。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4320" y="4645152"/>
            <a:ext cx="6675120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74320" y="4645152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74320" y="4645152"/>
            <a:ext cx="50292" cy="256032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20623" y="4672584"/>
            <a:ext cx="6400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软件代价：离线一次性，运行时为零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02336" y="4937760"/>
            <a:ext cx="3191256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离线（每张故障图一次，单核 Python 实测）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枚举 48 个根建表 3.5 s → 按目的地 min-max 重选路 0.1 s → 三项复验 &lt;0.1 s，合计约 3.7 s。产物：1.7 KB 表镜像 + 每 router 5 bit 端口掩码。C 实现可到毫秒级。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上线与运行时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复位后由管理核经 CSR 写一遍表，之后运行时软件参与 = 0：无 barrier、无同步、无自适应决策。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739896" y="4937760"/>
            <a:ext cx="3154679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与 BB 类方案的对比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BB 每批都要一次软件 barrier，同步开销 T_sync ≈ 2·radius_wire（本设计百余 cy/批）且要求全局时钟对齐；M3′ 全静态，这一项为 0。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什么时候要重跑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只在故障图变化时：上电自检、现场降级事件。常见故障模式可预生成镜像直接选用。镜像里再带一份 M3′ 原表（+18 B/router）作兜底：复验任一项不过就用它。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077455" y="4645152"/>
            <a:ext cx="4839919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7077455" y="4645152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7077455" y="4645152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223759" y="4672584"/>
            <a:ext cx="456559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论证：这样配表，三条性质与均衡都还在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4937760"/>
            <a:ext cx="4602175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可达 / 零牺牲　定理 1（第 5 页）给出「残图连通 ⇒ 存在 up*·down*」；按目的地建表是在 (节点, 相位) 状态图上跑 Dijkstra，可达性与定理 1 同源 —— 实测 46/46 个好节点全对可达、牺牲 0。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无死锁　「φ=1 行只填 down」⇔ 禁 down→up ⇒ CDG 无环（实测 acyclic=True），1 个 VC 即可。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保序　表是 (d,φ) 的函数 ⇒ 每对唯一路径；单 VC 不换道 + 每跳 FIFO ⇒ 不需要重排序缓冲。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均衡　峰值 204→154（残图，与逐对 min-max 同值）、135→116（无故障）；总跳数只多 4.9%。残图重载 makespan 5751 cy，反而优于逐对 min-max 的 6392 cy —— 可实现的那一版并没有更差。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vs 方位型 turn model：同一残图的负载热点（同为 1 VC）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44 场景零牺牲：XY 0、west-first 0、neg-first 10、M3′ 41　·　M3′ 的代价：峰值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链路负载热点（1 VC）：后三幅同一 partial good，46 个好节点全参与、牺牲 0；各按自身割界归一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参照：west-first（无故障）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113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278">
            <a:solidFill>
              <a:srgbClr val="BD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93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270">
            <a:solidFill>
              <a:srgbClr val="B6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8262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19751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19916">
            <a:solidFill>
              <a:srgbClr val="B1C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081">
            <a:solidFill>
              <a:srgbClr val="B3CA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1900">
            <a:solidFill>
              <a:srgbClr val="C4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562">
            <a:solidFill>
              <a:srgbClr val="CBC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727">
            <a:solidFill>
              <a:srgbClr val="CCCC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200">
            <a:solidFill>
              <a:srgbClr val="EECF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方位型里最均衡：峰值 98 = 1.02× 割界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但残图上不可路由：零牺牲 0/44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negative-first，同一残图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2256">
            <a:solidFill>
              <a:srgbClr val="DA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2705">
            <a:solidFill>
              <a:srgbClr val="D7E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7498">
            <a:solidFill>
              <a:srgbClr val="B4C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18397">
            <a:solidFill>
              <a:srgbClr val="AE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4237">
            <a:solidFill>
              <a:srgbClr val="DBC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24387">
            <a:solidFill>
              <a:srgbClr val="DCC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5286">
            <a:solidFill>
              <a:srgbClr val="E5C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5735">
            <a:solidFill>
              <a:srgbClr val="E9CE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6484">
            <a:solidFill>
              <a:srgbClr val="F0C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6933">
            <a:solidFill>
              <a:srgbClr val="F2CC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8281">
            <a:solidFill>
              <a:srgbClr val="EFBF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9629">
            <a:solidFill>
              <a:srgbClr val="EDB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31726">
            <a:solidFill>
              <a:srgbClr val="E99C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32025">
            <a:solidFill>
              <a:srgbClr val="E999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34122">
            <a:solidFill>
              <a:srgbClr val="E584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5543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78043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543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78043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48044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80544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3044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10543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43043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75542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45543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8043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48044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80544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13044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45543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78043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1054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43043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75542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45543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78043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方位型里唯一扛住本场景的，零牺牲 10/44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160 = 1.51× 割界 106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(7,5)；零牺牲 41/44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割界（走廊拥塞）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同一转向集内换路径，容错不变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(1,4)–(2,4)，★ = 根。XY 与 west-first 在这张残图上无法覆盖全部 (s,d)，只能牺牲好节点，故无图。M3′ 最热 10 条链路的 ℓ 落在 2–7（其中 8 条在 ℓ=3–6，ℓ 最大 12）：拥塞不在根的邻边，而在洞左侧那条通往根的主干走廊上。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785615"/>
            <a:ext cx="7406640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3" name="Rounded Rectangle 592"/>
          <p:cNvSpPr/>
          <p:nvPr/>
        </p:nvSpPr>
        <p:spPr>
          <a:xfrm>
            <a:off x="274320" y="3785615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74320" y="3785615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420623" y="3813048"/>
            <a:ext cx="7132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同为 1 VC 的 turn model 横向对比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096511"/>
            <a:ext cx="699516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420623" y="4096511"/>
            <a:ext cx="144475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方案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938528" y="4096511"/>
            <a:ext cx="10789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禁令怎么定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3090672" y="4096511"/>
            <a:ext cx="8046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968496" y="4096511"/>
            <a:ext cx="45719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峰值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498848" y="4096511"/>
            <a:ext cx="38404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956048" y="4096511"/>
            <a:ext cx="38404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413248" y="4096511"/>
            <a:ext cx="43891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5925312" y="4096511"/>
            <a:ext cx="45719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mk13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55664" y="4096511"/>
            <a:ext cx="88696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84048" y="431596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7" name="TextBox 606"/>
          <p:cNvSpPr txBox="1"/>
          <p:nvPr/>
        </p:nvSpPr>
        <p:spPr>
          <a:xfrm>
            <a:off x="429768" y="431596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47672" y="431596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N→E/W、S→E/W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099815" y="431596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977639" y="431596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507992" y="431596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965192" y="431596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422392" y="431596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5934455" y="431596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6464807" y="431596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6" name="Connector 615"/>
          <p:cNvCxnSpPr/>
          <p:nvPr/>
        </p:nvCxnSpPr>
        <p:spPr>
          <a:xfrm>
            <a:off x="384048" y="431596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Rectangle 616"/>
          <p:cNvSpPr/>
          <p:nvPr/>
        </p:nvSpPr>
        <p:spPr>
          <a:xfrm>
            <a:off x="384048" y="450616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429768" y="4506163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west-first，无故障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947672" y="4506163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N→W、S→W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3099815" y="4506163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3977639" y="450616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98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4507992" y="450616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1.02×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965192" y="450616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0.29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5422392" y="4506163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189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5934455" y="450616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5858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6464807" y="4506163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27" name="Connector 626"/>
          <p:cNvCxnSpPr/>
          <p:nvPr/>
        </p:nvCxnSpPr>
        <p:spPr>
          <a:xfrm>
            <a:off x="384048" y="450616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ectangle 627"/>
          <p:cNvSpPr/>
          <p:nvPr/>
        </p:nvSpPr>
        <p:spPr>
          <a:xfrm>
            <a:off x="384048" y="469635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429768" y="469635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neg-first，无故障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1947672" y="469635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E→S、N→W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3099815" y="469635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3977639" y="469635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111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507992" y="469635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1.16×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965192" y="469635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0.42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22392" y="469635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211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934455" y="469635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5170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464807" y="469635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38" name="Connector 637"/>
          <p:cNvCxnSpPr/>
          <p:nvPr/>
        </p:nvCxnSpPr>
        <p:spPr>
          <a:xfrm>
            <a:off x="384048" y="469635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Rectangle 638"/>
          <p:cNvSpPr/>
          <p:nvPr/>
        </p:nvSpPr>
        <p:spPr>
          <a:xfrm>
            <a:off x="384048" y="488655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429768" y="4886553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neg-first，残图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947672" y="4886553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同上（与洞无关）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3099815" y="4886553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3977639" y="488655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160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4507992" y="488655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1.51×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4965192" y="4886553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0.59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5422392" y="4886553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308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5934455" y="4886553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5591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6464807" y="4886553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49" name="Connector 648"/>
          <p:cNvCxnSpPr/>
          <p:nvPr/>
        </p:nvCxnSpPr>
        <p:spPr>
          <a:xfrm>
            <a:off x="384048" y="488655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0" name="Rectangle 649"/>
          <p:cNvSpPr/>
          <p:nvPr/>
        </p:nvSpPr>
        <p:spPr>
          <a:xfrm>
            <a:off x="384048" y="507674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429768" y="5076748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M3′，残图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947672" y="5076748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down→up（按 ℓ）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3099815" y="5076748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3977639" y="507674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4507992" y="507674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4965192" y="5076748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5422392" y="5076748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5934455" y="5076748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6452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6464807" y="5076748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60" name="Connector 659"/>
          <p:cNvCxnSpPr/>
          <p:nvPr/>
        </p:nvCxnSpPr>
        <p:spPr>
          <a:xfrm>
            <a:off x="384048" y="507674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ectangle 660"/>
          <p:cNvSpPr/>
          <p:nvPr/>
        </p:nvSpPr>
        <p:spPr>
          <a:xfrm>
            <a:off x="384048" y="5266944"/>
            <a:ext cx="6995160" cy="190195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84048" y="5266944"/>
            <a:ext cx="32004" cy="190195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3" name="TextBox 662"/>
          <p:cNvSpPr txBox="1"/>
          <p:nvPr/>
        </p:nvSpPr>
        <p:spPr>
          <a:xfrm>
            <a:off x="429768" y="5266944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M3′+min-max，残图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947672" y="5266944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同上 + 换选路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099815" y="5266944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3977639" y="5266944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4507992" y="5266944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4965192" y="5266944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5422392" y="5266944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70" name="TextBox 669"/>
          <p:cNvSpPr txBox="1"/>
          <p:nvPr/>
        </p:nvSpPr>
        <p:spPr>
          <a:xfrm>
            <a:off x="5934455" y="5266944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6392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6464807" y="5266944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72" name="Connector 671"/>
          <p:cNvCxnSpPr/>
          <p:nvPr/>
        </p:nvCxnSpPr>
        <p:spPr>
          <a:xfrm>
            <a:off x="384048" y="5266944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Rectangle 672"/>
          <p:cNvSpPr/>
          <p:nvPr/>
        </p:nvSpPr>
        <p:spPr>
          <a:xfrm>
            <a:off x="384048" y="5457139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429768" y="5457139"/>
            <a:ext cx="1426463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 / wf，残图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1947672" y="5457139"/>
            <a:ext cx="106070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方位型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3099815" y="5457139"/>
            <a:ext cx="78638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牺牲 22/46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3977639" y="5457139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4507992" y="5457139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4965192" y="5457139"/>
            <a:ext cx="36576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5422392" y="5457139"/>
            <a:ext cx="420624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5934455" y="5457139"/>
            <a:ext cx="438912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6464807" y="5457139"/>
            <a:ext cx="868680" cy="190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83" name="Connector 682"/>
          <p:cNvCxnSpPr/>
          <p:nvPr/>
        </p:nvCxnSpPr>
        <p:spPr>
          <a:xfrm>
            <a:off x="384048" y="5457139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ectangle 683"/>
          <p:cNvSpPr/>
          <p:nvPr/>
        </p:nvSpPr>
        <p:spPr>
          <a:xfrm>
            <a:off x="384048" y="4096511"/>
            <a:ext cx="6995160" cy="1550822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5" name="Rounded Rectangle 684"/>
          <p:cNvSpPr/>
          <p:nvPr/>
        </p:nvSpPr>
        <p:spPr>
          <a:xfrm>
            <a:off x="7827264" y="3785615"/>
            <a:ext cx="4090111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6" name="Rounded Rectangle 685"/>
          <p:cNvSpPr/>
          <p:nvPr/>
        </p:nvSpPr>
        <p:spPr>
          <a:xfrm>
            <a:off x="7827264" y="3785615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7827264" y="3785615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7973568" y="3813048"/>
            <a:ext cx="381579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955280" y="4114800"/>
            <a:ext cx="383407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方位型 turn model 更均衡，但容错靠不住。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禁令写死在方向上、与洞无关：残图一有洞就可能整片 (s,d) 断供 —— XY / west-first 零牺牲 0/44、neg-first 10/44；M3′ 的禁令按 ℓ 随残图重算，41/44（余 3 例残图本身断开）。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无故障时 M3′ 与 XY 总跳数都是 10528、平均 4.67 跳（都走最短路）⇒ 不均衡纯粹来自「同一最短路集合里怎么挑」，换选路即可改善（第 2、6 页）。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坦白说：本场景重载 neg-first 5591 cy 快于 M3′+min-max 6392 cy，但它只在 10/44 场景可用。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274320" y="5742432"/>
            <a:ext cx="11643055" cy="932688"/>
          </a:xfrm>
          <a:prstGeom prst="roundRect">
            <a:avLst>
              <a:gd name="adj" fmla="val 3921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274320" y="5742432"/>
            <a:ext cx="50292" cy="93268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438912" y="5833872"/>
            <a:ext cx="557784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6217920" y="5833872"/>
            <a:ext cx="30175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2（极大性）＝ 没有更宽松的 turn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M3′ 允许 346/416 个转向，与 west-first / neg-first 同级；再放开任一条 down→up 即成环。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9418320" y="5833872"/>
            <a:ext cx="236189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符号（u/v/w、通道势能 Φ）见第 4 页，两条定理的逐步推导见第 5 页；1 VC 的可行边界见第 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符号与概念：G′ · r · ℓ(v) · 转向 (u→v→w) · 通道势能 Φ(c)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下一页两条定理只用到这五个记号；其中 (u→v→w) 就是「拐弯」，Φ(c) 是只为证明服务的编号，硬件里并不存在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五个记号（数字取自本例：8×6、2 洞 + 1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2615184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 个 router，|E|=82 条链路，即 164 条有向通道。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故障集：死 router ∪ 断链（本例 2 个 router + 1 条链路）。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从 G 删掉 F 及其附属链路后剩下的图（本例 |V′|=46、|E′|=74）。所有推导都在 G′ 上进行。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根：一个普通存活 router，被选作 BFS 源点。best-root 把 48 个候选全试一遍，取峰值最小者（本例 (7,5)）。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高度：G′ 上 r 到 v 的 BFS 跳数，ℓ(r)=0（本例 0…12）。它只是个整数标号，不是坐标、也不是延迟。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243584"/>
            <a:ext cx="268833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u, v, w　残图里任意三个节点，v 与 u、w 都相邻。(u→v) 与 (v→w) 是两条首尾相接的有向通道，合起来就是「报文在 v 处拐的那个弯」，记作转向 (u→v→w)。8×6 残图上共 344 个转向。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给每条有向通道贴的标签：(u→v) 若 ℓ(v)=ℓ(u)−1 记 up（朝根），若 ℓ(v)=ℓ(u)+1 记 down（离根）。mesh 按 x+y 奇偶二分 ⇒ 相邻点 ℓ 必差 1，不存在 ℓ 相等的「横向」边。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11296" y="2945465"/>
            <a:ext cx="175564" cy="0"/>
          </a:xfrm>
          <a:prstGeom prst="line">
            <a:avLst/>
          </a:prstGeom>
          <a:ln w="1905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79622" y="2667487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C87209"/>
                </a:solidFill>
                <a:latin typeface="Microsoft YaHei"/>
              </a:rPr>
              <a:t>down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052139" y="2783845"/>
            <a:ext cx="205788" cy="87324"/>
          </a:xfrm>
          <a:prstGeom prst="line">
            <a:avLst/>
          </a:prstGeom>
          <a:ln w="1905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5577" y="254953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E7F4F"/>
                </a:solidFill>
                <a:latin typeface="Microsoft YaHei"/>
              </a:rPr>
              <a:t>up</a:t>
            </a:r>
          </a:p>
        </p:txBody>
      </p:sp>
      <p:sp>
        <p:nvSpPr>
          <p:cNvPr id="17" name="Oval 16"/>
          <p:cNvSpPr/>
          <p:nvPr/>
        </p:nvSpPr>
        <p:spPr>
          <a:xfrm>
            <a:off x="3174796" y="2799161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74796" y="2848904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799161"/>
            <a:ext cx="292608" cy="292608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2848904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1" name="Oval 20"/>
          <p:cNvSpPr/>
          <p:nvPr/>
        </p:nvSpPr>
        <p:spPr>
          <a:xfrm>
            <a:off x="4286707" y="2563246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6707" y="2612989"/>
            <a:ext cx="292608" cy="204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21868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在 v 处的一个转向 (u→v→w)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633472"/>
            <a:ext cx="113385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C7000B"/>
                </a:solidFill>
                <a:latin typeface="Microsoft YaHei"/>
              </a:rPr>
              <a:t>M3′ 的唯一禁令：(u→v)=down 且 (v→w)=up，即「下完又往上拐」。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1616" y="914400"/>
            <a:ext cx="5845759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「通道势能 Φ(c)」是什么、为什么需要它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1243584"/>
            <a:ext cx="5589727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一句话　Φ 是给每一条有向通道（不是节点）人为编的一个「序号」，纯粹为证明服务：不进硬件、不占存储、运行时不存在。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为什么需要　死锁 ⇔ 通道依赖图 CDG 里有环。要证明「无环」，最省事的办法是找一个沿依赖边单调变化的量：只要每一次合法衔接都让 Φ 严格变大，就永远回不到起点，环自然不存在 —— 相当于「只上不下的楼梯不可能绕回原地」（形式上即势能 / Lyapunov 函数）。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M3′ 的取法　Φ(u→v) = (0, −ℓ(v)) 若该通道是 up；(1, +ℓ(v)) 若是 down。两位数按字典序比较：先比第一位，相同才比第二位。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两位各管一件事　第一位是「阶段位」：0 = 还在上行，1 = 已转入下行 —— 它保证一旦下行就再不能上行。第二位是同阶段内的先后：上行段里 ℓ 越小越靠后（越接近根），下行段里 ℓ 越大越靠后（越远离根）。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于是三种合法衔接都严格升 Φ：up→up 是 (0,−ℓ) → (0,−ℓ+1)，up→down 是 (0,·) → (1,·)，down→down 是 (1,ℓ) → (1,ℓ+1)；唯一被禁的 down→up 恰好是 (1,·) → (0,·)，即会让 Φ 变小的那一种。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675887"/>
            <a:ext cx="7680960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4320" y="3675887"/>
            <a:ext cx="76809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675887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3" y="3703320"/>
            <a:ext cx="7406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实例校核：从真实路由表里取 (0,0)→(3,4)，逐跳看 ℓ 与 Φ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71765" y="5861866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44744" y="5354374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17723" y="4846882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0702" y="4339390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63681" y="4339390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6660" y="4846882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9639" y="5354374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36505" y="6213348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505" y="6239774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809484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484" y="573228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5" name="Oval 44"/>
          <p:cNvSpPr/>
          <p:nvPr/>
        </p:nvSpPr>
        <p:spPr>
          <a:xfrm>
            <a:off x="1182463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2463" y="522479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555442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55442" y="471729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9" name="Oval 48"/>
          <p:cNvSpPr/>
          <p:nvPr/>
        </p:nvSpPr>
        <p:spPr>
          <a:xfrm>
            <a:off x="1928421" y="418338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8421" y="4209806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51" name="Oval 50"/>
          <p:cNvSpPr/>
          <p:nvPr/>
        </p:nvSpPr>
        <p:spPr>
          <a:xfrm>
            <a:off x="2301400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01400" y="471729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53" name="Oval 52"/>
          <p:cNvSpPr/>
          <p:nvPr/>
        </p:nvSpPr>
        <p:spPr>
          <a:xfrm>
            <a:off x="2674379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74379" y="522479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55" name="Oval 54"/>
          <p:cNvSpPr/>
          <p:nvPr/>
        </p:nvSpPr>
        <p:spPr>
          <a:xfrm>
            <a:off x="3047358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47358" y="573228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" y="6327648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19656" y="6327648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041648"/>
            <a:ext cx="438912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8144" y="4041648"/>
            <a:ext cx="8595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通道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64608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58384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2160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9712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33488" y="4041648"/>
            <a:ext cx="42062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4261104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47288" y="426110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ℓ：u→v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9976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1304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48856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2" y="4261104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401568" y="4261104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401568" y="4498848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47288" y="4498848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9976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3752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67528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61304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8856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42632" y="4498848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401568" y="4498848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401568" y="4736592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47288" y="4736592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第一位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79976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73752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7528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1304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48856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42632" y="4736592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01568" y="4736592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401568" y="4974336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447288" y="4974336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第二位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9976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3752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67528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1304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55080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8856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2632" y="4974336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401568" y="4974336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401568" y="4041648"/>
            <a:ext cx="4389120" cy="1170431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01568" y="5321807"/>
            <a:ext cx="4462272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路径：(0,0) → (0,1) → (0,2) → (0,3) → (0,4) → (1,4) → (2,4) → (3,4)（7 跳）；ℓ 序列 5→4→3→2→1→2→3→4。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Φ 按字典序严格递增（代码里的断言 strict=True）：(0,-4) &lt; (0,-3) &lt; (0,-2) &lt; (0,-1) &lt; …，一路只升不降 ⇒ 这条路径不可能参与任何依赖环。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注意转折点在 ℓ=1，并没有爬到根（ℓ=0）：up*·down* 只要求「先升后降」，并不要求经过根。定理 1 第 2 步里那条「爬到根再下来」的路径只是用来证明「存在解」，实际选路会取更短的那条。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3296" y="3675887"/>
            <a:ext cx="3834079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083296" y="3675887"/>
            <a:ext cx="38340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83296" y="3675887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29600" y="3703320"/>
            <a:ext cx="3559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读这些符号时的两个坑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11312" y="4005072"/>
            <a:ext cx="3578047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1：ℓ 是无权跳数，不是线延迟。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本项目实际链路延迟横向 H=7 cy、纵向 V=9 cy，两者并不相等；但 ℓ 只承担「定序、保证 CDG 无环」的职责，用跳数即可。线延迟只影响端到端时间，不影响两条定理是否成立。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2：Φ 不是任何物理量。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它不是缓冲占用、也不是优先级，硬件里查不到这个字段。它只是证明用的排序函数：换一组同样单调的 Φ，结论完全一样。真正落到硬件里的只有一张静态转向许可表 + 一张 (s,d)→出端口表，1 个 VC。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0B6BA8"/>
                </a:solidFill>
                <a:latin typeface="Microsoft YaHei"/>
              </a:rPr>
              <a:t>代码对应：ℓ = _updown_labels，路径 = _tree_path，无环复验 = build_cdg + cdg_acyclic，Φ 单调性由本页实例断言。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定理 1 / 定理 2 的逐步推导：零牺牲 · 无死锁 · 转向集已极大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定理 1 = 只要残图连通，表一定建得出且 1 VC 无死锁；定理 2 = 转向集是极大无环集，等价于「不存在比 M3′ 更宽松的 turn model」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定理 1：残图连通 ⇒ 零牺牲 + 无死锁 + 保序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544982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陈述　对任意故障集 F：G′ 连通 ⇔ 存在覆盖全部 (s,d) 的合法路由表且牺牲集 S=∅。（⇐ 方向显然：残图断开时跨分量物理不可达，任何路由都做不到；以下证 ⇒。）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ℓ 存在　G′ 连通 ⇒ 从任一 r 出发的 BFS 能到达全部节点，ℓ(v)=dist(r,v) 有限；且每个 v≠r 至少有一个邻居 u 满足 ℓ(u)=ℓ(v)−1，称为 v 的父节点。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每对都有合法路径　对任意 (s,d)：从 s 沿父链上行到 r（全是 up），再沿 d 的父链下行到 d（全是 down），拼成 up*·down*，长度 ≤ ℓ(s)+ℓ(d) 且不含 down→up ⇒ 表必然建得出、S=∅。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路径里只可能出现 up→up、up→down、down→down 三种衔接，而它们都严格升 Φ（第 4 页 ②）。CDG 的每条边都升 Φ，而 Φ 取值在有限集合里 ⇒ CDG 无环 ⇒ 按 Dally–Seitz，1 个 VC 就无死锁。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只有一条静态路径，单 VC 不存在换道，每跳先进先出 ⇒ 同一包的 flit 不会乱序，无需重排序缓冲。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与根无关　第 1–4 步对任意 r∈V′ 都成立 ⇒ 48 个候选根的表全都合法；best-root 只是在合法解里挑峰值最小的那个，不影响容错。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实测校核　44 个预算场景（≤4 死 router / ≤8 断链）：牺牲 0、CDG 成环 0、反例 0；仅 3 例残图本身断开，牺牲量等于信息论下界。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914400"/>
            <a:ext cx="584575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2：转向集极大 —— 再放开任一条即成环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243584"/>
            <a:ext cx="55897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陈述　T_UD = 全部 up→up / up→down / down→down 转向。任取一条不在 T_UD 里的转向 t（必然是某个 down→up），则 T_UD ∪ {t} 的 CDG 一定含环。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(v→w)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92024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(·→r) 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268833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(r→·)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68833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(u→v) down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51192" y="2002536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2148840"/>
            <a:ext cx="0" cy="475488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251192" y="2770632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20840" y="2148840"/>
            <a:ext cx="0" cy="475488"/>
          </a:xfrm>
          <a:prstGeom prst="line">
            <a:avLst/>
          </a:prstGeom>
          <a:ln w="2032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96912" y="1819656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270272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2788920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270272"/>
            <a:ext cx="182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7000B"/>
                </a:solidFill>
                <a:latin typeface="Microsoft Ya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90779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C7000B"/>
                </a:solidFill>
                <a:latin typeface="Microsoft YaHei"/>
              </a:rPr>
              <a:t>④ 一放开 ⇒ 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6" y="1828800"/>
            <a:ext cx="3157423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1F2933"/>
                </a:solidFill>
                <a:latin typeface="Microsoft YaHei"/>
              </a:rPr>
              <a:t>设 t 把通道 (u→v)（down）接到 (v→w)（up）。构造环只需四段，前三段全部用 T_UD 里的合法衔接：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① 从 (v→w) 出发继续沿父链上行，ℓ 每跳 −1，有限步必达根（ℓ=0），沿途衔接全是 up→up。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② 在根处拐头：一次 up→down 衔接，合法。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③ 沿 u 的父链下行到 u，衔接全是 down→down，于是到达 (u→v)。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④ 最后用新放开的 t，从 (u→v) 接回 (v→w) —— 回到起点，环闭合（证毕）。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1" y="3401568"/>
            <a:ext cx="5589727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要点　这一步只用到「r 到任何点都有父链」，也就是定理 1 第 1 步的同一个事实 ⇒ 只要残图连通，禁令就一条都不能少。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实测　48 个候选根 × 共 3360 条被禁转向，逐条放开后重建 CDG 检测：可安全加入 0 条。极大性对每个根都成立。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059936"/>
            <a:ext cx="7223760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4320" y="4059936"/>
            <a:ext cx="72237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4059936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3" y="4087368"/>
            <a:ext cx="69494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映射到 turn model 语境：M3′ = 禁令按 ℓ 定义的 turn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" y="4407408"/>
            <a:ext cx="3429000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同一件事，两种写法。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/ west-first / negative-first 把禁令写成「(入方向, 出方向)」的方位对，例如 XY 禁 N→E、N→W、S→E、S→W。M3′ 先按 ℓ 给每条链路贴 up/down 标签，再禁掉一整类衔接 down→up。两者最终都落成同一种东西：一张静态转向许可表，硬件实现、面积、VC 数完全一样（查表 + 1 VC）。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宽松程度也在同一量级（8×6 共 416 个转向）。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允许 276（66%）、west-first 346、negative-first 346、M3′ 346（83%）—— M3′ 与最灵活的 Glass–Ni 类模型同级，并不比它们「保守」。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216" y="4407408"/>
            <a:ext cx="3355848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定理 2 的 turn-model 版本：不存在更宽松的 turn model。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在这张残图上，M3′ 的转向集已经是极大无环集：再放开任何一条被禁转向，CDG 立刻成环（上面 ② 的构造对每条禁令都适用）。所以「找一个转向集严格包含 M3′ 的 turn model」是不可能的 —— 唯一的自由度是把同样多的禁令挪到别处，这正是第 6 页 L4「禁令换位」在搜的东西。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差别不在宽松度，而在禁令「放在哪」。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方位型禁令写死在方向上，与洞的位置无关：残图一有洞，某些 (s,d) 就整片断供 —— 44 场景里 XY / west-first 零牺牲 0 次、negative-first 只 10 次。ℓ 型禁令随残图重新生成，因此「连通即可达」（41/44）。这就是 M3′ 用同样多的禁令换来容错的原因。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26096" y="4059936"/>
            <a:ext cx="4291279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626096" y="4059936"/>
            <a:ext cx="42912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26096" y="4059936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87368"/>
            <a:ext cx="40169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两个容易读错的结论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4407408"/>
            <a:ext cx="4035247" cy="2157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① 极大 ≠ 最大（maximal ≠ maximum）。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2 只说「不能再单独加一条」，并不说 M3′ 是所有无环转向集里最大的那个。随机贪心能生成大量别的极大集，大小 319–327 条不等（M3′ 是 346 条）。这些集合就是第 6 页 L4 的搜索空间：总量相当、位置不同。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② 零牺牲 ≠ 零性能损失。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1 只保证「连通即可达」，负载均衡完全不在结论里：M3′ 会把流挤到通往根的主干走廊上，峰值可达 1.93× 割界（第 3 页热点图）。改善它要靠同一转向集内换选路（第 2、6 页 min-max），而不是改禁令。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转向不能再放宽（定理 2，第 5 页 ③）；② 同一转向集内 min-max 选路是唯一「免费」的超集：峰值 1.41×→1.16× 割界；③ 禁令换位更均衡却更慢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方位型 turn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0/44（neg-first 10）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最均衡也最快，但残图上要牺牲好节点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74320" y="3255264"/>
            <a:ext cx="5760720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74320" y="3255264"/>
            <a:ext cx="57607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74320" y="3255264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3" y="3282696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L3 min-max 选路：算法步骤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336" y="3584448"/>
            <a:ext cx="5504688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输入：M3′ 的转向许可表 T（禁 down→up）+ M3′ 原路由表。输出：同一个 T 内的另一组路径 —— 禁令、VC 数、表规模都不动。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① 统计负载　对每条有向链路 e 记 load(e) = 当前经过它的 (s,d) 对数。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② 拆（rip-up）　按固定顺序取一对 (s,d)，把它现有路径上每条链路的 load 减 1，相当于先把这条流从网络里抽走。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③ 重路由（re-route）　在 T 内跑 Dijkstra 重新给它选路，链路代价 c(e) = (load(e)+1)³；只允许 T 许可的衔接，因此绝不会产生 down→up。选出的新路径再把 load 加回去。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④ 为什么用三次方　凸代价让「再往热链路塞一条流」的边际成本远高于绕到冷链路，于是流自动摊开 —— 这就是 min-max 的来源。若指数取 1，只会最小化总跳数，起不到均衡作用。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⑤ 迭代到收敛　全部 2256 对流过一遍算一轮，共 6 轮；峰值不再下降即停，离线约 1 s。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⑥ 复验后才交付　全对可达 + CDG 无环 + 每对唯一路径（保序）+ 牺牲仍为 0；任一项不过就整体回退到 M3′ 原表（兜底）。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收益：峰值 135→111（无故障）、204→154（残图）；残图轻载 makespan 370→293 cy。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63055" y="3255264"/>
            <a:ext cx="5754319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163055" y="3255264"/>
            <a:ext cx="575431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163055" y="325526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59" y="3282696"/>
            <a:ext cx="547999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L4「禁令换位」：做法、结果、为什么不推荐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91071" y="3584448"/>
            <a:ext cx="5498287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禁令换位是什么　禁令总数不变，只把它们挪个位置：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找出当前最热的那条链路；② 在与它相关的被禁转向里挑一条放开；③ 放开必然成环（第 5 页 ②），就在这个环上挑一条「被路径用得最少」的转向改判为禁令，把环重新打断；④ 重验全对可达 + CDG 无环，峰值下降就保留、否则回退。如此反复若干轮。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7000B"/>
                </a:solidFill>
                <a:latin typeface="Microsoft YaHei"/>
              </a:rPr>
              <a:t>结果：更均衡，但更慢。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无故障峰值 111→101（1.05× 割界，几乎贴住理论下界），可是 all-to-all 重载 makespan 从 4561 涨到 6392 cy（+40%）；残图上峰值一点没降（154→154）。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原因（一句话）　1 个 VC 意味着每个输入口只有一个共享队列：转向越自由，不同流在同一个队列里交织越多，队头阻塞（HOL）比链路负载更决定速度。west-first 峰值 98（1.02× 割界）却要 5858 cy，是同一现象。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所以真正该看的是这两个指标：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① 牺牲了几个计算节点 —— 少牺牲就是多算力，每节点分到的活更少，端到端任务完成更快；② 实测 makespan。峰值只能当诊断量：最均衡的 XY 型放法恰恰在残图上不可路由、必须牺牲好节点。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4320" y="5577840"/>
            <a:ext cx="6729984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74320" y="5577840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4320" y="557784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0623" y="5605272"/>
            <a:ext cx="645566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2336" y="5870448"/>
            <a:ext cx="6492240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想再提升重载吞吐，1 VC 已到边界：只能加 VC（LASH / Dual-UD）或时间分批（BB UD policy）。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32320" y="5577840"/>
            <a:ext cx="4785055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132320" y="5577840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132320" y="5577840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278624" y="5605272"/>
            <a:ext cx="451073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60336" y="5870448"/>
            <a:ext cx="452902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