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56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11B766-38A1-4F87-8386-4CF1E7582F2F}" type="datetimeFigureOut">
              <a:rPr lang="zh-CN" altLang="en-US" smtClean="0"/>
              <a:t>2026/8/13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92C381-E9E4-4186-B0B4-7BD2A65C8A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8326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2C381-E9E4-4186-B0B4-7BD2A65C8A5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558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0424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Up*/Down* best-root：怎么容错、怎么解死锁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单一机制：给每个 router 一个「到根的高度」，只禁一种转向 —— 物理 1 VC · 无需虚通道 · 8×6 预算故障 44 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69264"/>
            <a:ext cx="5742432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69264"/>
            <a:ext cx="5742432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69264"/>
            <a:ext cx="50292" cy="310896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96696"/>
            <a:ext cx="546811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如何容错：高度重算，洞自动被绕开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600" y="1506105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5691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691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01782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01782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97874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874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93965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93965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90057" y="150610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90057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86148" y="150610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86148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682240" y="1506105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600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600" y="1848267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05691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05691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01782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01782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874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93965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090057" y="1848267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90057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386148" y="1848267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6148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82240" y="1848267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9600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5691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5691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01782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0057" y="2190430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090057" y="2190430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86148" y="2190430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86148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82240" y="2190430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600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9600" y="2532593"/>
            <a:ext cx="0" cy="342162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05691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5691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01782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01782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97874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497874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93965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93965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90057" y="2532593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090057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86148" y="2532593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86148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82240" y="2532593"/>
            <a:ext cx="0" cy="342162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600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09600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691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201782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201782" y="2874755"/>
            <a:ext cx="0" cy="342163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497874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497874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93965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93965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0057" y="2874755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090057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386148" y="2874755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86148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82240" y="2874755"/>
            <a:ext cx="0" cy="342163"/>
          </a:xfrm>
          <a:prstGeom prst="line">
            <a:avLst/>
          </a:prstGeom>
          <a:ln w="889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09600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05691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01782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497874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793965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090057" y="3216918"/>
            <a:ext cx="296091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6148" y="3216918"/>
            <a:ext cx="296092" cy="0"/>
          </a:xfrm>
          <a:prstGeom prst="line">
            <a:avLst/>
          </a:prstGeom>
          <a:ln w="19050">
            <a:solidFill>
              <a:srgbClr val="7FB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5691" y="2874755"/>
            <a:ext cx="296091" cy="0"/>
          </a:xfrm>
          <a:prstGeom prst="line">
            <a:avLst/>
          </a:prstGeom>
          <a:ln w="13970">
            <a:solidFill>
              <a:srgbClr val="C700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19538" y="2840557"/>
            <a:ext cx="68397" cy="68397"/>
          </a:xfrm>
          <a:prstGeom prst="line">
            <a:avLst/>
          </a:prstGeom>
          <a:ln w="1524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52395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48486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1144577" y="144890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1440669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1736760" y="144890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032852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328943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25035" y="1448900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52395" y="179106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8486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144577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440669" y="179106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1736760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032852" y="1791063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328943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625035" y="1791063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52395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48486" y="2133225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144577" y="2133225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435695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8" name="Connector 107"/>
          <p:cNvCxnSpPr/>
          <p:nvPr/>
        </p:nvCxnSpPr>
        <p:spPr>
          <a:xfrm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59323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1731786" y="2128251"/>
            <a:ext cx="124358" cy="12435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/>
          <p:cNvCxnSpPr/>
          <p:nvPr/>
        </p:nvCxnSpPr>
        <p:spPr>
          <a:xfrm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5414" y="2151879"/>
            <a:ext cx="77102" cy="77102"/>
          </a:xfrm>
          <a:prstGeom prst="line">
            <a:avLst/>
          </a:prstGeom>
          <a:ln w="1651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2032852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328943" y="2133225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25035" y="2133225"/>
            <a:ext cx="114409" cy="114409"/>
          </a:xfrm>
          <a:prstGeom prst="ellipse">
            <a:avLst/>
          </a:prstGeom>
          <a:solidFill>
            <a:srgbClr val="2A6FA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52395" y="2475388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48486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1144577" y="2475388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1440669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1736760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032852" y="2475388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328943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2625035" y="2475388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552395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48486" y="2817550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144577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440669" y="2817550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736760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2032852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2328943" y="2817550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2625035" y="2817550"/>
            <a:ext cx="114409" cy="114409"/>
          </a:xfrm>
          <a:prstGeom prst="ellipse">
            <a:avLst/>
          </a:prstGeom>
          <a:solidFill>
            <a:srgbClr val="4E94C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52395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48486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1144577" y="3159713"/>
            <a:ext cx="114409" cy="114409"/>
          </a:xfrm>
          <a:prstGeom prst="ellipse">
            <a:avLst/>
          </a:prstGeom>
          <a:solidFill>
            <a:srgbClr val="DCE7F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1440669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736760" y="3159713"/>
            <a:ext cx="114409" cy="114409"/>
          </a:xfrm>
          <a:prstGeom prst="ellipse">
            <a:avLst/>
          </a:prstGeom>
          <a:solidFill>
            <a:srgbClr val="AFD0E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032852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2328943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25035" y="3159713"/>
            <a:ext cx="114409" cy="114409"/>
          </a:xfrm>
          <a:prstGeom prst="ellipse">
            <a:avLst/>
          </a:prstGeom>
          <a:solidFill>
            <a:srgbClr val="7FB4DE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5-Point Star 139"/>
          <p:cNvSpPr/>
          <p:nvPr/>
        </p:nvSpPr>
        <p:spPr>
          <a:xfrm>
            <a:off x="531876" y="3139194"/>
            <a:ext cx="155448" cy="1554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09086" y="312547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 = BFS 源点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" y="3493008"/>
            <a:ext cx="2487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蓝边 = BFS 树（只给高度）　浅灰 = 其余存活链路（路径可用）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节点颜色由浅到深 = 高度 label 0 → 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99232" y="1353312"/>
            <a:ext cx="2889504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① 只在残图上做 BFS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死 router / 断链不进邻接表，label = 到根的跳数由残图算出，树自然从洞的两侧绕过去。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② 不依赖方向，所以能绕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XY / East-first 把某类方向写死，洞挡住即无解；Up*/Down* 只看高度差，四个方向都能走 ⇒ 残图连通就建得出表。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1E7F4F"/>
                </a:solidFill>
                <a:latin typeface="Microsoft YaHei"/>
              </a:rPr>
              <a:t>③ 路径不限于树边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树只用来定高度，任意存活链路都能走，不会退化成树上绕远。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87209"/>
                </a:solidFill>
                <a:latin typeface="Microsoft YaHei"/>
              </a:rPr>
              <a:t>④ 只有残图断开才牺牲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C87209"/>
                </a:solidFill>
                <a:latin typeface="Microsoft YaHei"/>
              </a:rPr>
              <a:t>44 场景牺牲中位 0 / 最差 4；36/36 目录格零牺牲。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969264"/>
            <a:ext cx="575431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163056" y="969264"/>
            <a:ext cx="5754319" cy="310896"/>
          </a:xfrm>
          <a:prstGeom prst="roundRect">
            <a:avLst>
              <a:gd name="adj" fmla="val 11764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6163056" y="969264"/>
            <a:ext cx="50292" cy="3108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09360" y="996696"/>
            <a:ext cx="547999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如何解死锁：禁 down→up，高度严格单调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6696456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696456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236968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236968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777480" y="1737897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777480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8317992" y="1737897"/>
            <a:ext cx="0" cy="575535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6696456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696456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236968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236968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7777480" y="2313432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7777480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317992" y="2313432"/>
            <a:ext cx="0" cy="575534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696456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7236968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7777480" y="2888966"/>
            <a:ext cx="540512" cy="0"/>
          </a:xfrm>
          <a:prstGeom prst="line">
            <a:avLst/>
          </a:prstGeom>
          <a:ln w="10160">
            <a:solidFill>
              <a:srgbClr val="DCE1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H="1">
            <a:off x="7928823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7388311" y="1737897"/>
            <a:ext cx="237825" cy="0"/>
          </a:xfrm>
          <a:prstGeom prst="line">
            <a:avLst/>
          </a:prstGeom>
          <a:ln w="27940">
            <a:solidFill>
              <a:srgbClr val="0B6B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7236968" y="1889241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236968" y="2464775"/>
            <a:ext cx="0" cy="272847"/>
          </a:xfrm>
          <a:prstGeom prst="line">
            <a:avLst/>
          </a:prstGeom>
          <a:ln w="2794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847799" y="2313432"/>
            <a:ext cx="237825" cy="0"/>
          </a:xfrm>
          <a:prstGeom prst="line">
            <a:avLst/>
          </a:prstGeom>
          <a:ln w="20320">
            <a:solidFill>
              <a:srgbClr val="9AA5B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6898132" y="2244852"/>
            <a:ext cx="137160" cy="13716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Oval 171"/>
          <p:cNvSpPr/>
          <p:nvPr/>
        </p:nvSpPr>
        <p:spPr>
          <a:xfrm>
            <a:off x="6561328" y="1602769"/>
            <a:ext cx="270256" cy="270256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561328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0</a:t>
            </a:r>
          </a:p>
        </p:txBody>
      </p:sp>
      <p:sp>
        <p:nvSpPr>
          <p:cNvPr id="174" name="Oval 173"/>
          <p:cNvSpPr/>
          <p:nvPr/>
        </p:nvSpPr>
        <p:spPr>
          <a:xfrm>
            <a:off x="7101840" y="1602769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7101840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76" name="Oval 175"/>
          <p:cNvSpPr/>
          <p:nvPr/>
        </p:nvSpPr>
        <p:spPr>
          <a:xfrm>
            <a:off x="7642352" y="1602769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7642352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78" name="Oval 177"/>
          <p:cNvSpPr/>
          <p:nvPr/>
        </p:nvSpPr>
        <p:spPr>
          <a:xfrm>
            <a:off x="8182864" y="1602769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182864" y="1654118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0" name="Oval 179"/>
          <p:cNvSpPr/>
          <p:nvPr/>
        </p:nvSpPr>
        <p:spPr>
          <a:xfrm>
            <a:off x="6561328" y="2178304"/>
            <a:ext cx="270256" cy="270256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561328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182" name="Oval 181"/>
          <p:cNvSpPr/>
          <p:nvPr/>
        </p:nvSpPr>
        <p:spPr>
          <a:xfrm>
            <a:off x="7101840" y="2178304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7101840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84" name="Oval 183"/>
          <p:cNvSpPr/>
          <p:nvPr/>
        </p:nvSpPr>
        <p:spPr>
          <a:xfrm>
            <a:off x="7642352" y="2178304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642352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6" name="Oval 185"/>
          <p:cNvSpPr/>
          <p:nvPr/>
        </p:nvSpPr>
        <p:spPr>
          <a:xfrm>
            <a:off x="8182864" y="2178304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8182864" y="2229652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88" name="Oval 187"/>
          <p:cNvSpPr/>
          <p:nvPr/>
        </p:nvSpPr>
        <p:spPr>
          <a:xfrm>
            <a:off x="6561328" y="2753838"/>
            <a:ext cx="270256" cy="270256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6561328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190" name="Oval 189"/>
          <p:cNvSpPr/>
          <p:nvPr/>
        </p:nvSpPr>
        <p:spPr>
          <a:xfrm>
            <a:off x="7101840" y="2753838"/>
            <a:ext cx="270256" cy="270256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7101840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2" name="Oval 191"/>
          <p:cNvSpPr/>
          <p:nvPr/>
        </p:nvSpPr>
        <p:spPr>
          <a:xfrm>
            <a:off x="7642352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7642352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94" name="Oval 193"/>
          <p:cNvSpPr/>
          <p:nvPr/>
        </p:nvSpPr>
        <p:spPr>
          <a:xfrm>
            <a:off x="8182864" y="2753838"/>
            <a:ext cx="270256" cy="270256"/>
          </a:xfrm>
          <a:prstGeom prst="ellipse">
            <a:avLst/>
          </a:prstGeom>
          <a:solidFill>
            <a:srgbClr val="2A6FA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Box 194"/>
          <p:cNvSpPr txBox="1"/>
          <p:nvPr/>
        </p:nvSpPr>
        <p:spPr>
          <a:xfrm>
            <a:off x="8182864" y="2805186"/>
            <a:ext cx="270256" cy="175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96" name="5-Point Star 195"/>
          <p:cNvSpPr/>
          <p:nvPr/>
        </p:nvSpPr>
        <p:spPr>
          <a:xfrm>
            <a:off x="6442415" y="1483857"/>
            <a:ext cx="156748" cy="156748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994400" y="1412777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根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043672" y="1401601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62648" y="3060670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D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734048" y="1401601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唯一拐点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244295" y="2435047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禁 down→up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291072" y="3364992"/>
            <a:ext cx="2432304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1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蓝 = up（label 递减，朝根）　橙 = down（label 递增，离根）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F2933"/>
                </a:solidFill>
                <a:latin typeface="Microsoft YaHei"/>
              </a:rPr>
              <a:t>合法路径形如 up* → down*，拐点最多一个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869680" y="1353312"/>
            <a:ext cx="2901391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唯一规则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先沿 label 递减方向走（up），一旦开始递增（down）就再也不许 up。实现是带相位的 BFS：相位 1 里禁掉所有 up 边。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为什么这样就无死锁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mesh 按 x+y 奇偶是二分图 ⇒ 相邻节点 label 必差 1，没有同层边，于是 up 通道 label 严格递减、down 严格递增。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CDG 只剩 up→up、up→down、down→down：段内 label 单调、跨段只能 up→down 单向 ⇒ 依赖链回不到起点，无环（构造性，1 VC）。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→ 实测：48 个根 × 健康图与故障残图，同层边 0 条、CDG 成环 0 例。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274320" y="4133087"/>
            <a:ext cx="11643055" cy="1572768"/>
          </a:xfrm>
          <a:prstGeom prst="roundRect">
            <a:avLst>
              <a:gd name="adj" fmla="val 232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5" name="Rounded Rectangle 204"/>
          <p:cNvSpPr/>
          <p:nvPr/>
        </p:nvSpPr>
        <p:spPr>
          <a:xfrm>
            <a:off x="274320" y="4133087"/>
            <a:ext cx="11643055" cy="292608"/>
          </a:xfrm>
          <a:prstGeom prst="roundRect">
            <a:avLst>
              <a:gd name="adj" fmla="val 12500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274320" y="4133087"/>
            <a:ext cx="50292" cy="29260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420623" y="4160520"/>
            <a:ext cx="11368735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M3′ 相对 M3 的唯一增量：把「根」当自由参数搜一遍（可行性与无死锁完全不变）</a:t>
            </a:r>
          </a:p>
        </p:txBody>
      </p:sp>
      <p:cxnSp>
        <p:nvCxnSpPr>
          <p:cNvPr id="208" name="Connector 207"/>
          <p:cNvCxnSpPr/>
          <p:nvPr/>
        </p:nvCxnSpPr>
        <p:spPr>
          <a:xfrm>
            <a:off x="576834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576834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99991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99991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2314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2314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24630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24630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46946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46946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261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9261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91577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91577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213893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76834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76834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799991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799991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2314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69261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692619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91577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915776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893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76834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76834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99991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799991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692619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692619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915776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915776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138933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76834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76834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99991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99991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02314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24630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24630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469462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46946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692619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69261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915776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191577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213893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576834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576834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99991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2314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314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246305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4630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46946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46946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69261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69261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91577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91577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213893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576834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799991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314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24630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6946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69261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91577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023148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246305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469462" y="4701444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023148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023148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Oval 281"/>
          <p:cNvSpPr/>
          <p:nvPr/>
        </p:nvSpPr>
        <p:spPr>
          <a:xfrm>
            <a:off x="5510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774245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97402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122055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144371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166687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89003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211318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5510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774245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97402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122055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144371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66687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89003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211318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5510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774245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7402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666873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890030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211318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5510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774245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7402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22055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44371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66687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89003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211318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5510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774245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997402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22055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44371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66687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89003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211318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5510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774245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997402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22055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44371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66687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89003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211318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8" name="Connector 327"/>
          <p:cNvCxnSpPr/>
          <p:nvPr/>
        </p:nvCxnSpPr>
        <p:spPr>
          <a:xfrm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217984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441141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5-Point Star 331"/>
          <p:cNvSpPr/>
          <p:nvPr/>
        </p:nvSpPr>
        <p:spPr>
          <a:xfrm>
            <a:off x="740775" y="4642228"/>
            <a:ext cx="118431" cy="118431"/>
          </a:xfrm>
          <a:prstGeom prst="star5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2"/>
          <p:cNvSpPr txBox="1"/>
          <p:nvPr/>
        </p:nvSpPr>
        <p:spPr>
          <a:xfrm>
            <a:off x="420624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M3：根 = 度最大点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5A6673"/>
                </a:solidFill>
                <a:latin typeface="Microsoft YaHei"/>
              </a:rPr>
              <a:t>峰值链路负载 258</a:t>
            </a:r>
          </a:p>
        </p:txBody>
      </p:sp>
      <p:cxnSp>
        <p:nvCxnSpPr>
          <p:cNvPr id="334" name="Connector 333"/>
          <p:cNvCxnSpPr/>
          <p:nvPr/>
        </p:nvCxnSpPr>
        <p:spPr>
          <a:xfrm>
            <a:off x="2551938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25519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2775095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2775095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2998252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2998252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3221409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3221409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3444566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3444566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3667723" y="454999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3667723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3890880" y="454999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3890880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4114038" y="454999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2551938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25519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2775095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2775095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2998252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2998252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3221409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3444566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3667723" y="470144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3667723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3890880" y="470144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3890880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4114038" y="4701444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551938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5519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775095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775095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3667723" y="4852892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3890880" y="4852892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3890880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4114038" y="4852892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551938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5519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775095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775095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998252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3221409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3444566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3667723" y="5004339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3667723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3890880" y="5004339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3890880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4114038" y="5004339"/>
            <a:ext cx="0" cy="151448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51938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519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2775095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2998252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2998252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3221409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3221409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3444566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3444566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3667723" y="5155787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667723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3890880" y="5155787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890880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4114038" y="5155787"/>
            <a:ext cx="0" cy="151447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551938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775095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998252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221409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3444566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3667723" y="5307234"/>
            <a:ext cx="223157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90880" y="5307234"/>
            <a:ext cx="223158" cy="0"/>
          </a:xfrm>
          <a:prstGeom prst="line">
            <a:avLst/>
          </a:prstGeom>
          <a:ln w="7620">
            <a:solidFill>
              <a:srgbClr val="E4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998252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667723" y="4852892"/>
            <a:ext cx="0" cy="151447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998252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3221409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3444566" y="5004339"/>
            <a:ext cx="223157" cy="0"/>
          </a:xfrm>
          <a:prstGeom prst="line">
            <a:avLst/>
          </a:prstGeom>
          <a:ln w="241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Oval 407"/>
          <p:cNvSpPr/>
          <p:nvPr/>
        </p:nvSpPr>
        <p:spPr>
          <a:xfrm>
            <a:off x="25261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2749349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2972506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3195663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3418820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3641977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3865134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4088291" y="452425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25261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2749349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2972506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3195663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3418820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3641977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3865134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4088291" y="467569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25261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2749349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2972506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3641977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3865134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4088291" y="4827146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25261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2749349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2972506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3195663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3418820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3641977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3865134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4088291" y="4978593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25261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2749349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2972506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3195663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3418820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3641977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3865134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4088291" y="5130041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25261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2749349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2972506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3195663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3418820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3641977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3865134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4088291" y="5281488"/>
            <a:ext cx="51492" cy="51492"/>
          </a:xfrm>
          <a:prstGeom prst="ellipse">
            <a:avLst/>
          </a:prstGeom>
          <a:solidFill>
            <a:srgbClr val="AEB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4" name="Connector 453"/>
          <p:cNvCxnSpPr/>
          <p:nvPr/>
        </p:nvCxnSpPr>
        <p:spPr>
          <a:xfrm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193088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416245" y="4824571"/>
            <a:ext cx="56642" cy="56641"/>
          </a:xfrm>
          <a:prstGeom prst="line">
            <a:avLst/>
          </a:prstGeom>
          <a:ln w="1270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5-Point Star 457"/>
          <p:cNvSpPr/>
          <p:nvPr/>
        </p:nvSpPr>
        <p:spPr>
          <a:xfrm>
            <a:off x="2492722" y="5248018"/>
            <a:ext cx="118431" cy="118431"/>
          </a:xfrm>
          <a:prstGeom prst="star5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58"/>
          <p:cNvSpPr txBox="1"/>
          <p:nvPr/>
        </p:nvSpPr>
        <p:spPr>
          <a:xfrm>
            <a:off x="2395728" y="5413248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5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M3′：根 = 负载最优</a:t>
            </a:r>
          </a:p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0B6BA8"/>
                </a:solidFill>
                <a:latin typeface="Microsoft YaHei"/>
              </a:rPr>
              <a:t>峰值链路负载 204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480560" y="4480559"/>
            <a:ext cx="3703320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搜索方式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枚举残图上每个存活 router 当根 → 各建一张完整表 → 全表校验 → 按 (max_link_load, 总跳数, root id) 取最小。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离线一次算完，运行时仍是一张静态表，不增加任何硬件。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8321040" y="4480559"/>
            <a:ext cx="3450031" cy="1152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40" b="1">
                <a:solidFill>
                  <a:srgbClr val="0B6BA8"/>
                </a:solidFill>
                <a:latin typeface="Microsoft YaHei"/>
              </a:rPr>
              <a:t>为什么换根有效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880" b="0">
                <a:solidFill>
                  <a:srgbClr val="5A6673"/>
                </a:solidFill>
                <a:latin typeface="Microsoft YaHei"/>
              </a:rPr>
              <a:t>根附近的链路要承担所有跨区流量。根放在度最大的中心点时，全阵流量挤过中心「脊」；把根挪到边角，高度层沿对角展开，峰值链路负载显著下降。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1">
                <a:solidFill>
                  <a:srgbClr val="1E7F4F"/>
                </a:solidFill>
                <a:latin typeface="Microsoft YaHei"/>
              </a:rPr>
              <a:t>本例（2 洞 + 1 断链）：峰值 258 → 204，低 21%。</a:t>
            </a:r>
          </a:p>
        </p:txBody>
      </p:sp>
      <p:sp>
        <p:nvSpPr>
          <p:cNvPr id="462" name="Rounded Rectangle 461"/>
          <p:cNvSpPr/>
          <p:nvPr/>
        </p:nvSpPr>
        <p:spPr>
          <a:xfrm>
            <a:off x="274320" y="5852160"/>
            <a:ext cx="11643055" cy="822960"/>
          </a:xfrm>
          <a:prstGeom prst="roundRect">
            <a:avLst>
              <a:gd name="adj" fmla="val 4444"/>
            </a:avLst>
          </a:prstGeom>
          <a:solidFill>
            <a:srgbClr val="FBF0F0"/>
          </a:solidFill>
          <a:ln w="11430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3" name="Rectangle 462"/>
          <p:cNvSpPr/>
          <p:nvPr/>
        </p:nvSpPr>
        <p:spPr>
          <a:xfrm>
            <a:off x="274320" y="5852160"/>
            <a:ext cx="50292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64" name="TextBox 463"/>
          <p:cNvSpPr txBox="1"/>
          <p:nvPr/>
        </p:nvSpPr>
        <p:spPr>
          <a:xfrm>
            <a:off x="438912" y="5943600"/>
            <a:ext cx="5303520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第三条性质：保序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每对源宿的路径由离线 BFS 唯一确定，运行时不自适应、单 VC 不换道 ⇒ 同一对的 flit 天然按序到达。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5989320" y="5943600"/>
            <a:ext cx="5790895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sz="960" b="1">
                <a:solidFill>
                  <a:srgbClr val="C7000B"/>
                </a:solidFill>
                <a:latin typeface="Microsoft YaHei"/>
              </a:rPr>
              <a:t>端到端收益（44 场景，物理 1 VC，area 0.897，与 M3 同硬件）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80" b="0">
                <a:solidFill>
                  <a:srgbClr val="1F2933"/>
                </a:solidFill>
                <a:latin typeface="Microsoft YaHei"/>
              </a:rPr>
              <a:t>最差 T_e2e：M3 893 ns → M3′ 790 ns（−11.5%）；中位 621 → 574 ns。轻载 m0=1 时 M3′ 是 1 VC 方案里的 Pareto 前沿点。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vs 方位型 turn model：同一残图的负载热点（同为 1 VC）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44 场景零牺牲：XY 0、west-first 0、neg-first 10、M3′ 41　·　M3′ 的代价：峰值 1.93× 割界，min-max 选路降到 1.45×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11643055" cy="2779776"/>
          </a:xfrm>
          <a:prstGeom prst="roundRect">
            <a:avLst>
              <a:gd name="adj" fmla="val 1315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all-to-all 链路负载热点（1 VC）：后三幅同一 partial good，46 个好节点全参与、牺牲 0；各按自身割界归一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5A6673"/>
                </a:solidFill>
                <a:latin typeface="Microsoft YaHei"/>
              </a:rPr>
              <a:t>参照：west-first（无故障）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8567" y="2268437"/>
            <a:ext cx="0" cy="211909"/>
          </a:xfrm>
          <a:prstGeom prst="line">
            <a:avLst/>
          </a:prstGeom>
          <a:ln w="16113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888567" y="1420803"/>
            <a:ext cx="0" cy="211909"/>
          </a:xfrm>
          <a:prstGeom prst="line">
            <a:avLst/>
          </a:prstGeom>
          <a:ln w="16278">
            <a:solidFill>
              <a:srgbClr val="BD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38572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63569" y="1420803"/>
            <a:ext cx="0" cy="211909"/>
          </a:xfrm>
          <a:prstGeom prst="line">
            <a:avLst/>
          </a:prstGeom>
          <a:ln w="16443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38572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563569" y="2268437"/>
            <a:ext cx="0" cy="211909"/>
          </a:xfrm>
          <a:prstGeom prst="line">
            <a:avLst/>
          </a:prstGeom>
          <a:ln w="1660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13574" y="1420803"/>
            <a:ext cx="0" cy="211909"/>
          </a:xfrm>
          <a:prstGeom prst="line">
            <a:avLst/>
          </a:prstGeom>
          <a:ln w="16774">
            <a:solidFill>
              <a:srgbClr val="B9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13574" y="2268437"/>
            <a:ext cx="0" cy="211909"/>
          </a:xfrm>
          <a:prstGeom prst="line">
            <a:avLst/>
          </a:prstGeom>
          <a:ln w="1693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3584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63569" y="1420803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3569" y="1632712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3584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63569" y="1844620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3584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3569" y="2056529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3584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63569" y="2268437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13584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563569" y="2480346"/>
            <a:ext cx="324998" cy="0"/>
          </a:xfrm>
          <a:prstGeom prst="line">
            <a:avLst/>
          </a:prstGeom>
          <a:ln w="17105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13584" y="1632712"/>
            <a:ext cx="324998" cy="0"/>
          </a:xfrm>
          <a:prstGeom prst="line">
            <a:avLst/>
          </a:prstGeom>
          <a:ln w="17270">
            <a:solidFill>
              <a:srgbClr val="B6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88577" y="1420803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88577" y="2268437"/>
            <a:ext cx="0" cy="211909"/>
          </a:xfrm>
          <a:prstGeom prst="line">
            <a:avLst/>
          </a:prstGeom>
          <a:ln w="17601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13584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63579" y="1420803"/>
            <a:ext cx="0" cy="211909"/>
          </a:xfrm>
          <a:prstGeom prst="line">
            <a:avLst/>
          </a:prstGeom>
          <a:ln w="17932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63579" y="2268437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8582" y="1420803"/>
            <a:ext cx="0" cy="211909"/>
          </a:xfrm>
          <a:prstGeom prst="line">
            <a:avLst/>
          </a:prstGeom>
          <a:ln w="18262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3584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8582" y="2268437"/>
            <a:ext cx="0" cy="211909"/>
          </a:xfrm>
          <a:prstGeom prst="line">
            <a:avLst/>
          </a:prstGeom>
          <a:ln w="18428">
            <a:solidFill>
              <a:srgbClr val="AD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88567" y="2056529"/>
            <a:ext cx="0" cy="211908"/>
          </a:xfrm>
          <a:prstGeom prst="line">
            <a:avLst/>
          </a:prstGeom>
          <a:ln w="19751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63569" y="2056529"/>
            <a:ext cx="0" cy="211908"/>
          </a:xfrm>
          <a:prstGeom prst="line">
            <a:avLst/>
          </a:prstGeom>
          <a:ln w="19916">
            <a:solidFill>
              <a:srgbClr val="B1C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238572" y="2056529"/>
            <a:ext cx="0" cy="211908"/>
          </a:xfrm>
          <a:prstGeom prst="line">
            <a:avLst/>
          </a:prstGeom>
          <a:ln w="20081">
            <a:solidFill>
              <a:srgbClr val="B3CA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63569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88567" y="1632712"/>
            <a:ext cx="0" cy="211908"/>
          </a:xfrm>
          <a:prstGeom prst="line">
            <a:avLst/>
          </a:prstGeom>
          <a:ln w="20247">
            <a:solidFill>
              <a:srgbClr val="B4C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574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38572" y="1632712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13574" y="2056529"/>
            <a:ext cx="0" cy="211908"/>
          </a:xfrm>
          <a:prstGeom prst="line">
            <a:avLst/>
          </a:prstGeom>
          <a:ln w="20412">
            <a:solidFill>
              <a:srgbClr val="B6CA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88577" y="1632712"/>
            <a:ext cx="0" cy="211908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88567" y="1844620"/>
            <a:ext cx="0" cy="211909"/>
          </a:xfrm>
          <a:prstGeom prst="line">
            <a:avLst/>
          </a:prstGeom>
          <a:ln w="21074">
            <a:solidFill>
              <a:srgbClr val="BC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38582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63579" y="1632712"/>
            <a:ext cx="0" cy="211908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63569" y="1844620"/>
            <a:ext cx="0" cy="211909"/>
          </a:xfrm>
          <a:prstGeom prst="line">
            <a:avLst/>
          </a:prstGeom>
          <a:ln w="21239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3584" y="1632712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238572" y="1844620"/>
            <a:ext cx="0" cy="211909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63579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8577" y="2056529"/>
            <a:ext cx="0" cy="211908"/>
          </a:xfrm>
          <a:prstGeom prst="line">
            <a:avLst/>
          </a:prstGeom>
          <a:ln w="21404">
            <a:solidFill>
              <a:srgbClr val="C0CB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3584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8582" y="2056529"/>
            <a:ext cx="0" cy="211908"/>
          </a:xfrm>
          <a:prstGeom prst="line">
            <a:avLst/>
          </a:prstGeom>
          <a:ln w="21570">
            <a:solidFill>
              <a:srgbClr val="C1CB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13574" y="1844620"/>
            <a:ext cx="0" cy="211909"/>
          </a:xfrm>
          <a:prstGeom prst="line">
            <a:avLst/>
          </a:prstGeom>
          <a:ln w="21900">
            <a:solidFill>
              <a:srgbClr val="C4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8582" y="1420803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3858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238572" y="1632712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3858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238572" y="1844620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3858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38572" y="2056529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38582" y="2268437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3858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38572" y="2480346"/>
            <a:ext cx="324997" cy="0"/>
          </a:xfrm>
          <a:prstGeom prst="line">
            <a:avLst/>
          </a:prstGeom>
          <a:ln w="22066">
            <a:solidFill>
              <a:srgbClr val="C6CB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8572" y="1420803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38572" y="2268437"/>
            <a:ext cx="324997" cy="0"/>
          </a:xfrm>
          <a:prstGeom prst="line">
            <a:avLst/>
          </a:prstGeom>
          <a:ln w="22231">
            <a:solidFill>
              <a:srgbClr val="C7CC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88577" y="1844620"/>
            <a:ext cx="0" cy="211909"/>
          </a:xfrm>
          <a:prstGeom prst="line">
            <a:avLst/>
          </a:prstGeom>
          <a:ln w="22562">
            <a:solidFill>
              <a:srgbClr val="CBCC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263579" y="1844620"/>
            <a:ext cx="0" cy="211909"/>
          </a:xfrm>
          <a:prstGeom prst="line">
            <a:avLst/>
          </a:prstGeom>
          <a:ln w="22727">
            <a:solidFill>
              <a:srgbClr val="CCCC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13584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38582" y="1844620"/>
            <a:ext cx="0" cy="211909"/>
          </a:xfrm>
          <a:prstGeom prst="line">
            <a:avLst/>
          </a:prstGeom>
          <a:ln w="22893">
            <a:solidFill>
              <a:srgbClr val="CEC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63579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913574" y="1420803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63579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913574" y="1632712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63579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913574" y="2056529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63579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13574" y="2268437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63579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913574" y="2480346"/>
            <a:ext cx="324998" cy="0"/>
          </a:xfrm>
          <a:prstGeom prst="line">
            <a:avLst/>
          </a:prstGeom>
          <a:ln w="25042">
            <a:solidFill>
              <a:srgbClr val="E2CE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63579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913574" y="1844620"/>
            <a:ext cx="324998" cy="0"/>
          </a:xfrm>
          <a:prstGeom prst="line">
            <a:avLst/>
          </a:prstGeom>
          <a:ln w="25208">
            <a:solidFill>
              <a:srgbClr val="E4CE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8577" y="1420803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88577" y="2056529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88577" y="2268437"/>
            <a:ext cx="324997" cy="0"/>
          </a:xfrm>
          <a:prstGeom prst="line">
            <a:avLst/>
          </a:prstGeom>
          <a:ln w="26034">
            <a:solidFill>
              <a:srgbClr val="ECC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88577" y="2480346"/>
            <a:ext cx="324997" cy="0"/>
          </a:xfrm>
          <a:prstGeom prst="line">
            <a:avLst/>
          </a:prstGeom>
          <a:ln w="26200">
            <a:solidFill>
              <a:srgbClr val="EECF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88577" y="1632712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8577" y="1844620"/>
            <a:ext cx="324997" cy="0"/>
          </a:xfrm>
          <a:prstGeom prst="line">
            <a:avLst/>
          </a:prstGeom>
          <a:ln w="26365">
            <a:solidFill>
              <a:srgbClr val="EFC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179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90679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123179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155679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8178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2067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253178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285678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8179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90679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123179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55679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188178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2067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253178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85678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8179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90679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123179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155679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1881788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220678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253178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85678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8179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0679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123179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155679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188178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22067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253178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285678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58179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90679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123179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155679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188178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22067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253178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285678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58179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90679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123179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155679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188178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2067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53178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85678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402336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方位型里最均衡：峰值 98 = 1.02× 割界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02336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5A6673"/>
                </a:solidFill>
                <a:latin typeface="Microsoft YaHei"/>
              </a:rPr>
              <a:t>但残图上不可路由：零牺牲 0/44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300984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3300984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negative-first，同一残图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512232" y="2268437"/>
            <a:ext cx="324998" cy="0"/>
          </a:xfrm>
          <a:prstGeom prst="line">
            <a:avLst/>
          </a:prstGeom>
          <a:ln w="12256">
            <a:solidFill>
              <a:srgbClr val="DA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787215" y="2268437"/>
            <a:ext cx="0" cy="211909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12222" y="2268437"/>
            <a:ext cx="0" cy="211909"/>
          </a:xfrm>
          <a:prstGeom prst="line">
            <a:avLst/>
          </a:prstGeom>
          <a:ln w="12705">
            <a:solidFill>
              <a:srgbClr val="D7E3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12222" y="2056529"/>
            <a:ext cx="0" cy="211908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462217" y="2268437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87215" y="1420803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137220" y="2268437"/>
            <a:ext cx="0" cy="211909"/>
          </a:xfrm>
          <a:prstGeom prst="line">
            <a:avLst/>
          </a:prstGeom>
          <a:ln w="13454">
            <a:solidFill>
              <a:srgbClr val="D1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812222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162227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487225" y="1420803"/>
            <a:ext cx="0" cy="211909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87215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462217" y="2480346"/>
            <a:ext cx="324998" cy="0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62217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462217" y="1420803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5462217" y="2056529"/>
            <a:ext cx="324998" cy="0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462217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48722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12232" y="1844620"/>
            <a:ext cx="324998" cy="0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137220" y="2056529"/>
            <a:ext cx="0" cy="211908"/>
          </a:xfrm>
          <a:prstGeom prst="line">
            <a:avLst/>
          </a:prstGeom>
          <a:ln w="15401">
            <a:solidFill>
              <a:srgbClr val="C3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462217" y="1844620"/>
            <a:ext cx="324998" cy="0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787215" y="1844620"/>
            <a:ext cx="0" cy="211909"/>
          </a:xfrm>
          <a:prstGeom prst="line">
            <a:avLst/>
          </a:prstGeom>
          <a:ln w="15851">
            <a:solidFill>
              <a:srgbClr val="C0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787215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137220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837230" y="1844620"/>
            <a:ext cx="324997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5462217" y="1844620"/>
            <a:ext cx="0" cy="211909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5137220" y="1844620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4487225" y="2056529"/>
            <a:ext cx="0" cy="211908"/>
          </a:xfrm>
          <a:prstGeom prst="line">
            <a:avLst/>
          </a:prstGeom>
          <a:ln w="17498">
            <a:solidFill>
              <a:srgbClr val="B4CF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5137220" y="1420803"/>
            <a:ext cx="0" cy="211909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3512232" y="2480346"/>
            <a:ext cx="324998" cy="0"/>
          </a:xfrm>
          <a:prstGeom prst="line">
            <a:avLst/>
          </a:prstGeom>
          <a:ln w="17947">
            <a:solidFill>
              <a:srgbClr val="B1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37220" y="2480346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37220" y="2056529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37220" y="2268437"/>
            <a:ext cx="324997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462217" y="1632712"/>
            <a:ext cx="324998" cy="0"/>
          </a:xfrm>
          <a:prstGeom prst="line">
            <a:avLst/>
          </a:prstGeom>
          <a:ln w="18397">
            <a:solidFill>
              <a:srgbClr val="AE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3512232" y="1420803"/>
            <a:ext cx="324998" cy="0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462217" y="1632712"/>
            <a:ext cx="0" cy="211908"/>
          </a:xfrm>
          <a:prstGeom prst="line">
            <a:avLst/>
          </a:prstGeom>
          <a:ln w="18546">
            <a:solidFill>
              <a:srgbClr val="ADC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462217" y="1420803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512232" y="1632712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12232" y="2056529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512232" y="1420803"/>
            <a:ext cx="0" cy="211909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812222" y="2056529"/>
            <a:ext cx="324998" cy="0"/>
          </a:xfrm>
          <a:prstGeom prst="line">
            <a:avLst/>
          </a:prstGeom>
          <a:ln w="20643">
            <a:solidFill>
              <a:srgbClr val="B8C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837230" y="1420803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4812222" y="2268437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4812222" y="2480346"/>
            <a:ext cx="324998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162227" y="1420803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512232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3837230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4487225" y="2480346"/>
            <a:ext cx="324997" cy="0"/>
          </a:xfrm>
          <a:prstGeom prst="line">
            <a:avLst/>
          </a:prstGeom>
          <a:ln w="24237">
            <a:solidFill>
              <a:srgbClr val="DBCD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4487225" y="2268437"/>
            <a:ext cx="324997" cy="0"/>
          </a:xfrm>
          <a:prstGeom prst="line">
            <a:avLst/>
          </a:prstGeom>
          <a:ln w="24387">
            <a:solidFill>
              <a:srgbClr val="DCC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137220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4162227" y="2268437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4162227" y="2480346"/>
            <a:ext cx="324998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5137220" y="1632712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4487225" y="2056529"/>
            <a:ext cx="324997" cy="0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5137220" y="1420803"/>
            <a:ext cx="324997" cy="0"/>
          </a:xfrm>
          <a:prstGeom prst="line">
            <a:avLst/>
          </a:prstGeom>
          <a:ln w="25286">
            <a:solidFill>
              <a:srgbClr val="E5C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3837230" y="1632712"/>
            <a:ext cx="324997" cy="0"/>
          </a:xfrm>
          <a:prstGeom prst="line">
            <a:avLst/>
          </a:prstGeom>
          <a:ln w="25735">
            <a:solidFill>
              <a:srgbClr val="E9CE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3837230" y="2480346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3837230" y="1420803"/>
            <a:ext cx="324997" cy="0"/>
          </a:xfrm>
          <a:prstGeom prst="line">
            <a:avLst/>
          </a:prstGeom>
          <a:ln w="26484">
            <a:solidFill>
              <a:srgbClr val="F0CF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3837230" y="2056529"/>
            <a:ext cx="0" cy="211908"/>
          </a:xfrm>
          <a:prstGeom prst="line">
            <a:avLst/>
          </a:prstGeom>
          <a:ln w="26933">
            <a:solidFill>
              <a:srgbClr val="F2CC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3512232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3837230" y="2056529"/>
            <a:ext cx="324997" cy="0"/>
          </a:xfrm>
          <a:prstGeom prst="line">
            <a:avLst/>
          </a:prstGeom>
          <a:ln w="28281">
            <a:solidFill>
              <a:srgbClr val="EFBF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3512232" y="1844620"/>
            <a:ext cx="0" cy="211909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3837230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3837230" y="1632712"/>
            <a:ext cx="0" cy="211908"/>
          </a:xfrm>
          <a:prstGeom prst="line">
            <a:avLst/>
          </a:prstGeom>
          <a:ln w="29629">
            <a:solidFill>
              <a:srgbClr val="EDB1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3512232" y="1632712"/>
            <a:ext cx="0" cy="211908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4162227" y="1632712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162227" y="2056529"/>
            <a:ext cx="0" cy="211908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812222" y="1420803"/>
            <a:ext cx="324998" cy="0"/>
          </a:xfrm>
          <a:prstGeom prst="line">
            <a:avLst/>
          </a:prstGeom>
          <a:ln w="31726">
            <a:solidFill>
              <a:srgbClr val="E99C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4812222" y="1632712"/>
            <a:ext cx="324998" cy="0"/>
          </a:xfrm>
          <a:prstGeom prst="line">
            <a:avLst/>
          </a:prstGeom>
          <a:ln w="32025">
            <a:solidFill>
              <a:srgbClr val="E999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4162227" y="2056529"/>
            <a:ext cx="324998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4487225" y="1420803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4487225" y="1632712"/>
            <a:ext cx="324997" cy="0"/>
          </a:xfrm>
          <a:prstGeom prst="line">
            <a:avLst/>
          </a:prstGeom>
          <a:ln w="33073">
            <a:solidFill>
              <a:srgbClr val="E78E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4162227" y="1632712"/>
            <a:ext cx="324998" cy="0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162227" y="1844620"/>
            <a:ext cx="0" cy="211909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162227" y="1420803"/>
            <a:ext cx="324998" cy="0"/>
          </a:xfrm>
          <a:prstGeom prst="line">
            <a:avLst/>
          </a:prstGeom>
          <a:ln w="34122">
            <a:solidFill>
              <a:srgbClr val="E584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837230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3977478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Oval 223"/>
          <p:cNvSpPr/>
          <p:nvPr/>
        </p:nvSpPr>
        <p:spPr>
          <a:xfrm>
            <a:off x="348044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3805443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413044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4455438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478043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51054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543043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575542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348044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3805443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413044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4455438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478043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51054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543043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575542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3480446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3805443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413044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510543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543043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575542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348044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3805443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413044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4455438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478043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51054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543043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575542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348044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3805443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413044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4455438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478043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51054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543043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575542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348044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3805443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413044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4455438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478043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51054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543043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575542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0" name="Connector 269"/>
          <p:cNvCxnSpPr/>
          <p:nvPr/>
        </p:nvCxnSpPr>
        <p:spPr>
          <a:xfrm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455438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8043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273"/>
          <p:cNvSpPr txBox="1"/>
          <p:nvPr/>
        </p:nvSpPr>
        <p:spPr>
          <a:xfrm>
            <a:off x="3300984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方位型里唯一扛住本场景的，零牺牲 10/44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300984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0B6BA8"/>
                </a:solidFill>
                <a:latin typeface="Microsoft YaHei"/>
              </a:rPr>
              <a:t>峰值 160 = 1.51× 割界 106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199632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7" name="TextBox 276"/>
          <p:cNvSpPr txBox="1"/>
          <p:nvPr/>
        </p:nvSpPr>
        <p:spPr>
          <a:xfrm>
            <a:off x="6199632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best-root，同一残图</a:t>
            </a:r>
          </a:p>
        </p:txBody>
      </p:sp>
      <p:cxnSp>
        <p:nvCxnSpPr>
          <p:cNvPr id="278" name="Connector 277"/>
          <p:cNvCxnSpPr/>
          <p:nvPr/>
        </p:nvCxnSpPr>
        <p:spPr>
          <a:xfrm>
            <a:off x="6410880" y="1420803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6410880" y="2268437"/>
            <a:ext cx="0" cy="211909"/>
          </a:xfrm>
          <a:prstGeom prst="line">
            <a:avLst/>
          </a:prstGeom>
          <a:ln w="10908">
            <a:solidFill>
              <a:srgbClr val="E4EB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7385873" y="1420803"/>
            <a:ext cx="0" cy="211909"/>
          </a:xfrm>
          <a:prstGeom prst="line">
            <a:avLst/>
          </a:prstGeom>
          <a:ln w="11208">
            <a:solidFill>
              <a:srgbClr val="E1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6410880" y="1632712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410880" y="2056529"/>
            <a:ext cx="0" cy="211908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7710870" y="1420803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6410880" y="1844620"/>
            <a:ext cx="0" cy="211909"/>
          </a:xfrm>
          <a:prstGeom prst="line">
            <a:avLst/>
          </a:prstGeom>
          <a:ln w="11507">
            <a:solidFill>
              <a:srgbClr val="DFE8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8035868" y="1844620"/>
            <a:ext cx="324997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8360865" y="1844620"/>
            <a:ext cx="324998" cy="0"/>
          </a:xfrm>
          <a:prstGeom prst="line">
            <a:avLst/>
          </a:prstGeom>
          <a:ln w="11957">
            <a:solidFill>
              <a:srgbClr val="DCE7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6735878" y="1420803"/>
            <a:ext cx="0" cy="211909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6735878" y="1632712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6735878" y="2056529"/>
            <a:ext cx="0" cy="211908"/>
          </a:xfrm>
          <a:prstGeom prst="line">
            <a:avLst/>
          </a:prstGeom>
          <a:ln w="13754">
            <a:solidFill>
              <a:srgbClr val="CFD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385873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6735878" y="1844620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60875" y="2268437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710870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8360865" y="2268437"/>
            <a:ext cx="324998" cy="0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385873" y="2056529"/>
            <a:ext cx="0" cy="211908"/>
          </a:xfrm>
          <a:prstGeom prst="line">
            <a:avLst/>
          </a:prstGeom>
          <a:ln w="14952">
            <a:solidFill>
              <a:srgbClr val="C6D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060875" y="2268437"/>
            <a:ext cx="0" cy="211909"/>
          </a:xfrm>
          <a:prstGeom prst="line">
            <a:avLst/>
          </a:prstGeom>
          <a:ln w="15102">
            <a:solidFill>
              <a:srgbClr val="C5D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710870" y="2056529"/>
            <a:ext cx="0" cy="211908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6410880" y="1420803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6410880" y="1632712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6410880" y="1844620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6410880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7060875" y="2056529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6410880" y="2268437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6410880" y="2480346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8360865" y="1420803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360865" y="1632712"/>
            <a:ext cx="324998" cy="0"/>
          </a:xfrm>
          <a:prstGeom prst="line">
            <a:avLst/>
          </a:prstGeom>
          <a:ln w="16450">
            <a:solidFill>
              <a:srgbClr val="BCD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60875" y="1420803"/>
            <a:ext cx="0" cy="211909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035868" y="2268437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85873" y="2268437"/>
            <a:ext cx="324997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360865" y="2480346"/>
            <a:ext cx="324998" cy="0"/>
          </a:xfrm>
          <a:prstGeom prst="line">
            <a:avLst/>
          </a:prstGeom>
          <a:ln w="18247">
            <a:solidFill>
              <a:srgbClr val="AFC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360865" y="2056529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360865" y="1420803"/>
            <a:ext cx="0" cy="211909"/>
          </a:xfrm>
          <a:prstGeom prst="line">
            <a:avLst/>
          </a:prstGeom>
          <a:ln w="19595">
            <a:solidFill>
              <a:srgbClr val="AEC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7060875" y="1420803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7060875" y="1632712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710870" y="2268437"/>
            <a:ext cx="324998" cy="0"/>
          </a:xfrm>
          <a:prstGeom prst="line">
            <a:avLst/>
          </a:prstGeom>
          <a:ln w="20044">
            <a:solidFill>
              <a:srgbClr val="B3CA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6735878" y="1420803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6735878" y="1632712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6735878" y="1844620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6735878" y="2056529"/>
            <a:ext cx="324997" cy="0"/>
          </a:xfrm>
          <a:prstGeom prst="line">
            <a:avLst/>
          </a:prstGeom>
          <a:ln w="20343">
            <a:solidFill>
              <a:srgbClr val="B5CA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360865" y="2268437"/>
            <a:ext cx="0" cy="211909"/>
          </a:xfrm>
          <a:prstGeom prst="line">
            <a:avLst/>
          </a:prstGeom>
          <a:ln w="20793">
            <a:solidFill>
              <a:srgbClr val="BACA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035868" y="1420803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8035868" y="1632712"/>
            <a:ext cx="324997" cy="0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8685863" y="1420803"/>
            <a:ext cx="0" cy="211909"/>
          </a:xfrm>
          <a:prstGeom prst="line">
            <a:avLst/>
          </a:prstGeom>
          <a:ln w="21092">
            <a:solidFill>
              <a:srgbClr val="BDC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7060875" y="1632712"/>
            <a:ext cx="0" cy="211908"/>
          </a:xfrm>
          <a:prstGeom prst="line">
            <a:avLst/>
          </a:prstGeom>
          <a:ln w="21542">
            <a:solidFill>
              <a:srgbClr val="C1CB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8685863" y="2268437"/>
            <a:ext cx="0" cy="211909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6735878" y="2268437"/>
            <a:ext cx="0" cy="211909"/>
          </a:xfrm>
          <a:prstGeom prst="line">
            <a:avLst/>
          </a:prstGeom>
          <a:ln w="22590">
            <a:solidFill>
              <a:srgbClr val="CBC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8035868" y="1420803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8035868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8035868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7385873" y="1420803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7385873" y="1632712"/>
            <a:ext cx="324997" cy="0"/>
          </a:xfrm>
          <a:prstGeom prst="line">
            <a:avLst/>
          </a:prstGeom>
          <a:ln w="24836">
            <a:solidFill>
              <a:srgbClr val="E0CE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8360865" y="1632712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8360865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8035868" y="2056529"/>
            <a:ext cx="324997" cy="0"/>
          </a:xfrm>
          <a:prstGeom prst="line">
            <a:avLst/>
          </a:prstGeom>
          <a:ln w="26334">
            <a:solidFill>
              <a:srgbClr val="EFC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8360865" y="1844620"/>
            <a:ext cx="0" cy="211909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8685863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8685863" y="2056529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8035868" y="2056529"/>
            <a:ext cx="0" cy="211908"/>
          </a:xfrm>
          <a:prstGeom prst="line">
            <a:avLst/>
          </a:prstGeom>
          <a:ln w="28730">
            <a:solidFill>
              <a:srgbClr val="EEBA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7710870" y="1420803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7710870" y="1632712"/>
            <a:ext cx="324998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8685863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6735878" y="2480346"/>
            <a:ext cx="324997" cy="0"/>
          </a:xfrm>
          <a:prstGeom prst="line">
            <a:avLst/>
          </a:prstGeom>
          <a:ln w="30527">
            <a:solidFill>
              <a:srgbClr val="EBA8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7060875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7385873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7710870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035868" y="1632712"/>
            <a:ext cx="0" cy="211908"/>
          </a:xfrm>
          <a:prstGeom prst="line">
            <a:avLst/>
          </a:prstGeom>
          <a:ln w="33523">
            <a:solidFill>
              <a:srgbClr val="E68A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7060875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035868" y="1844620"/>
            <a:ext cx="0" cy="211909"/>
          </a:xfrm>
          <a:prstGeom prst="line">
            <a:avLst/>
          </a:prstGeom>
          <a:ln w="34871">
            <a:solidFill>
              <a:srgbClr val="E17B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7710870" y="2056529"/>
            <a:ext cx="324998" cy="0"/>
          </a:xfrm>
          <a:prstGeom prst="line">
            <a:avLst/>
          </a:prstGeom>
          <a:ln w="36518">
            <a:solidFill>
              <a:srgbClr val="D566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7385873" y="2056529"/>
            <a:ext cx="324997" cy="0"/>
          </a:xfrm>
          <a:prstGeom prst="line">
            <a:avLst/>
          </a:prstGeom>
          <a:ln w="39064">
            <a:solidFill>
              <a:srgbClr val="C346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7060875" y="2056529"/>
            <a:ext cx="324998" cy="0"/>
          </a:xfrm>
          <a:prstGeom prst="line">
            <a:avLst/>
          </a:prstGeom>
          <a:ln w="40711">
            <a:solidFill>
              <a:srgbClr val="B73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6735878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876126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637909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6704091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702908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7354086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767908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800408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832907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865407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637909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6704091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702908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7354086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767908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800408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832907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865407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6379094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6704091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702908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800408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832907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865407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637909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6704091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702908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7354086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767908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800408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832907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865407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637909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6704091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702908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7354086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767908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800408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832907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865407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637909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6704091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702908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7354086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767908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800408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832907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865407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1" name="Connector 400"/>
          <p:cNvCxnSpPr/>
          <p:nvPr/>
        </p:nvCxnSpPr>
        <p:spPr>
          <a:xfrm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7354086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767908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5" name="5-Point Star 404"/>
          <p:cNvSpPr/>
          <p:nvPr/>
        </p:nvSpPr>
        <p:spPr>
          <a:xfrm>
            <a:off x="8606397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TextBox 405"/>
          <p:cNvSpPr txBox="1"/>
          <p:nvPr/>
        </p:nvSpPr>
        <p:spPr>
          <a:xfrm>
            <a:off x="6199632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★ = 根 (7,5)；零牺牲 41/44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6199632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C7000B"/>
                </a:solidFill>
                <a:latin typeface="Microsoft YaHei"/>
              </a:rPr>
              <a:t>峰值 204 = 1.93× 割界（走廊拥塞）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098280" y="1453895"/>
            <a:ext cx="2697480" cy="1389888"/>
          </a:xfrm>
          <a:prstGeom prst="rect">
            <a:avLst/>
          </a:prstGeom>
          <a:solidFill>
            <a:srgbClr val="FDFDFE"/>
          </a:solidFill>
          <a:ln w="6350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09" name="TextBox 408"/>
          <p:cNvSpPr txBox="1"/>
          <p:nvPr/>
        </p:nvSpPr>
        <p:spPr>
          <a:xfrm>
            <a:off x="9098280" y="126187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E7F4F"/>
                </a:solidFill>
                <a:latin typeface="Microsoft YaHei"/>
              </a:rPr>
              <a:t>M3′ + min-max 选路，同一残图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10284521" y="1420803"/>
            <a:ext cx="0" cy="211909"/>
          </a:xfrm>
          <a:prstGeom prst="line">
            <a:avLst/>
          </a:prstGeom>
          <a:ln w="11358">
            <a:solidFill>
              <a:srgbClr val="E0E9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0609518" y="1420803"/>
            <a:ext cx="0" cy="211909"/>
          </a:xfrm>
          <a:prstGeom prst="line">
            <a:avLst/>
          </a:prstGeom>
          <a:ln w="12106">
            <a:solidFill>
              <a:srgbClr val="DBE6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259513" y="1844620"/>
            <a:ext cx="324998" cy="0"/>
          </a:xfrm>
          <a:prstGeom prst="line">
            <a:avLst/>
          </a:prstGeom>
          <a:ln w="12406">
            <a:solidFill>
              <a:srgbClr val="D9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0934516" y="1844620"/>
            <a:ext cx="324997" cy="0"/>
          </a:xfrm>
          <a:prstGeom prst="line">
            <a:avLst/>
          </a:prstGeom>
          <a:ln w="12556">
            <a:solidFill>
              <a:srgbClr val="D8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9309528" y="1420803"/>
            <a:ext cx="0" cy="211909"/>
          </a:xfrm>
          <a:prstGeom prst="line">
            <a:avLst/>
          </a:prstGeom>
          <a:ln w="13005">
            <a:solidFill>
              <a:srgbClr val="D5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9634526" y="1420803"/>
            <a:ext cx="0" cy="211909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9634526" y="2056529"/>
            <a:ext cx="0" cy="211908"/>
          </a:xfrm>
          <a:prstGeom prst="line">
            <a:avLst/>
          </a:prstGeom>
          <a:ln w="13604">
            <a:solidFill>
              <a:srgbClr val="D0E0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0284521" y="2268437"/>
            <a:ext cx="0" cy="211909"/>
          </a:xfrm>
          <a:prstGeom prst="line">
            <a:avLst/>
          </a:prstGeom>
          <a:ln w="13904">
            <a:solidFill>
              <a:srgbClr val="CEDE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9309528" y="1420803"/>
            <a:ext cx="324998" cy="0"/>
          </a:xfrm>
          <a:prstGeom prst="line">
            <a:avLst/>
          </a:prstGeom>
          <a:ln w="14053">
            <a:solidFill>
              <a:srgbClr val="CDDE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9959523" y="1420803"/>
            <a:ext cx="0" cy="211909"/>
          </a:xfrm>
          <a:prstGeom prst="line">
            <a:avLst/>
          </a:prstGeom>
          <a:ln w="14203">
            <a:solidFill>
              <a:srgbClr val="CC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9309528" y="1632712"/>
            <a:ext cx="324998" cy="0"/>
          </a:xfrm>
          <a:prstGeom prst="line">
            <a:avLst/>
          </a:prstGeom>
          <a:ln w="14353">
            <a:solidFill>
              <a:srgbClr val="CBDD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9309528" y="2056529"/>
            <a:ext cx="0" cy="211908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0609518" y="2268437"/>
            <a:ext cx="0" cy="211909"/>
          </a:xfrm>
          <a:prstGeom prst="line">
            <a:avLst/>
          </a:prstGeom>
          <a:ln w="14503">
            <a:solidFill>
              <a:srgbClr val="CAD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9309528" y="2268437"/>
            <a:ext cx="0" cy="211909"/>
          </a:xfrm>
          <a:prstGeom prst="line">
            <a:avLst/>
          </a:prstGeom>
          <a:ln w="14652">
            <a:solidFill>
              <a:srgbClr val="C9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9959523" y="2268437"/>
            <a:ext cx="0" cy="211909"/>
          </a:xfrm>
          <a:prstGeom prst="line">
            <a:avLst/>
          </a:prstGeom>
          <a:ln w="14802">
            <a:solidFill>
              <a:srgbClr val="C8DB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9309528" y="1632712"/>
            <a:ext cx="0" cy="211908"/>
          </a:xfrm>
          <a:prstGeom prst="line">
            <a:avLst/>
          </a:prstGeom>
          <a:ln w="15251">
            <a:solidFill>
              <a:srgbClr val="C4D9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9309528" y="1844620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9309528" y="2268437"/>
            <a:ext cx="324998" cy="0"/>
          </a:xfrm>
          <a:prstGeom prst="line">
            <a:avLst/>
          </a:prstGeom>
          <a:ln w="15551">
            <a:solidFill>
              <a:srgbClr val="C2D8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9634526" y="1632712"/>
            <a:ext cx="0" cy="211908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9309528" y="1844620"/>
            <a:ext cx="0" cy="211909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259513" y="2056529"/>
            <a:ext cx="324998" cy="0"/>
          </a:xfrm>
          <a:prstGeom prst="line">
            <a:avLst/>
          </a:prstGeom>
          <a:ln w="16150">
            <a:solidFill>
              <a:srgbClr val="BED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1259513" y="1420803"/>
            <a:ext cx="324998" cy="0"/>
          </a:xfrm>
          <a:prstGeom prst="line">
            <a:avLst/>
          </a:prstGeom>
          <a:ln w="16300">
            <a:solidFill>
              <a:srgbClr val="BDD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1259513" y="1632712"/>
            <a:ext cx="324998" cy="0"/>
          </a:xfrm>
          <a:prstGeom prst="line">
            <a:avLst/>
          </a:prstGeom>
          <a:ln w="16599">
            <a:solidFill>
              <a:srgbClr val="BB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609518" y="2056529"/>
            <a:ext cx="0" cy="211908"/>
          </a:xfrm>
          <a:prstGeom prst="line">
            <a:avLst/>
          </a:prstGeom>
          <a:ln w="16899">
            <a:solidFill>
              <a:srgbClr val="B8D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9959523" y="1632712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284521" y="2056529"/>
            <a:ext cx="0" cy="211908"/>
          </a:xfrm>
          <a:prstGeom prst="line">
            <a:avLst/>
          </a:prstGeom>
          <a:ln w="17049">
            <a:solidFill>
              <a:srgbClr val="B7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9634526" y="1420803"/>
            <a:ext cx="324997" cy="0"/>
          </a:xfrm>
          <a:prstGeom prst="line">
            <a:avLst/>
          </a:prstGeom>
          <a:ln w="17198">
            <a:solidFill>
              <a:srgbClr val="B6D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9634526" y="1632712"/>
            <a:ext cx="324997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1259513" y="2268437"/>
            <a:ext cx="324998" cy="0"/>
          </a:xfrm>
          <a:prstGeom prst="line">
            <a:avLst/>
          </a:prstGeom>
          <a:ln w="17348">
            <a:solidFill>
              <a:srgbClr val="B5D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9309528" y="2056529"/>
            <a:ext cx="324998" cy="0"/>
          </a:xfrm>
          <a:prstGeom prst="line">
            <a:avLst/>
          </a:prstGeom>
          <a:ln w="17648">
            <a:solidFill>
              <a:srgbClr val="B3CF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9634526" y="1844620"/>
            <a:ext cx="324997" cy="0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9634526" y="1844620"/>
            <a:ext cx="0" cy="211909"/>
          </a:xfrm>
          <a:prstGeom prst="line">
            <a:avLst/>
          </a:prstGeom>
          <a:ln w="18097">
            <a:solidFill>
              <a:srgbClr val="B0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1259513" y="2480346"/>
            <a:ext cx="324998" cy="0"/>
          </a:xfrm>
          <a:prstGeom prst="line">
            <a:avLst/>
          </a:prstGeom>
          <a:ln w="18696">
            <a:solidFill>
              <a:srgbClr val="ACCA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9959523" y="1632712"/>
            <a:ext cx="324998" cy="0"/>
          </a:xfrm>
          <a:prstGeom prst="line">
            <a:avLst/>
          </a:prstGeom>
          <a:ln w="19145">
            <a:solidFill>
              <a:srgbClr val="AAC9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9959523" y="1420803"/>
            <a:ext cx="324998" cy="0"/>
          </a:xfrm>
          <a:prstGeom prst="line">
            <a:avLst/>
          </a:prstGeom>
          <a:ln w="19445">
            <a:solidFill>
              <a:srgbClr val="ADC9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9634526" y="2268437"/>
            <a:ext cx="0" cy="211909"/>
          </a:xfrm>
          <a:prstGeom prst="line">
            <a:avLst/>
          </a:prstGeom>
          <a:ln w="19744">
            <a:solidFill>
              <a:srgbClr val="B0C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9309528" y="2480346"/>
            <a:ext cx="324998" cy="0"/>
          </a:xfrm>
          <a:prstGeom prst="line">
            <a:avLst/>
          </a:prstGeom>
          <a:ln w="19894">
            <a:solidFill>
              <a:srgbClr val="B1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0934516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259513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584511" y="1420803"/>
            <a:ext cx="0" cy="211909"/>
          </a:xfrm>
          <a:prstGeom prst="line">
            <a:avLst/>
          </a:prstGeom>
          <a:ln w="20943">
            <a:solidFill>
              <a:srgbClr val="BBCA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259513" y="2268437"/>
            <a:ext cx="0" cy="211909"/>
          </a:xfrm>
          <a:prstGeom prst="line">
            <a:avLst/>
          </a:prstGeom>
          <a:ln w="21242">
            <a:solidFill>
              <a:srgbClr val="BECB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584511" y="2268437"/>
            <a:ext cx="0" cy="211909"/>
          </a:xfrm>
          <a:prstGeom prst="line">
            <a:avLst/>
          </a:prstGeom>
          <a:ln w="21841">
            <a:solidFill>
              <a:srgbClr val="C4CB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0934516" y="1420803"/>
            <a:ext cx="324997" cy="0"/>
          </a:xfrm>
          <a:prstGeom prst="line">
            <a:avLst/>
          </a:prstGeom>
          <a:ln w="22141">
            <a:solidFill>
              <a:srgbClr val="C7CB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0934516" y="1632712"/>
            <a:ext cx="324997" cy="0"/>
          </a:xfrm>
          <a:prstGeom prst="line">
            <a:avLst/>
          </a:prstGeom>
          <a:ln w="22290">
            <a:solidFill>
              <a:srgbClr val="C8CC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0934516" y="2268437"/>
            <a:ext cx="324997" cy="0"/>
          </a:xfrm>
          <a:prstGeom prst="line">
            <a:avLst/>
          </a:prstGeom>
          <a:ln w="23189">
            <a:solidFill>
              <a:srgbClr val="D1CC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0934516" y="2056529"/>
            <a:ext cx="324997" cy="0"/>
          </a:xfrm>
          <a:prstGeom prst="line">
            <a:avLst/>
          </a:prstGeom>
          <a:ln w="23339">
            <a:solidFill>
              <a:srgbClr val="D2C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0934516" y="2268437"/>
            <a:ext cx="0" cy="211909"/>
          </a:xfrm>
          <a:prstGeom prst="line">
            <a:avLst/>
          </a:prstGeom>
          <a:ln w="23489">
            <a:solidFill>
              <a:srgbClr val="D4C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0284521" y="1420803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10284521" y="1632712"/>
            <a:ext cx="324997" cy="0"/>
          </a:xfrm>
          <a:prstGeom prst="line">
            <a:avLst/>
          </a:prstGeom>
          <a:ln w="24088">
            <a:solidFill>
              <a:srgbClr val="D9C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0934516" y="2480346"/>
            <a:ext cx="324997" cy="0"/>
          </a:xfrm>
          <a:prstGeom prst="line">
            <a:avLst/>
          </a:prstGeom>
          <a:ln w="24537">
            <a:solidFill>
              <a:srgbClr val="DEC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11259513" y="2056529"/>
            <a:ext cx="0" cy="211908"/>
          </a:xfrm>
          <a:prstGeom prst="line">
            <a:avLst/>
          </a:prstGeom>
          <a:ln w="24986">
            <a:solidFill>
              <a:srgbClr val="E2CE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11584511" y="2056529"/>
            <a:ext cx="0" cy="211908"/>
          </a:xfrm>
          <a:prstGeom prst="line">
            <a:avLst/>
          </a:prstGeom>
          <a:ln w="25136">
            <a:solidFill>
              <a:srgbClr val="E3C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10934516" y="2056529"/>
            <a:ext cx="0" cy="211908"/>
          </a:xfrm>
          <a:prstGeom prst="line">
            <a:avLst/>
          </a:prstGeom>
          <a:ln w="25435">
            <a:solidFill>
              <a:srgbClr val="E6C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959523" y="2268437"/>
            <a:ext cx="324998" cy="0"/>
          </a:xfrm>
          <a:prstGeom prst="line">
            <a:avLst/>
          </a:prstGeom>
          <a:ln w="25885">
            <a:solidFill>
              <a:srgbClr val="EACE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959523" y="2056529"/>
            <a:ext cx="0" cy="211908"/>
          </a:xfrm>
          <a:prstGeom prst="line">
            <a:avLst/>
          </a:prstGeom>
          <a:ln w="26783">
            <a:solidFill>
              <a:srgbClr val="F2CE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11584511" y="1632712"/>
            <a:ext cx="0" cy="211908"/>
          </a:xfrm>
          <a:prstGeom prst="line">
            <a:avLst/>
          </a:prstGeom>
          <a:ln w="27532">
            <a:solidFill>
              <a:srgbClr val="F1C6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609518" y="1420803"/>
            <a:ext cx="324998" cy="0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1259513" y="1632712"/>
            <a:ext cx="0" cy="211908"/>
          </a:xfrm>
          <a:prstGeom prst="line">
            <a:avLst/>
          </a:prstGeom>
          <a:ln w="27682">
            <a:solidFill>
              <a:srgbClr val="F0C5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9634526" y="2056529"/>
            <a:ext cx="324997" cy="0"/>
          </a:xfrm>
          <a:prstGeom prst="line">
            <a:avLst/>
          </a:prstGeom>
          <a:ln w="27981">
            <a:solidFill>
              <a:srgbClr val="F0C2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9959523" y="1844620"/>
            <a:ext cx="0" cy="211909"/>
          </a:xfrm>
          <a:prstGeom prst="line">
            <a:avLst/>
          </a:prstGeom>
          <a:ln w="28131">
            <a:solidFill>
              <a:srgbClr val="F0C0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609518" y="1632712"/>
            <a:ext cx="324998" cy="0"/>
          </a:xfrm>
          <a:prstGeom prst="line">
            <a:avLst/>
          </a:prstGeom>
          <a:ln w="28880">
            <a:solidFill>
              <a:srgbClr val="EEB9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0284521" y="2268437"/>
            <a:ext cx="324997" cy="0"/>
          </a:xfrm>
          <a:prstGeom prst="line">
            <a:avLst/>
          </a:prstGeom>
          <a:ln w="29030">
            <a:solidFill>
              <a:srgbClr val="EEB7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259513" y="1844620"/>
            <a:ext cx="0" cy="211909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0609518" y="2056529"/>
            <a:ext cx="324998" cy="0"/>
          </a:xfrm>
          <a:prstGeom prst="line">
            <a:avLst/>
          </a:prstGeom>
          <a:ln w="29329">
            <a:solidFill>
              <a:srgbClr val="EDB4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0934516" y="1632712"/>
            <a:ext cx="0" cy="211908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1584511" y="1844620"/>
            <a:ext cx="0" cy="211909"/>
          </a:xfrm>
          <a:prstGeom prst="line">
            <a:avLst/>
          </a:prstGeom>
          <a:ln w="29479">
            <a:solidFill>
              <a:srgbClr val="EDB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0284521" y="2056529"/>
            <a:ext cx="324997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0609518" y="2268437"/>
            <a:ext cx="324998" cy="0"/>
          </a:xfrm>
          <a:prstGeom prst="line">
            <a:avLst/>
          </a:prstGeom>
          <a:ln w="29779">
            <a:solidFill>
              <a:srgbClr val="EDB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0934516" y="1844620"/>
            <a:ext cx="0" cy="211909"/>
          </a:xfrm>
          <a:prstGeom prst="line">
            <a:avLst/>
          </a:prstGeom>
          <a:ln w="30977">
            <a:solidFill>
              <a:srgbClr val="EBA3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9959523" y="2480346"/>
            <a:ext cx="324998" cy="0"/>
          </a:xfrm>
          <a:prstGeom prst="line">
            <a:avLst/>
          </a:prstGeom>
          <a:ln w="31126">
            <a:solidFill>
              <a:srgbClr val="EAA2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9634526" y="2480346"/>
            <a:ext cx="324997" cy="0"/>
          </a:xfrm>
          <a:prstGeom prst="line">
            <a:avLst/>
          </a:prstGeom>
          <a:ln w="31426">
            <a:solidFill>
              <a:srgbClr val="EA9F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9959523" y="2056529"/>
            <a:ext cx="324998" cy="0"/>
          </a:xfrm>
          <a:prstGeom prst="line">
            <a:avLst/>
          </a:prstGeom>
          <a:ln w="31576">
            <a:solidFill>
              <a:srgbClr val="EA9D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0284521" y="2480346"/>
            <a:ext cx="324997" cy="0"/>
          </a:xfrm>
          <a:prstGeom prst="line">
            <a:avLst/>
          </a:prstGeom>
          <a:ln w="32624">
            <a:solidFill>
              <a:srgbClr val="E893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0609518" y="2480346"/>
            <a:ext cx="324998" cy="0"/>
          </a:xfrm>
          <a:prstGeom prst="line">
            <a:avLst/>
          </a:prstGeom>
          <a:ln w="33223">
            <a:solidFill>
              <a:srgbClr val="E78D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34526" y="2268437"/>
            <a:ext cx="324997" cy="0"/>
          </a:xfrm>
          <a:prstGeom prst="line">
            <a:avLst/>
          </a:prstGeom>
          <a:ln w="11430">
            <a:solidFill>
              <a:srgbClr val="9AA5B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9774774" y="2246187"/>
            <a:ext cx="44501" cy="44501"/>
          </a:xfrm>
          <a:prstGeom prst="line">
            <a:avLst/>
          </a:prstGeom>
          <a:ln w="11430">
            <a:solidFill>
              <a:srgbClr val="C700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7" name="Oval 486"/>
          <p:cNvSpPr/>
          <p:nvPr/>
        </p:nvSpPr>
        <p:spPr>
          <a:xfrm>
            <a:off x="927774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9602739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992773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0252734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0577732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10902730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11227727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Oval 493"/>
          <p:cNvSpPr/>
          <p:nvPr/>
        </p:nvSpPr>
        <p:spPr>
          <a:xfrm>
            <a:off x="11552725" y="1389017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27774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9602739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/>
          <p:cNvSpPr/>
          <p:nvPr/>
        </p:nvSpPr>
        <p:spPr>
          <a:xfrm>
            <a:off x="992773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252734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577732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Oval 499"/>
          <p:cNvSpPr/>
          <p:nvPr/>
        </p:nvSpPr>
        <p:spPr>
          <a:xfrm>
            <a:off x="10902730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227727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52725" y="1600925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502"/>
          <p:cNvSpPr/>
          <p:nvPr/>
        </p:nvSpPr>
        <p:spPr>
          <a:xfrm>
            <a:off x="9277742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503"/>
          <p:cNvSpPr/>
          <p:nvPr/>
        </p:nvSpPr>
        <p:spPr>
          <a:xfrm>
            <a:off x="9602739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504"/>
          <p:cNvSpPr/>
          <p:nvPr/>
        </p:nvSpPr>
        <p:spPr>
          <a:xfrm>
            <a:off x="992773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505"/>
          <p:cNvSpPr/>
          <p:nvPr/>
        </p:nvSpPr>
        <p:spPr>
          <a:xfrm>
            <a:off x="10902730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506"/>
          <p:cNvSpPr/>
          <p:nvPr/>
        </p:nvSpPr>
        <p:spPr>
          <a:xfrm>
            <a:off x="11227727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507"/>
          <p:cNvSpPr/>
          <p:nvPr/>
        </p:nvSpPr>
        <p:spPr>
          <a:xfrm>
            <a:off x="11552725" y="1812834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9" name="Oval 508"/>
          <p:cNvSpPr/>
          <p:nvPr/>
        </p:nvSpPr>
        <p:spPr>
          <a:xfrm>
            <a:off x="927774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Oval 509"/>
          <p:cNvSpPr/>
          <p:nvPr/>
        </p:nvSpPr>
        <p:spPr>
          <a:xfrm>
            <a:off x="9602739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Oval 510"/>
          <p:cNvSpPr/>
          <p:nvPr/>
        </p:nvSpPr>
        <p:spPr>
          <a:xfrm>
            <a:off x="992773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Oval 511"/>
          <p:cNvSpPr/>
          <p:nvPr/>
        </p:nvSpPr>
        <p:spPr>
          <a:xfrm>
            <a:off x="10252734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Oval 512"/>
          <p:cNvSpPr/>
          <p:nvPr/>
        </p:nvSpPr>
        <p:spPr>
          <a:xfrm>
            <a:off x="10577732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4" name="Oval 513"/>
          <p:cNvSpPr/>
          <p:nvPr/>
        </p:nvSpPr>
        <p:spPr>
          <a:xfrm>
            <a:off x="10902730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514"/>
          <p:cNvSpPr/>
          <p:nvPr/>
        </p:nvSpPr>
        <p:spPr>
          <a:xfrm>
            <a:off x="11227727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6" name="Oval 515"/>
          <p:cNvSpPr/>
          <p:nvPr/>
        </p:nvSpPr>
        <p:spPr>
          <a:xfrm>
            <a:off x="11552725" y="2024742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7" name="Oval 516"/>
          <p:cNvSpPr/>
          <p:nvPr/>
        </p:nvSpPr>
        <p:spPr>
          <a:xfrm>
            <a:off x="927774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/>
          <p:cNvSpPr/>
          <p:nvPr/>
        </p:nvSpPr>
        <p:spPr>
          <a:xfrm>
            <a:off x="9602739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/>
          <p:cNvSpPr/>
          <p:nvPr/>
        </p:nvSpPr>
        <p:spPr>
          <a:xfrm>
            <a:off x="992773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/>
          <p:cNvSpPr/>
          <p:nvPr/>
        </p:nvSpPr>
        <p:spPr>
          <a:xfrm>
            <a:off x="10252734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/>
          <p:cNvSpPr/>
          <p:nvPr/>
        </p:nvSpPr>
        <p:spPr>
          <a:xfrm>
            <a:off x="10577732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/>
          <p:cNvSpPr/>
          <p:nvPr/>
        </p:nvSpPr>
        <p:spPr>
          <a:xfrm>
            <a:off x="10902730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/>
          <p:cNvSpPr/>
          <p:nvPr/>
        </p:nvSpPr>
        <p:spPr>
          <a:xfrm>
            <a:off x="11227727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Oval 523"/>
          <p:cNvSpPr/>
          <p:nvPr/>
        </p:nvSpPr>
        <p:spPr>
          <a:xfrm>
            <a:off x="11552725" y="2236651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524"/>
          <p:cNvSpPr/>
          <p:nvPr/>
        </p:nvSpPr>
        <p:spPr>
          <a:xfrm>
            <a:off x="927774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Oval 525"/>
          <p:cNvSpPr/>
          <p:nvPr/>
        </p:nvSpPr>
        <p:spPr>
          <a:xfrm>
            <a:off x="9602739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Oval 526"/>
          <p:cNvSpPr/>
          <p:nvPr/>
        </p:nvSpPr>
        <p:spPr>
          <a:xfrm>
            <a:off x="992773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Oval 527"/>
          <p:cNvSpPr/>
          <p:nvPr/>
        </p:nvSpPr>
        <p:spPr>
          <a:xfrm>
            <a:off x="10252734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Oval 528"/>
          <p:cNvSpPr/>
          <p:nvPr/>
        </p:nvSpPr>
        <p:spPr>
          <a:xfrm>
            <a:off x="10577732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Oval 529"/>
          <p:cNvSpPr/>
          <p:nvPr/>
        </p:nvSpPr>
        <p:spPr>
          <a:xfrm>
            <a:off x="10902730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Oval 530"/>
          <p:cNvSpPr/>
          <p:nvPr/>
        </p:nvSpPr>
        <p:spPr>
          <a:xfrm>
            <a:off x="11227727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Oval 531"/>
          <p:cNvSpPr/>
          <p:nvPr/>
        </p:nvSpPr>
        <p:spPr>
          <a:xfrm>
            <a:off x="11552725" y="2448560"/>
            <a:ext cx="63572" cy="63572"/>
          </a:xfrm>
          <a:prstGeom prst="ellipse">
            <a:avLst/>
          </a:prstGeom>
          <a:solidFill>
            <a:srgbClr val="8C9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3" name="Connector 532"/>
          <p:cNvCxnSpPr/>
          <p:nvPr/>
        </p:nvCxnSpPr>
        <p:spPr>
          <a:xfrm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 flipV="1">
            <a:off x="10252734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 flipV="1">
            <a:off x="10577732" y="1812834"/>
            <a:ext cx="63573" cy="63572"/>
          </a:xfrm>
          <a:prstGeom prst="line">
            <a:avLst/>
          </a:prstGeom>
          <a:ln w="13970">
            <a:solidFill>
              <a:srgbClr val="6E7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7" name="5-Point Star 536"/>
          <p:cNvSpPr/>
          <p:nvPr/>
        </p:nvSpPr>
        <p:spPr>
          <a:xfrm>
            <a:off x="11505045" y="2400880"/>
            <a:ext cx="158931" cy="158931"/>
          </a:xfrm>
          <a:prstGeom prst="star5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TextBox 537"/>
          <p:cNvSpPr txBox="1"/>
          <p:nvPr/>
        </p:nvSpPr>
        <p:spPr>
          <a:xfrm>
            <a:off x="9098280" y="2798064"/>
            <a:ext cx="2697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0">
                <a:solidFill>
                  <a:srgbClr val="5A6673"/>
                </a:solidFill>
                <a:latin typeface="Microsoft YaHei"/>
              </a:rPr>
              <a:t>同一转向集内换路径，容错不变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9098280" y="2999232"/>
            <a:ext cx="2697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30" b="1">
                <a:solidFill>
                  <a:srgbClr val="1E7F4F"/>
                </a:solidFill>
                <a:latin typeface="Microsoft YaHei"/>
              </a:rPr>
              <a:t>峰值 154 = 1.45× 割界（−25%）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603504" y="3273552"/>
            <a:ext cx="67619" cy="109728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1" name="Rectangle 540"/>
          <p:cNvSpPr/>
          <p:nvPr/>
        </p:nvSpPr>
        <p:spPr>
          <a:xfrm>
            <a:off x="669798" y="3273552"/>
            <a:ext cx="67619" cy="109728"/>
          </a:xfrm>
          <a:prstGeom prst="rect">
            <a:avLst/>
          </a:prstGeom>
          <a:solidFill>
            <a:srgbClr val="E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2" name="Rectangle 541"/>
          <p:cNvSpPr/>
          <p:nvPr/>
        </p:nvSpPr>
        <p:spPr>
          <a:xfrm>
            <a:off x="736092" y="3273552"/>
            <a:ext cx="67619" cy="109728"/>
          </a:xfrm>
          <a:prstGeom prst="rect">
            <a:avLst/>
          </a:prstGeom>
          <a:solidFill>
            <a:srgbClr val="DD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3" name="Rectangle 542"/>
          <p:cNvSpPr/>
          <p:nvPr/>
        </p:nvSpPr>
        <p:spPr>
          <a:xfrm>
            <a:off x="802386" y="3273552"/>
            <a:ext cx="67619" cy="109728"/>
          </a:xfrm>
          <a:prstGeom prst="rect">
            <a:avLst/>
          </a:prstGeom>
          <a:solidFill>
            <a:srgbClr val="D7E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4" name="Rectangle 543"/>
          <p:cNvSpPr/>
          <p:nvPr/>
        </p:nvSpPr>
        <p:spPr>
          <a:xfrm>
            <a:off x="868680" y="3273552"/>
            <a:ext cx="67619" cy="109728"/>
          </a:xfrm>
          <a:prstGeom prst="rect">
            <a:avLst/>
          </a:prstGeom>
          <a:solidFill>
            <a:srgbClr val="D2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5" name="Rectangle 544"/>
          <p:cNvSpPr/>
          <p:nvPr/>
        </p:nvSpPr>
        <p:spPr>
          <a:xfrm>
            <a:off x="934974" y="3273552"/>
            <a:ext cx="67619" cy="109728"/>
          </a:xfrm>
          <a:prstGeom prst="rect">
            <a:avLst/>
          </a:prstGeom>
          <a:solidFill>
            <a:srgbClr val="CCD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6" name="Rectangle 545"/>
          <p:cNvSpPr/>
          <p:nvPr/>
        </p:nvSpPr>
        <p:spPr>
          <a:xfrm>
            <a:off x="1001268" y="3273552"/>
            <a:ext cx="67619" cy="109728"/>
          </a:xfrm>
          <a:prstGeom prst="rect">
            <a:avLst/>
          </a:prstGeom>
          <a:solidFill>
            <a:srgbClr val="C6D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7" name="Rectangle 546"/>
          <p:cNvSpPr/>
          <p:nvPr/>
        </p:nvSpPr>
        <p:spPr>
          <a:xfrm>
            <a:off x="1067562" y="3273552"/>
            <a:ext cx="67619" cy="109728"/>
          </a:xfrm>
          <a:prstGeom prst="rect">
            <a:avLst/>
          </a:prstGeom>
          <a:solidFill>
            <a:srgbClr val="C0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8" name="Rectangle 547"/>
          <p:cNvSpPr/>
          <p:nvPr/>
        </p:nvSpPr>
        <p:spPr>
          <a:xfrm>
            <a:off x="1133856" y="3273552"/>
            <a:ext cx="67619" cy="109728"/>
          </a:xfrm>
          <a:prstGeom prst="rect">
            <a:avLst/>
          </a:prstGeom>
          <a:solidFill>
            <a:srgbClr val="BAD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49" name="Rectangle 548"/>
          <p:cNvSpPr/>
          <p:nvPr/>
        </p:nvSpPr>
        <p:spPr>
          <a:xfrm>
            <a:off x="1200150" y="3273552"/>
            <a:ext cx="67619" cy="109728"/>
          </a:xfrm>
          <a:prstGeom prst="rect">
            <a:avLst/>
          </a:prstGeom>
          <a:solidFill>
            <a:srgbClr val="B4D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0" name="Rectangle 549"/>
          <p:cNvSpPr/>
          <p:nvPr/>
        </p:nvSpPr>
        <p:spPr>
          <a:xfrm>
            <a:off x="1266444" y="3273552"/>
            <a:ext cx="67619" cy="109728"/>
          </a:xfrm>
          <a:prstGeom prst="rect">
            <a:avLst/>
          </a:prstGeom>
          <a:solidFill>
            <a:srgbClr val="AEC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1" name="Rectangle 550"/>
          <p:cNvSpPr/>
          <p:nvPr/>
        </p:nvSpPr>
        <p:spPr>
          <a:xfrm>
            <a:off x="1332738" y="3273552"/>
            <a:ext cx="67619" cy="109728"/>
          </a:xfrm>
          <a:prstGeom prst="rect">
            <a:avLst/>
          </a:prstGeom>
          <a:solidFill>
            <a:srgbClr val="A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2" name="Rectangle 551"/>
          <p:cNvSpPr/>
          <p:nvPr/>
        </p:nvSpPr>
        <p:spPr>
          <a:xfrm>
            <a:off x="1399031" y="3273552"/>
            <a:ext cx="67619" cy="109728"/>
          </a:xfrm>
          <a:prstGeom prst="rect">
            <a:avLst/>
          </a:prstGeom>
          <a:solidFill>
            <a:srgbClr val="B1C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3" name="Rectangle 552"/>
          <p:cNvSpPr/>
          <p:nvPr/>
        </p:nvSpPr>
        <p:spPr>
          <a:xfrm>
            <a:off x="1465326" y="3273552"/>
            <a:ext cx="67619" cy="109728"/>
          </a:xfrm>
          <a:prstGeom prst="rect">
            <a:avLst/>
          </a:prstGeom>
          <a:solidFill>
            <a:srgbClr val="B9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4" name="Rectangle 553"/>
          <p:cNvSpPr/>
          <p:nvPr/>
        </p:nvSpPr>
        <p:spPr>
          <a:xfrm>
            <a:off x="1531620" y="3273552"/>
            <a:ext cx="67619" cy="109728"/>
          </a:xfrm>
          <a:prstGeom prst="rect">
            <a:avLst/>
          </a:prstGeom>
          <a:solidFill>
            <a:srgbClr val="C1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5" name="Rectangle 554"/>
          <p:cNvSpPr/>
          <p:nvPr/>
        </p:nvSpPr>
        <p:spPr>
          <a:xfrm>
            <a:off x="1597914" y="3273552"/>
            <a:ext cx="67619" cy="109728"/>
          </a:xfrm>
          <a:prstGeom prst="rect">
            <a:avLst/>
          </a:prstGeom>
          <a:solidFill>
            <a:srgbClr val="C9C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6" name="Rectangle 555"/>
          <p:cNvSpPr/>
          <p:nvPr/>
        </p:nvSpPr>
        <p:spPr>
          <a:xfrm>
            <a:off x="1664207" y="3273552"/>
            <a:ext cx="67619" cy="109728"/>
          </a:xfrm>
          <a:prstGeom prst="rect">
            <a:avLst/>
          </a:prstGeom>
          <a:solidFill>
            <a:srgbClr val="D1C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7" name="Rectangle 556"/>
          <p:cNvSpPr/>
          <p:nvPr/>
        </p:nvSpPr>
        <p:spPr>
          <a:xfrm>
            <a:off x="1730502" y="3273552"/>
            <a:ext cx="67619" cy="109728"/>
          </a:xfrm>
          <a:prstGeom prst="rect">
            <a:avLst/>
          </a:prstGeom>
          <a:solidFill>
            <a:srgbClr val="D8C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8" name="Rectangle 557"/>
          <p:cNvSpPr/>
          <p:nvPr/>
        </p:nvSpPr>
        <p:spPr>
          <a:xfrm>
            <a:off x="1796795" y="3273552"/>
            <a:ext cx="67619" cy="109728"/>
          </a:xfrm>
          <a:prstGeom prst="rect">
            <a:avLst/>
          </a:prstGeom>
          <a:solidFill>
            <a:srgbClr val="E0C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9" name="Rectangle 558"/>
          <p:cNvSpPr/>
          <p:nvPr/>
        </p:nvSpPr>
        <p:spPr>
          <a:xfrm>
            <a:off x="1863090" y="3273552"/>
            <a:ext cx="67619" cy="109728"/>
          </a:xfrm>
          <a:prstGeom prst="rect">
            <a:avLst/>
          </a:prstGeom>
          <a:solidFill>
            <a:srgbClr val="E8C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0" name="Rectangle 559"/>
          <p:cNvSpPr/>
          <p:nvPr/>
        </p:nvSpPr>
        <p:spPr>
          <a:xfrm>
            <a:off x="1929384" y="3273552"/>
            <a:ext cx="67619" cy="109728"/>
          </a:xfrm>
          <a:prstGeom prst="rect">
            <a:avLst/>
          </a:prstGeom>
          <a:solidFill>
            <a:srgbClr val="F0C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1" name="Rectangle 560"/>
          <p:cNvSpPr/>
          <p:nvPr/>
        </p:nvSpPr>
        <p:spPr>
          <a:xfrm>
            <a:off x="1995678" y="3273552"/>
            <a:ext cx="67619" cy="109728"/>
          </a:xfrm>
          <a:prstGeom prst="rect">
            <a:avLst/>
          </a:prstGeom>
          <a:solidFill>
            <a:srgbClr val="F1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2" name="Rectangle 561"/>
          <p:cNvSpPr/>
          <p:nvPr/>
        </p:nvSpPr>
        <p:spPr>
          <a:xfrm>
            <a:off x="2061972" y="3273552"/>
            <a:ext cx="67619" cy="109728"/>
          </a:xfrm>
          <a:prstGeom prst="rect">
            <a:avLst/>
          </a:prstGeom>
          <a:solidFill>
            <a:srgbClr val="F0C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3" name="Rectangle 562"/>
          <p:cNvSpPr/>
          <p:nvPr/>
        </p:nvSpPr>
        <p:spPr>
          <a:xfrm>
            <a:off x="2128266" y="3273552"/>
            <a:ext cx="67619" cy="109728"/>
          </a:xfrm>
          <a:prstGeom prst="rect">
            <a:avLst/>
          </a:prstGeom>
          <a:solidFill>
            <a:srgbClr val="EE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4" name="Rectangle 563"/>
          <p:cNvSpPr/>
          <p:nvPr/>
        </p:nvSpPr>
        <p:spPr>
          <a:xfrm>
            <a:off x="2194560" y="3273552"/>
            <a:ext cx="67619" cy="109728"/>
          </a:xfrm>
          <a:prstGeom prst="rect">
            <a:avLst/>
          </a:prstGeom>
          <a:solidFill>
            <a:srgbClr val="EDB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5" name="Rectangle 564"/>
          <p:cNvSpPr/>
          <p:nvPr/>
        </p:nvSpPr>
        <p:spPr>
          <a:xfrm>
            <a:off x="2260854" y="3273552"/>
            <a:ext cx="67619" cy="109728"/>
          </a:xfrm>
          <a:prstGeom prst="rect">
            <a:avLst/>
          </a:prstGeom>
          <a:solidFill>
            <a:srgbClr val="EBA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6" name="Rectangle 565"/>
          <p:cNvSpPr/>
          <p:nvPr/>
        </p:nvSpPr>
        <p:spPr>
          <a:xfrm>
            <a:off x="2327148" y="3273552"/>
            <a:ext cx="67619" cy="109728"/>
          </a:xfrm>
          <a:prstGeom prst="rect">
            <a:avLst/>
          </a:prstGeom>
          <a:solidFill>
            <a:srgbClr val="EAA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7" name="Rectangle 566"/>
          <p:cNvSpPr/>
          <p:nvPr/>
        </p:nvSpPr>
        <p:spPr>
          <a:xfrm>
            <a:off x="2393442" y="3273552"/>
            <a:ext cx="67619" cy="109728"/>
          </a:xfrm>
          <a:prstGeom prst="rect">
            <a:avLst/>
          </a:prstGeom>
          <a:solidFill>
            <a:srgbClr val="E99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8" name="Rectangle 567"/>
          <p:cNvSpPr/>
          <p:nvPr/>
        </p:nvSpPr>
        <p:spPr>
          <a:xfrm>
            <a:off x="2459736" y="3273552"/>
            <a:ext cx="67619" cy="109728"/>
          </a:xfrm>
          <a:prstGeom prst="rect">
            <a:avLst/>
          </a:prstGeom>
          <a:solidFill>
            <a:srgbClr val="E78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9" name="Rectangle 568"/>
          <p:cNvSpPr/>
          <p:nvPr/>
        </p:nvSpPr>
        <p:spPr>
          <a:xfrm>
            <a:off x="2526030" y="3273552"/>
            <a:ext cx="67619" cy="109728"/>
          </a:xfrm>
          <a:prstGeom prst="rect">
            <a:avLst/>
          </a:prstGeom>
          <a:solidFill>
            <a:srgbClr val="E68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0" name="Rectangle 569"/>
          <p:cNvSpPr/>
          <p:nvPr/>
        </p:nvSpPr>
        <p:spPr>
          <a:xfrm>
            <a:off x="2592324" y="3273552"/>
            <a:ext cx="67619" cy="109728"/>
          </a:xfrm>
          <a:prstGeom prst="rect">
            <a:avLst/>
          </a:prstGeom>
          <a:solidFill>
            <a:srgbClr val="E37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1" name="Rectangle 570"/>
          <p:cNvSpPr/>
          <p:nvPr/>
        </p:nvSpPr>
        <p:spPr>
          <a:xfrm>
            <a:off x="2658618" y="3273552"/>
            <a:ext cx="67619" cy="109728"/>
          </a:xfrm>
          <a:prstGeom prst="rect">
            <a:avLst/>
          </a:prstGeom>
          <a:solidFill>
            <a:srgbClr val="DD7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2" name="Rectangle 571"/>
          <p:cNvSpPr/>
          <p:nvPr/>
        </p:nvSpPr>
        <p:spPr>
          <a:xfrm>
            <a:off x="2724912" y="3273552"/>
            <a:ext cx="67619" cy="109728"/>
          </a:xfrm>
          <a:prstGeom prst="rect">
            <a:avLst/>
          </a:prstGeom>
          <a:solidFill>
            <a:srgbClr val="D76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3" name="Rectangle 572"/>
          <p:cNvSpPr/>
          <p:nvPr/>
        </p:nvSpPr>
        <p:spPr>
          <a:xfrm>
            <a:off x="2791206" y="3273552"/>
            <a:ext cx="67619" cy="109728"/>
          </a:xfrm>
          <a:prstGeom prst="rect">
            <a:avLst/>
          </a:prstGeom>
          <a:solidFill>
            <a:srgbClr val="D16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4" name="Rectangle 573"/>
          <p:cNvSpPr/>
          <p:nvPr/>
        </p:nvSpPr>
        <p:spPr>
          <a:xfrm>
            <a:off x="2857500" y="3273552"/>
            <a:ext cx="67619" cy="109728"/>
          </a:xfrm>
          <a:prstGeom prst="rect">
            <a:avLst/>
          </a:prstGeom>
          <a:solidFill>
            <a:srgbClr val="CB5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5" name="Rectangle 574"/>
          <p:cNvSpPr/>
          <p:nvPr/>
        </p:nvSpPr>
        <p:spPr>
          <a:xfrm>
            <a:off x="2923794" y="3273552"/>
            <a:ext cx="67619" cy="109728"/>
          </a:xfrm>
          <a:prstGeom prst="rect">
            <a:avLst/>
          </a:prstGeom>
          <a:solidFill>
            <a:srgbClr val="C64C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6" name="Rectangle 575"/>
          <p:cNvSpPr/>
          <p:nvPr/>
        </p:nvSpPr>
        <p:spPr>
          <a:xfrm>
            <a:off x="2990088" y="3273552"/>
            <a:ext cx="67619" cy="109728"/>
          </a:xfrm>
          <a:prstGeom prst="rect">
            <a:avLst/>
          </a:prstGeom>
          <a:solidFill>
            <a:srgbClr val="C04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7" name="Rectangle 576"/>
          <p:cNvSpPr/>
          <p:nvPr/>
        </p:nvSpPr>
        <p:spPr>
          <a:xfrm>
            <a:off x="3056382" y="3273552"/>
            <a:ext cx="67619" cy="109728"/>
          </a:xfrm>
          <a:prstGeom prst="rect">
            <a:avLst/>
          </a:prstGeom>
          <a:solidFill>
            <a:srgbClr val="BA3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8" name="Rectangle 577"/>
          <p:cNvSpPr/>
          <p:nvPr/>
        </p:nvSpPr>
        <p:spPr>
          <a:xfrm>
            <a:off x="3122676" y="3273552"/>
            <a:ext cx="67619" cy="109728"/>
          </a:xfrm>
          <a:prstGeom prst="rect">
            <a:avLst/>
          </a:prstGeom>
          <a:solidFill>
            <a:srgbClr val="B42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79" name="Rectangle 578"/>
          <p:cNvSpPr/>
          <p:nvPr/>
        </p:nvSpPr>
        <p:spPr>
          <a:xfrm>
            <a:off x="3188970" y="3273552"/>
            <a:ext cx="67619" cy="109728"/>
          </a:xfrm>
          <a:prstGeom prst="rect">
            <a:avLst/>
          </a:prstGeom>
          <a:solidFill>
            <a:srgbClr val="AE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80" name="Rectangle 579"/>
          <p:cNvSpPr/>
          <p:nvPr/>
        </p:nvSpPr>
        <p:spPr>
          <a:xfrm>
            <a:off x="603504" y="3273552"/>
            <a:ext cx="2651760" cy="109728"/>
          </a:xfrm>
          <a:prstGeom prst="rect">
            <a:avLst/>
          </a:prstGeom>
          <a:noFill/>
          <a:ln w="6350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cxnSp>
        <p:nvCxnSpPr>
          <p:cNvPr id="581" name="Connector 580"/>
          <p:cNvCxnSpPr/>
          <p:nvPr/>
        </p:nvCxnSpPr>
        <p:spPr>
          <a:xfrm>
            <a:off x="60350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21945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cxnSp>
        <p:nvCxnSpPr>
          <p:cNvPr id="583" name="Connector 582"/>
          <p:cNvCxnSpPr/>
          <p:nvPr/>
        </p:nvCxnSpPr>
        <p:spPr>
          <a:xfrm>
            <a:off x="126644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88239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0.5×</a:t>
            </a:r>
          </a:p>
        </p:txBody>
      </p:sp>
      <p:cxnSp>
        <p:nvCxnSpPr>
          <p:cNvPr id="585" name="Connector 584"/>
          <p:cNvCxnSpPr/>
          <p:nvPr/>
        </p:nvCxnSpPr>
        <p:spPr>
          <a:xfrm>
            <a:off x="192938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/>
          <p:cNvSpPr txBox="1"/>
          <p:nvPr/>
        </p:nvSpPr>
        <p:spPr>
          <a:xfrm>
            <a:off x="154533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1.0× 割界</a:t>
            </a:r>
          </a:p>
        </p:txBody>
      </p:sp>
      <p:cxnSp>
        <p:nvCxnSpPr>
          <p:cNvPr id="587" name="Connector 586"/>
          <p:cNvCxnSpPr/>
          <p:nvPr/>
        </p:nvCxnSpPr>
        <p:spPr>
          <a:xfrm>
            <a:off x="259232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8" name="TextBox 587"/>
          <p:cNvSpPr txBox="1"/>
          <p:nvPr/>
        </p:nvSpPr>
        <p:spPr>
          <a:xfrm>
            <a:off x="220827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1.5×</a:t>
            </a:r>
          </a:p>
        </p:txBody>
      </p:sp>
      <p:cxnSp>
        <p:nvCxnSpPr>
          <p:cNvPr id="589" name="Connector 588"/>
          <p:cNvCxnSpPr/>
          <p:nvPr/>
        </p:nvCxnSpPr>
        <p:spPr>
          <a:xfrm>
            <a:off x="3255264" y="3383280"/>
            <a:ext cx="0" cy="45720"/>
          </a:xfrm>
          <a:prstGeom prst="line">
            <a:avLst/>
          </a:prstGeom>
          <a:ln w="7620">
            <a:solidFill>
              <a:srgbClr val="5A66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0" name="TextBox 589"/>
          <p:cNvSpPr txBox="1"/>
          <p:nvPr/>
        </p:nvSpPr>
        <p:spPr>
          <a:xfrm>
            <a:off x="2871216" y="3429000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0">
                <a:solidFill>
                  <a:srgbClr val="5A6673"/>
                </a:solidFill>
                <a:latin typeface="Microsoft YaHei"/>
              </a:rPr>
              <a:t>≥2.0×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3712463" y="3236976"/>
            <a:ext cx="808329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色标 = 该链路承载的 (s,d) 对数 ÷ 本场景割界（两方向取大者）；割界 = 任何路由都突破不了的最小可能峰值，所以「÷割界」才是跨场景可比的量。× = 死 router (3,2)/(4,2)，红叉虚线 = 断链 (1,4)–(2,4)，★ = 根。XY 与 west-first 在这张残图上无法覆盖全部 (s,d)，只能牺牲好节点，故无图。M3′ 最热 10 条链路的 ℓ 落在 2–7（其中 8 条在 ℓ=3–6，ℓ 最大 12）：拥塞不在根的邻边，而在洞左侧那条通往根的主干走廊上。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4320" y="3785615"/>
            <a:ext cx="7406640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3" name="Rounded Rectangle 592"/>
          <p:cNvSpPr/>
          <p:nvPr/>
        </p:nvSpPr>
        <p:spPr>
          <a:xfrm>
            <a:off x="274320" y="3785615"/>
            <a:ext cx="740664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4" name="Rectangle 593"/>
          <p:cNvSpPr/>
          <p:nvPr/>
        </p:nvSpPr>
        <p:spPr>
          <a:xfrm>
            <a:off x="274320" y="3785615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5" name="TextBox 594"/>
          <p:cNvSpPr txBox="1"/>
          <p:nvPr/>
        </p:nvSpPr>
        <p:spPr>
          <a:xfrm>
            <a:off x="420623" y="3813048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同为 1 VC 的 turn model 横向对比</a:t>
            </a:r>
          </a:p>
        </p:txBody>
      </p:sp>
      <p:sp>
        <p:nvSpPr>
          <p:cNvPr id="596" name="Rectangle 595"/>
          <p:cNvSpPr/>
          <p:nvPr/>
        </p:nvSpPr>
        <p:spPr>
          <a:xfrm>
            <a:off x="384048" y="4096511"/>
            <a:ext cx="699516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97" name="TextBox 596"/>
          <p:cNvSpPr txBox="1"/>
          <p:nvPr/>
        </p:nvSpPr>
        <p:spPr>
          <a:xfrm>
            <a:off x="420623" y="4096511"/>
            <a:ext cx="1444751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方案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938528" y="4096511"/>
            <a:ext cx="10789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禁令怎么定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3090672" y="4096511"/>
            <a:ext cx="80467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参与节点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3968496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峰值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44988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÷割界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4956048" y="4096511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CV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5413248" y="4096511"/>
            <a:ext cx="4389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5925312" y="4096511"/>
            <a:ext cx="45719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mk13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6455664" y="4096511"/>
            <a:ext cx="88696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44 场景零牺牲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84048" y="431596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7" name="TextBox 606"/>
          <p:cNvSpPr txBox="1"/>
          <p:nvPr/>
        </p:nvSpPr>
        <p:spPr>
          <a:xfrm>
            <a:off x="429768" y="431596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XY，无故障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47672" y="431596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N→E/W、S→E/W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099815" y="431596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977639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96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5079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965192" y="431596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0.30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5422392" y="431596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5934455" y="431596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6464807" y="431596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16" name="Connector 615"/>
          <p:cNvCxnSpPr/>
          <p:nvPr/>
        </p:nvCxnSpPr>
        <p:spPr>
          <a:xfrm>
            <a:off x="384048" y="431596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Rectangle 616"/>
          <p:cNvSpPr/>
          <p:nvPr/>
        </p:nvSpPr>
        <p:spPr>
          <a:xfrm>
            <a:off x="384048" y="450616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18" name="TextBox 617"/>
          <p:cNvSpPr txBox="1"/>
          <p:nvPr/>
        </p:nvSpPr>
        <p:spPr>
          <a:xfrm>
            <a:off x="429768" y="450616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west-first，无故障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1947672" y="450616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N→W、S→W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3099815" y="450616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3977639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98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45079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1.02×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965192" y="450616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0.29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5422392" y="450616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189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5934455" y="450616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5858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6464807" y="450616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27" name="Connector 626"/>
          <p:cNvCxnSpPr/>
          <p:nvPr/>
        </p:nvCxnSpPr>
        <p:spPr>
          <a:xfrm>
            <a:off x="384048" y="450616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ectangle 627"/>
          <p:cNvSpPr/>
          <p:nvPr/>
        </p:nvSpPr>
        <p:spPr>
          <a:xfrm>
            <a:off x="384048" y="469635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29" name="TextBox 628"/>
          <p:cNvSpPr txBox="1"/>
          <p:nvPr/>
        </p:nvSpPr>
        <p:spPr>
          <a:xfrm>
            <a:off x="429768" y="469635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neg-first，无故障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1947672" y="469635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E→S、N→W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3099815" y="469635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48/48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3977639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111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5079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1.16×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965192" y="469635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0.42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22392" y="469635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211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934455" y="469635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5170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464807" y="469635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38" name="Connector 637"/>
          <p:cNvCxnSpPr/>
          <p:nvPr/>
        </p:nvCxnSpPr>
        <p:spPr>
          <a:xfrm>
            <a:off x="384048" y="469635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9" name="Rectangle 638"/>
          <p:cNvSpPr/>
          <p:nvPr/>
        </p:nvSpPr>
        <p:spPr>
          <a:xfrm>
            <a:off x="384048" y="4886553"/>
            <a:ext cx="6995160" cy="190195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40" name="TextBox 639"/>
          <p:cNvSpPr txBox="1"/>
          <p:nvPr/>
        </p:nvSpPr>
        <p:spPr>
          <a:xfrm>
            <a:off x="429768" y="4886553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neg-first，残图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1947672" y="4886553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同上（与洞无关）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3099815" y="4886553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3977639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160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45079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1.51×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4965192" y="4886553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0.59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5422392" y="4886553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308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5934455" y="4886553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5591</a:t>
            </a:r>
          </a:p>
        </p:txBody>
      </p:sp>
      <p:sp>
        <p:nvSpPr>
          <p:cNvPr id="648" name="TextBox 647"/>
          <p:cNvSpPr txBox="1"/>
          <p:nvPr/>
        </p:nvSpPr>
        <p:spPr>
          <a:xfrm>
            <a:off x="6464807" y="4886553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10/44</a:t>
            </a:r>
          </a:p>
        </p:txBody>
      </p:sp>
      <p:cxnSp>
        <p:nvCxnSpPr>
          <p:cNvPr id="649" name="Connector 648"/>
          <p:cNvCxnSpPr/>
          <p:nvPr/>
        </p:nvCxnSpPr>
        <p:spPr>
          <a:xfrm>
            <a:off x="384048" y="4886553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0" name="Rectangle 649"/>
          <p:cNvSpPr/>
          <p:nvPr/>
        </p:nvSpPr>
        <p:spPr>
          <a:xfrm>
            <a:off x="384048" y="5076748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51" name="TextBox 650"/>
          <p:cNvSpPr txBox="1"/>
          <p:nvPr/>
        </p:nvSpPr>
        <p:spPr>
          <a:xfrm>
            <a:off x="429768" y="5076748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M3′，残图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947672" y="5076748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down→up（按 ℓ）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3099815" y="5076748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46/46</a:t>
            </a:r>
          </a:p>
        </p:txBody>
      </p:sp>
      <p:sp>
        <p:nvSpPr>
          <p:cNvPr id="654" name="TextBox 653"/>
          <p:cNvSpPr txBox="1"/>
          <p:nvPr/>
        </p:nvSpPr>
        <p:spPr>
          <a:xfrm>
            <a:off x="3977639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204</a:t>
            </a:r>
          </a:p>
        </p:txBody>
      </p:sp>
      <p:sp>
        <p:nvSpPr>
          <p:cNvPr id="655" name="TextBox 654"/>
          <p:cNvSpPr txBox="1"/>
          <p:nvPr/>
        </p:nvSpPr>
        <p:spPr>
          <a:xfrm>
            <a:off x="45079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4965192" y="5076748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0.69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5422392" y="5076748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5934455" y="5076748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6452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6464807" y="5076748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cxnSp>
        <p:nvCxnSpPr>
          <p:cNvPr id="660" name="Connector 659"/>
          <p:cNvCxnSpPr/>
          <p:nvPr/>
        </p:nvCxnSpPr>
        <p:spPr>
          <a:xfrm>
            <a:off x="384048" y="5076748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1" name="Rectangle 660"/>
          <p:cNvSpPr/>
          <p:nvPr/>
        </p:nvSpPr>
        <p:spPr>
          <a:xfrm>
            <a:off x="384048" y="5266944"/>
            <a:ext cx="6995160" cy="190195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2" name="Rectangle 661"/>
          <p:cNvSpPr/>
          <p:nvPr/>
        </p:nvSpPr>
        <p:spPr>
          <a:xfrm>
            <a:off x="384048" y="5266944"/>
            <a:ext cx="32004" cy="190195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63" name="TextBox 662"/>
          <p:cNvSpPr txBox="1"/>
          <p:nvPr/>
        </p:nvSpPr>
        <p:spPr>
          <a:xfrm>
            <a:off x="429768" y="5266944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M3′+min-max，残图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947672" y="5266944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同上 + 换选路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099815" y="5266944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46/46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3977639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154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45079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4965192" y="5266944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0.56</a:t>
            </a:r>
          </a:p>
        </p:txBody>
      </p:sp>
      <p:sp>
        <p:nvSpPr>
          <p:cNvPr id="669" name="TextBox 668"/>
          <p:cNvSpPr txBox="1"/>
          <p:nvPr/>
        </p:nvSpPr>
        <p:spPr>
          <a:xfrm>
            <a:off x="5422392" y="5266944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70" name="TextBox 669"/>
          <p:cNvSpPr txBox="1"/>
          <p:nvPr/>
        </p:nvSpPr>
        <p:spPr>
          <a:xfrm>
            <a:off x="5934455" y="5266944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6392</a:t>
            </a:r>
          </a:p>
        </p:txBody>
      </p:sp>
      <p:sp>
        <p:nvSpPr>
          <p:cNvPr id="671" name="TextBox 670"/>
          <p:cNvSpPr txBox="1"/>
          <p:nvPr/>
        </p:nvSpPr>
        <p:spPr>
          <a:xfrm>
            <a:off x="6464807" y="5266944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cxnSp>
        <p:nvCxnSpPr>
          <p:cNvPr id="672" name="Connector 671"/>
          <p:cNvCxnSpPr/>
          <p:nvPr/>
        </p:nvCxnSpPr>
        <p:spPr>
          <a:xfrm>
            <a:off x="384048" y="5266944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3" name="Rectangle 672"/>
          <p:cNvSpPr/>
          <p:nvPr/>
        </p:nvSpPr>
        <p:spPr>
          <a:xfrm>
            <a:off x="384048" y="5457139"/>
            <a:ext cx="6995160" cy="1901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4" name="TextBox 673"/>
          <p:cNvSpPr txBox="1"/>
          <p:nvPr/>
        </p:nvSpPr>
        <p:spPr>
          <a:xfrm>
            <a:off x="429768" y="5457139"/>
            <a:ext cx="1426463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F2933"/>
                </a:solidFill>
                <a:latin typeface="Microsoft YaHei"/>
              </a:rPr>
              <a:t>XY / wf，残图</a:t>
            </a:r>
          </a:p>
        </p:txBody>
      </p:sp>
      <p:sp>
        <p:nvSpPr>
          <p:cNvPr id="675" name="TextBox 674"/>
          <p:cNvSpPr txBox="1"/>
          <p:nvPr/>
        </p:nvSpPr>
        <p:spPr>
          <a:xfrm>
            <a:off x="1947672" y="5457139"/>
            <a:ext cx="106070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方位型</a:t>
            </a:r>
          </a:p>
        </p:txBody>
      </p:sp>
      <p:sp>
        <p:nvSpPr>
          <p:cNvPr id="676" name="TextBox 675"/>
          <p:cNvSpPr txBox="1"/>
          <p:nvPr/>
        </p:nvSpPr>
        <p:spPr>
          <a:xfrm>
            <a:off x="3099815" y="5457139"/>
            <a:ext cx="78638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牺牲 22/46</a:t>
            </a:r>
          </a:p>
        </p:txBody>
      </p:sp>
      <p:sp>
        <p:nvSpPr>
          <p:cNvPr id="677" name="TextBox 676"/>
          <p:cNvSpPr txBox="1"/>
          <p:nvPr/>
        </p:nvSpPr>
        <p:spPr>
          <a:xfrm>
            <a:off x="3977639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8" name="TextBox 677"/>
          <p:cNvSpPr txBox="1"/>
          <p:nvPr/>
        </p:nvSpPr>
        <p:spPr>
          <a:xfrm>
            <a:off x="45079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79" name="TextBox 678"/>
          <p:cNvSpPr txBox="1"/>
          <p:nvPr/>
        </p:nvSpPr>
        <p:spPr>
          <a:xfrm>
            <a:off x="4965192" y="5457139"/>
            <a:ext cx="36576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0" name="TextBox 679"/>
          <p:cNvSpPr txBox="1"/>
          <p:nvPr/>
        </p:nvSpPr>
        <p:spPr>
          <a:xfrm>
            <a:off x="5422392" y="5457139"/>
            <a:ext cx="420624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5934455" y="5457139"/>
            <a:ext cx="438912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682" name="TextBox 681"/>
          <p:cNvSpPr txBox="1"/>
          <p:nvPr/>
        </p:nvSpPr>
        <p:spPr>
          <a:xfrm>
            <a:off x="6464807" y="5457139"/>
            <a:ext cx="868680" cy="1901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0">
                <a:solidFill>
                  <a:srgbClr val="5A6673"/>
                </a:solidFill>
                <a:latin typeface="Microsoft YaHei"/>
              </a:rPr>
              <a:t>0/44</a:t>
            </a:r>
          </a:p>
        </p:txBody>
      </p:sp>
      <p:cxnSp>
        <p:nvCxnSpPr>
          <p:cNvPr id="683" name="Connector 682"/>
          <p:cNvCxnSpPr/>
          <p:nvPr/>
        </p:nvCxnSpPr>
        <p:spPr>
          <a:xfrm>
            <a:off x="384048" y="5457139"/>
            <a:ext cx="699516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ectangle 683"/>
          <p:cNvSpPr/>
          <p:nvPr/>
        </p:nvSpPr>
        <p:spPr>
          <a:xfrm>
            <a:off x="384048" y="4096511"/>
            <a:ext cx="6995160" cy="1550822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5" name="Rounded Rectangle 684"/>
          <p:cNvSpPr/>
          <p:nvPr/>
        </p:nvSpPr>
        <p:spPr>
          <a:xfrm>
            <a:off x="7827264" y="3785615"/>
            <a:ext cx="4090111" cy="1883664"/>
          </a:xfrm>
          <a:prstGeom prst="roundRect">
            <a:avLst>
              <a:gd name="adj" fmla="val 1941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6" name="Rounded Rectangle 685"/>
          <p:cNvSpPr/>
          <p:nvPr/>
        </p:nvSpPr>
        <p:spPr>
          <a:xfrm>
            <a:off x="7827264" y="3785615"/>
            <a:ext cx="4090111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7" name="Rectangle 686"/>
          <p:cNvSpPr/>
          <p:nvPr/>
        </p:nvSpPr>
        <p:spPr>
          <a:xfrm>
            <a:off x="7827264" y="3785615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88" name="TextBox 687"/>
          <p:cNvSpPr txBox="1"/>
          <p:nvPr/>
        </p:nvSpPr>
        <p:spPr>
          <a:xfrm>
            <a:off x="7973568" y="3813048"/>
            <a:ext cx="381579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这四幅图该怎么读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7955280" y="4114800"/>
            <a:ext cx="3834079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方位型 turn model 更均衡，但容错靠不住。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禁令写死在方向上、与洞无关：残图一有洞就可能整片 (s,d) 断供 —— XY / west-first 零牺牲 0/44、neg-first 10/44；M3′ 的禁令按 ℓ 随残图重算，41/44（余 3 例残图本身断开）。</a:t>
            </a:r>
          </a:p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M3′ 的代价不是绕远，是选路集中。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无故障时 M3′ 与 XY 总跳数都是 10528、平均 4.67 跳（都走最短路）⇒ 不均衡纯粹来自「同一最短路集合里怎么挑」，换选路即可改善（第 5 页）。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坦白说：本场景重载 neg-first 5591 cy 快于 M3′+min-max 6392 cy，但它只在 10/44 场景可用。</a:t>
            </a:r>
          </a:p>
        </p:txBody>
      </p:sp>
      <p:sp>
        <p:nvSpPr>
          <p:cNvPr id="690" name="Rounded Rectangle 689"/>
          <p:cNvSpPr/>
          <p:nvPr/>
        </p:nvSpPr>
        <p:spPr>
          <a:xfrm>
            <a:off x="274320" y="5742432"/>
            <a:ext cx="11643055" cy="932688"/>
          </a:xfrm>
          <a:prstGeom prst="roundRect">
            <a:avLst>
              <a:gd name="adj" fmla="val 3921"/>
            </a:avLst>
          </a:prstGeom>
          <a:solidFill>
            <a:srgbClr val="F2F7F4"/>
          </a:solidFill>
          <a:ln w="1143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1" name="Rectangle 690"/>
          <p:cNvSpPr/>
          <p:nvPr/>
        </p:nvSpPr>
        <p:spPr>
          <a:xfrm>
            <a:off x="274320" y="5742432"/>
            <a:ext cx="50292" cy="93268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2" name="TextBox 691"/>
          <p:cNvSpPr txBox="1"/>
          <p:nvPr/>
        </p:nvSpPr>
        <p:spPr>
          <a:xfrm>
            <a:off x="438912" y="5833872"/>
            <a:ext cx="557784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1 实测校核（44 场景 ≤4 router / ≤8 link）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41 个残图连通的场景全部零牺牲、CDG 成环 0 例、反例 0 个；余下 3 个场景残图本身断开（分别孤立 1/2/1 个好节点），牺牲量等于信息论下界。同批场景 XY 零牺牲 0/44。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6217920" y="5833872"/>
            <a:ext cx="301752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定理 2（极大性）＝ 没有更宽松的 turn model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M3′ 允许 346/416 个转向，与 west-first / neg-first 同级；再放开任一条 down→up 即成环。</a:t>
            </a:r>
          </a:p>
        </p:txBody>
      </p:sp>
      <p:sp>
        <p:nvSpPr>
          <p:cNvPr id="694" name="TextBox 693"/>
          <p:cNvSpPr txBox="1"/>
          <p:nvPr/>
        </p:nvSpPr>
        <p:spPr>
          <a:xfrm>
            <a:off x="9418320" y="5833872"/>
            <a:ext cx="2361895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20"/>
              </a:spcAft>
            </a:pPr>
            <a:r>
              <a:rPr sz="940" b="1">
                <a:solidFill>
                  <a:srgbClr val="1E7F4F"/>
                </a:solidFill>
                <a:latin typeface="Microsoft YaHei"/>
              </a:rPr>
              <a:t>下一页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19" b="0">
                <a:solidFill>
                  <a:srgbClr val="1F2933"/>
                </a:solidFill>
                <a:latin typeface="Microsoft YaHei"/>
              </a:rPr>
              <a:t>符号（u/v/w、通道势能 Φ）见第 3 页，两条定理的逐步推导见第 4 页；min-max 算法与 1 VC 边界见第 5 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符号与概念：G′ · r · ℓ(v) · 转向 (u→v→w) · 通道势能 Φ(c)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下一页两条定理只用到这五个记号；其中 (u→v→w) 就是「拐弯」，Φ(c) 是只为证明服务的编号，硬件里并不存在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五个记号（数字取自本例：8×6、2 洞 + 1 断链）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2615184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G=(V,E)　原始 8×6 mesh：|V|=48 个 router，|E|=82 条链路，即 164 条有向通道。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F　故障集：死 router ∪ 断链（本例 2 个 router + 1 条链路）。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G′=(V′,E′)　残图 = 从 G 删掉 F 及其附属链路后剩下的图（本例 |V′|=46、|E′|=74）。所有推导都在 G′ 上进行。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r ∈ V′　根：一个普通存活 router，被选作 BFS 源点。best-root 把 48 个候选全试一遍，取峰值最小者（本例 (7,5)）。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ℓ(v)　高度：G′ 上 r 到 v 的 BFS 跳数，ℓ(r)=0（本例 0…12）。它只是个整数标号，不是坐标、也不是延迟。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243584"/>
            <a:ext cx="2688336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1">
                <a:solidFill>
                  <a:srgbClr val="1F2933"/>
                </a:solidFill>
                <a:latin typeface="Microsoft YaHei"/>
              </a:rPr>
              <a:t>u, v, w　残图里任意三个节点，v 与 u、w 都相邻。(u→v) 与 (v→w) 是两条首尾相接的有向通道，合起来就是「报文在 v 处拐的那个弯」，记作转向 (u→v→w)。8×6 残图上共 344 个转向。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up / down　给每条有向通道贴的标签：(u→v) 若 ℓ(v)=ℓ(u)−1 记 up（朝根），若 ℓ(v)=ℓ(u)+1 记 down（离根）。mesh 按 x+y 奇偶二分 ⇒ 相邻点 ℓ 必差 1，不存在 ℓ 相等的「横向」边。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11296" y="2945465"/>
            <a:ext cx="175564" cy="0"/>
          </a:xfrm>
          <a:prstGeom prst="line">
            <a:avLst/>
          </a:prstGeom>
          <a:ln w="1905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79622" y="2667487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C87209"/>
                </a:solidFill>
                <a:latin typeface="Microsoft YaHei"/>
              </a:rPr>
              <a:t>down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4052139" y="2783845"/>
            <a:ext cx="205788" cy="87324"/>
          </a:xfrm>
          <a:prstGeom prst="line">
            <a:avLst/>
          </a:prstGeom>
          <a:ln w="1905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35577" y="2549530"/>
            <a:ext cx="43891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40" b="1">
                <a:solidFill>
                  <a:srgbClr val="1E7F4F"/>
                </a:solidFill>
                <a:latin typeface="Microsoft YaHei"/>
              </a:rPr>
              <a:t>up</a:t>
            </a:r>
          </a:p>
        </p:txBody>
      </p:sp>
      <p:sp>
        <p:nvSpPr>
          <p:cNvPr id="17" name="Oval 16"/>
          <p:cNvSpPr/>
          <p:nvPr/>
        </p:nvSpPr>
        <p:spPr>
          <a:xfrm>
            <a:off x="3174796" y="2799161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74796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u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799161"/>
            <a:ext cx="292608" cy="292608"/>
          </a:xfrm>
          <a:prstGeom prst="ellipse">
            <a:avLst/>
          </a:prstGeom>
          <a:solidFill>
            <a:srgbClr val="4E94CC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30752" y="2848904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1" name="Oval 20"/>
          <p:cNvSpPr/>
          <p:nvPr/>
        </p:nvSpPr>
        <p:spPr>
          <a:xfrm>
            <a:off x="4286707" y="2563246"/>
            <a:ext cx="292608" cy="29260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86707" y="2612989"/>
            <a:ext cx="292608" cy="2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21868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在 v 处的一个转向 (u→v→w)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633472"/>
            <a:ext cx="1133856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0">
                <a:solidFill>
                  <a:srgbClr val="C7000B"/>
                </a:solidFill>
                <a:latin typeface="Microsoft YaHei"/>
              </a:rPr>
              <a:t>M3′ 的唯一禁令：(u→v)=down 且 (v→w)=up，即「下完又往上拐」。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71616" y="914400"/>
            <a:ext cx="5845759" cy="265176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872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「通道势能 Φ(c)」是什么、为什么需要它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1" y="1243584"/>
            <a:ext cx="5589727" cy="2267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一句话　Φ 是给每一条有向通道（不是节点）人为编的一个「序号」，纯粹为证明服务：不进硬件、不占存储、运行时不存在。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为什么需要　死锁 ⇔ 通道依赖图 CDG 里有环。要证明「无环」，最省事的办法是找一个沿依赖边单调变化的量：只要每一次合法衔接都让 Φ 严格变大，就永远回不到起点，环自然不存在 —— 相当于「只上不下的楼梯不可能绕回原地」（形式上即势能 / Lyapunov 函数）。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M3′ 的取法　Φ(u→v) = (0, −ℓ(v)) 若该通道是 up；(1, +ℓ(v)) 若是 down。两位数按字典序比较：先比第一位，相同才比第二位。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两位各管一件事　第一位是「阶段位」：0 = 还在上行，1 = 已转入下行 —— 它保证一旦下行就再不能上行。第二位是同阶段内的先后：上行段里 ℓ 越小越靠后（越接近根），下行段里 ℓ 越大越靠后（越远离根）。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>
                <a:solidFill>
                  <a:srgbClr val="5A6673"/>
                </a:solidFill>
                <a:latin typeface="Microsoft YaHei"/>
              </a:rPr>
              <a:t>于是三种合法衔接都严格升 Φ：up→up 是 (0,−ℓ) → (0,−ℓ+1)，up→down 是 (0,·) → (1,·)，down→down 是 (1,ℓ) → (1,ℓ+1)；唯一被禁的 down→up 恰好是 (1,·) → (0,·)，即会让 Φ 变小的那一种。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3675887"/>
            <a:ext cx="7680960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74320" y="3675887"/>
            <a:ext cx="76809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3675887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0623" y="3703320"/>
            <a:ext cx="7406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实例校核：从真实路由表里取 (0,0)→(3,4)，逐跳看 ℓ 与 Φ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71765" y="5861866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44744" y="5354374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17723" y="4846882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0702" y="4339390"/>
            <a:ext cx="257907" cy="350919"/>
          </a:xfrm>
          <a:prstGeom prst="line">
            <a:avLst/>
          </a:prstGeom>
          <a:ln w="20320">
            <a:solidFill>
              <a:srgbClr val="1E7F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63681" y="4339390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6660" y="4846882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9639" y="5354374"/>
            <a:ext cx="257907" cy="350919"/>
          </a:xfrm>
          <a:prstGeom prst="line">
            <a:avLst/>
          </a:prstGeom>
          <a:ln w="20320">
            <a:solidFill>
              <a:srgbClr val="C872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36505" y="6213348"/>
            <a:ext cx="155448" cy="155448"/>
          </a:xfrm>
          <a:prstGeom prst="ellipse">
            <a:avLst/>
          </a:prstGeom>
          <a:solidFill>
            <a:srgbClr val="7FB4D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6505" y="6239774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809484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484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45" name="Oval 44"/>
          <p:cNvSpPr/>
          <p:nvPr/>
        </p:nvSpPr>
        <p:spPr>
          <a:xfrm>
            <a:off x="1182463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82463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555442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555442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49" name="Oval 48"/>
          <p:cNvSpPr/>
          <p:nvPr/>
        </p:nvSpPr>
        <p:spPr>
          <a:xfrm>
            <a:off x="1928421" y="4183380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928421" y="4209806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1</a:t>
            </a:r>
          </a:p>
        </p:txBody>
      </p:sp>
      <p:sp>
        <p:nvSpPr>
          <p:cNvPr id="51" name="Oval 50"/>
          <p:cNvSpPr/>
          <p:nvPr/>
        </p:nvSpPr>
        <p:spPr>
          <a:xfrm>
            <a:off x="2301400" y="4690872"/>
            <a:ext cx="155448" cy="155448"/>
          </a:xfrm>
          <a:prstGeom prst="ellipse">
            <a:avLst/>
          </a:prstGeom>
          <a:solidFill>
            <a:srgbClr val="DCE7F5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301400" y="4717298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2</a:t>
            </a:r>
          </a:p>
        </p:txBody>
      </p:sp>
      <p:sp>
        <p:nvSpPr>
          <p:cNvPr id="53" name="Oval 52"/>
          <p:cNvSpPr/>
          <p:nvPr/>
        </p:nvSpPr>
        <p:spPr>
          <a:xfrm>
            <a:off x="2674379" y="5198364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674379" y="5224790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1F2933"/>
                </a:solidFill>
                <a:latin typeface="Microsoft YaHei"/>
              </a:rPr>
              <a:t>3</a:t>
            </a:r>
          </a:p>
        </p:txBody>
      </p:sp>
      <p:sp>
        <p:nvSpPr>
          <p:cNvPr id="55" name="Oval 54"/>
          <p:cNvSpPr/>
          <p:nvPr/>
        </p:nvSpPr>
        <p:spPr>
          <a:xfrm>
            <a:off x="3047358" y="5705856"/>
            <a:ext cx="155448" cy="155448"/>
          </a:xfrm>
          <a:prstGeom prst="ellipse">
            <a:avLst/>
          </a:prstGeom>
          <a:solidFill>
            <a:srgbClr val="AFD0EA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047358" y="5732282"/>
            <a:ext cx="155448" cy="108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1E7F4F"/>
                </a:solidFill>
                <a:latin typeface="Microsoft YaHei"/>
              </a:rPr>
              <a:t>↑ up：ℓ−1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19656" y="6327648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87209"/>
                </a:solidFill>
                <a:latin typeface="Microsoft YaHei"/>
              </a:rPr>
              <a:t>↓ down：ℓ+1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041648"/>
            <a:ext cx="4389120" cy="219456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438144" y="4041648"/>
            <a:ext cx="8595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通道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6460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58384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2160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45936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9712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33488" y="4041648"/>
            <a:ext cx="42062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F2933"/>
                </a:solidFill>
                <a:latin typeface="Microsoft YaHei"/>
              </a:rPr>
              <a:t>c7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01568" y="4261104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47288" y="426110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ℓ：u→v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997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5→4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4→3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61304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5080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1→2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48856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2→3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42632" y="4261104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3→4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401568" y="4261104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3401568" y="4498848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447288" y="449884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类型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997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7375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67528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861304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up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5080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48856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42632" y="4498848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down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401568" y="4498848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3401568" y="4736592"/>
            <a:ext cx="438912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3447288" y="473659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第一位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7997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7375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67528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61304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55080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48856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42632" y="4736592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1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01568" y="4736592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401568" y="4974336"/>
            <a:ext cx="4389120" cy="23774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447288" y="497433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1F2933"/>
                </a:solidFill>
                <a:latin typeface="Microsoft YaHei"/>
              </a:rPr>
              <a:t>Φ(c) 第二位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997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7375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67528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61304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-1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55080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48856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42632" y="4974336"/>
            <a:ext cx="40233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0">
                <a:solidFill>
                  <a:srgbClr val="5A6673"/>
                </a:solidFill>
                <a:latin typeface="Microsoft YaHei"/>
              </a:rPr>
              <a:t>+4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401568" y="4974336"/>
            <a:ext cx="438912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401568" y="4041648"/>
            <a:ext cx="4389120" cy="1170431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401568" y="5321807"/>
            <a:ext cx="4462272" cy="120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路径：(0,0) → (0,1) → (0,2) → (0,3) → (0,4) → (1,4) → (2,4) → (3,4)（7 跳）；ℓ 序列 5→4→3→2→1→2→3→4。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40" b="1">
                <a:solidFill>
                  <a:srgbClr val="1E7F4F"/>
                </a:solidFill>
                <a:latin typeface="Microsoft YaHei"/>
              </a:rPr>
              <a:t>Φ 按字典序严格递增（代码里的断言 strict=True）：(0,-4) &lt; (0,-3) &lt; (0,-2) &lt; (0,-1) &lt; …，一路只升不降 ⇒ 这条路径不可能参与任何依赖环。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注意转折点在 ℓ=1，并没有爬到根（ℓ=0）：up*·down* 只要求「先升后降」，并不要求经过根。定理 1 第 2 步里那条「爬到根再下来」的路径只是用来证明「存在解」，实际选路会取更短的那条。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083296" y="3675887"/>
            <a:ext cx="3834079" cy="2962656"/>
          </a:xfrm>
          <a:prstGeom prst="roundRect">
            <a:avLst>
              <a:gd name="adj" fmla="val 123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8083296" y="3675887"/>
            <a:ext cx="38340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8083296" y="3675887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29600" y="3703320"/>
            <a:ext cx="35597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读这些符号时的两个坑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11312" y="4005072"/>
            <a:ext cx="3578047" cy="2578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1：ℓ 是无权跳数，不是线延迟。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本项目实际链路延迟横向 H=7 cy、纵向 V=9 cy，两者并不相等；但 ℓ 只承担「定序、保证 CDG 无环」的职责，用跳数即可。线延迟只影响端到端时间，不影响两条定理是否成立。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坑 2：Φ 不是任何物理量。</a:t>
            </a:r>
          </a:p>
          <a:p>
            <a:pPr algn="l">
              <a:lnSpc>
                <a:spcPct val="118000"/>
              </a:lnSpc>
              <a:spcAft>
                <a:spcPts val="24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它不是缓冲占用、也不是优先级，硬件里查不到这个字段。它只是证明用的排序函数：换一组同样单调的 Φ，结论完全一样。真正落到硬件里的只有一张静态转向许可表 + 一张 (s,d)→出端口表，1 个 VC。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0B6BA8"/>
                </a:solidFill>
                <a:latin typeface="Microsoft YaHei"/>
              </a:rPr>
              <a:t>代码对应：ℓ = _updown_labels，路径 = _tree_path，无环复验 = build_cdg + cdg_acyclic，Φ 单调性由本页实例断言。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定理 1 / 定理 2 的逐步推导：零牺牲 · 无死锁 · 转向集已极大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定理 1 = 只要残图连通，表一定建得出且 1 VC 无死锁；定理 2 = 转向集是极大无环集，等价于「不存在比 M3′ 更宽松的 turn model」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14400"/>
            <a:ext cx="5669280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14400"/>
            <a:ext cx="566928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14400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418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定理 1：残图连通 ⇒ 零牺牲 + 无死锁 + 保序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243584"/>
            <a:ext cx="5449824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80" b="1">
                <a:solidFill>
                  <a:srgbClr val="1E7F4F"/>
                </a:solidFill>
                <a:latin typeface="Microsoft YaHei"/>
              </a:rPr>
              <a:t>陈述　对任意故障集 F：G′ 连通 ⇔ 存在覆盖全部 (s,d) 的合法路由表且牺牲集 S=∅。（⇐ 方向显然：残图断开时跨分量物理不可达，任何路由都做不到；以下证 ⇒。）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1 步 · ℓ 存在　G′ 连通 ⇒ 从任一 r 出发的 BFS 能到达全部节点，ℓ(v)=dist(r,v) 有限；且每个 v≠r 至少有一个邻居 u 满足 ℓ(u)=ℓ(v)−1，称为 v 的父节点。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2 步 · 每对都有合法路径　对任意 (s,d)：从 s 沿父链上行到 r（全是 up），再沿 d 的父链下行到 d（全是 down），拼成 up*·down*，长度 ≤ ℓ(s)+ℓ(d) 且不含 down→up ⇒ 表必然建得出、S=∅。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3 步 · 无死锁　路径里只可能出现 up→up、up→down、down→down 三种衔接，而它们都严格升 Φ（第 3 页 ②）。CDG 的每条边都升 Φ，而 Φ 取值在有限集合里 ⇒ CDG 无环 ⇒ 按 Dally–Seitz，1 个 VC 就无死锁。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4 步 · 保序　每对 (s,d) 只有一条静态路径，单 VC 不存在换道，每跳先进先出 ⇒ 同一包的 flit 不会乱序，无需重排序缓冲。</a:t>
            </a:r>
          </a:p>
          <a:p>
            <a:pPr algn="l">
              <a:lnSpc>
                <a:spcPct val="118000"/>
              </a:lnSpc>
              <a:spcAft>
                <a:spcPts val="18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第 5 步 · 与根无关　第 1–4 步对任意 r∈V′ 都成立 ⇒ 48 个候选根的表全都合法；best-root 只是在合法解里挑峰值最小的那个，不影响容错。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实测校核　44 个预算场景（≤4 死 router / ≤8 断链）：牺牲 0、CDG 成环 0、反例 0；仅 3 例残图本身断开，牺牲量等于信息论下界。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914400"/>
            <a:ext cx="5845759" cy="3035808"/>
          </a:xfrm>
          <a:prstGeom prst="roundRect">
            <a:avLst>
              <a:gd name="adj" fmla="val 1204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71616" y="914400"/>
            <a:ext cx="584575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71616" y="914400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941832"/>
            <a:ext cx="55714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定理 2：转向集极大 —— 再放开任一条即成环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1" y="1243584"/>
            <a:ext cx="5589727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1">
                <a:solidFill>
                  <a:srgbClr val="C7000B"/>
                </a:solidFill>
                <a:latin typeface="Microsoft YaHei"/>
              </a:rPr>
              <a:t>陈述　T_UD = 全部 up→up / up→down / down→down 转向。任取一条不在 T_UD 里的转向 t（必然是某个 down→up），则 T_UD ∪ {t} 的 CDG 一定含环。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(v→w)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0" y="1883664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1E7F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0" y="192024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1E7F4F"/>
                </a:solidFill>
                <a:latin typeface="Microsoft YaHei"/>
              </a:rPr>
              <a:t>(·→r) 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(r→·)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1005840" cy="237744"/>
          </a:xfrm>
          <a:prstGeom prst="rect">
            <a:avLst/>
          </a:prstGeom>
          <a:solidFill>
            <a:srgbClr val="FDFDFE"/>
          </a:solidFill>
          <a:ln w="10160">
            <a:solidFill>
              <a:srgbClr val="C872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0" y="2688336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60" b="1">
                <a:solidFill>
                  <a:srgbClr val="C87209"/>
                </a:solidFill>
                <a:latin typeface="Microsoft YaHei"/>
              </a:rPr>
              <a:t>(u→v) down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51192" y="2002536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01000" y="2148840"/>
            <a:ext cx="0" cy="475488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7251192" y="2770632"/>
            <a:ext cx="219456" cy="0"/>
          </a:xfrm>
          <a:prstGeom prst="line">
            <a:avLst/>
          </a:prstGeom>
          <a:ln w="15240">
            <a:solidFill>
              <a:srgbClr val="5A66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720840" y="2148840"/>
            <a:ext cx="0" cy="475488"/>
          </a:xfrm>
          <a:prstGeom prst="line">
            <a:avLst/>
          </a:prstGeom>
          <a:ln w="20320">
            <a:solidFill>
              <a:srgbClr val="C7000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96912" y="1819656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2788920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5A6673"/>
                </a:solidFill>
                <a:latin typeface="Microsoft YaHe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270272"/>
            <a:ext cx="1828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00" b="1">
                <a:solidFill>
                  <a:srgbClr val="C7000B"/>
                </a:solidFill>
                <a:latin typeface="Microsoft Ya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907792"/>
            <a:ext cx="2286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80" b="1">
                <a:solidFill>
                  <a:srgbClr val="C7000B"/>
                </a:solidFill>
                <a:latin typeface="Microsoft YaHei"/>
              </a:rPr>
              <a:t>④ 一放开 ⇒ 闭环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31936" y="1828800"/>
            <a:ext cx="3157423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1F2933"/>
                </a:solidFill>
                <a:latin typeface="Microsoft YaHei"/>
              </a:rPr>
              <a:t>设 t 把通道 (u→v)（down）接到 (v→w)（up）。构造环只需四段，前三段全部用 T_UD 里的合法衔接：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① 从 (v→w) 出发继续沿父链上行，ℓ 每跳 −1，有限步必达根（ℓ=0），沿途衔接全是 up→up。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② 在根处拐头：一次 up→down 衔接，合法。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50" b="0">
                <a:solidFill>
                  <a:srgbClr val="5A6673"/>
                </a:solidFill>
                <a:latin typeface="Microsoft YaHei"/>
              </a:rPr>
              <a:t>③ 沿 u 的父链下行到 u，衔接全是 down→down，于是到达 (u→v)。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50" b="1">
                <a:solidFill>
                  <a:srgbClr val="C7000B"/>
                </a:solidFill>
                <a:latin typeface="Microsoft YaHei"/>
              </a:rPr>
              <a:t>④ 最后用新放开的 t，从 (u→v) 接回 (v→w) —— 回到起点，环闭合（证毕）。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1" y="3401568"/>
            <a:ext cx="5589727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要点　这一步只用到「r 到任何点都有父链」，也就是定理 1 第 1 步的同一个事实 ⇒ 只要残图连通，禁令就一条都不能少。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C7000B"/>
                </a:solidFill>
                <a:latin typeface="Microsoft YaHei"/>
              </a:rPr>
              <a:t>实测　48 个候选根 × 共 3360 条被禁转向，逐条放开后重建 CDG 检测：可安全加入 0 条。极大性对每个根都成立。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4059936"/>
            <a:ext cx="7223760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74320" y="4059936"/>
            <a:ext cx="722376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4320" y="4059936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0623" y="4087368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映射到 turn model 语境：M3′ = 禁令按 ℓ 定义的 turn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" y="4407408"/>
            <a:ext cx="3429000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同一件事，两种写法。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/ west-first / negative-first 把禁令写成「(入方向, 出方向)」的方位对，例如 XY 禁 N→E、N→W、S→E、S→W。M3′ 先按 ℓ 给每条链路贴 up/down 标签，再禁掉一整类衔接 down→up。两者最终都落成同一种东西：一张静态转向许可表，硬件实现、面积、VC 数完全一样（查表 + 1 VC）。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0B6BA8"/>
                </a:solidFill>
                <a:latin typeface="Microsoft YaHei"/>
              </a:rPr>
              <a:t>宽松程度也在同一量级（8×6 共 416 个转向）。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XY 允许 276（66%）、west-first 346、negative-first 346、M3′ 346（83%）—— M3′ 与最灵活的 Glass–Ni 类模型同级，并不比它们「保守」。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216" y="4407408"/>
            <a:ext cx="3355848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7000B"/>
                </a:solidFill>
                <a:latin typeface="Microsoft YaHei"/>
              </a:rPr>
              <a:t>定理 2 的 turn-model 版本：不存在更宽松的 turn model。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在这张残图上，M3′ 的转向集已经是极大无环集：再放开任何一条被禁转向，CDG 立刻成环（上面 ② 的构造对每条禁令都适用）。所以「找一个转向集严格包含 M3′ 的 turn model」是不可能的 —— 唯一的自由度是把同样多的禁令挪到别处，这正是第 5 页 L4「禁令换位」在搜的东西。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40" b="1">
                <a:solidFill>
                  <a:srgbClr val="C87209"/>
                </a:solidFill>
                <a:latin typeface="Microsoft YaHei"/>
              </a:rPr>
              <a:t>差别不在宽松度，而在禁令「放在哪」。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方位型禁令写死在方向上，与洞的位置无关：残图一有洞，某些 (s,d) 就整片断供 —— 44 场景里 XY / west-first 零牺牲 0 次、negative-first 只 10 次。ℓ 型禁令随残图重新生成，因此「连通即可达」（41/44）。这就是 M3′ 用同样多的禁令换来容错的原因。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26096" y="4059936"/>
            <a:ext cx="4291279" cy="2578608"/>
          </a:xfrm>
          <a:prstGeom prst="roundRect">
            <a:avLst>
              <a:gd name="adj" fmla="val 141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7626096" y="4059936"/>
            <a:ext cx="429127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626096" y="4059936"/>
            <a:ext cx="50292" cy="274320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0" y="4087368"/>
            <a:ext cx="40169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④ 两个容易读错的结论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54112" y="4407408"/>
            <a:ext cx="4035247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① 极大 ≠ 最大（maximal ≠ maximum）。</a:t>
            </a:r>
          </a:p>
          <a:p>
            <a:pPr algn="l">
              <a:lnSpc>
                <a:spcPct val="118000"/>
              </a:lnSpc>
              <a:spcAft>
                <a:spcPts val="22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2 只说「不能再单独加一条」，并不说 M3′ 是所有无环转向集里最大的那个。随机贪心能生成大量别的极大集，大小 319–327 条不等（M3′ 是 346 条）。这些集合就是第 5 页 L4 的搜索空间：总量相当、位置不同。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19" b="1">
                <a:solidFill>
                  <a:srgbClr val="1F2933"/>
                </a:solidFill>
                <a:latin typeface="Microsoft YaHei"/>
              </a:rPr>
              <a:t>② 零牺牲 ≠ 零性能损失。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80" b="0">
                <a:solidFill>
                  <a:srgbClr val="5A6673"/>
                </a:solidFill>
                <a:latin typeface="Microsoft YaHei"/>
              </a:rPr>
              <a:t>定理 1 只保证「连通即可达」，负载均衡完全不在结论里：M3′ 会把流挤到通往根的主干走廊上，峰值可达 1.93× 割界（第 2 页热点图）。改善它要靠同一转向集内换选路（第 5 页 L3 min-max），而不是改禁令。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841248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0896" y="91440"/>
            <a:ext cx="1152144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M3′ 有超集吗？—— 转向不能再放宽，但选路可以：1 VC 的可行边界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502920"/>
            <a:ext cx="11521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>
                <a:solidFill>
                  <a:srgbClr val="C3CBD4"/>
                </a:solidFill>
                <a:latin typeface="Microsoft YaHei"/>
              </a:rPr>
              <a:t>① 转向不能再放宽（定理 2，第 4 页 ③）；② 同一转向集内 min-max 选路是唯一「免费」的超集：峰值 1.41×→1.16× 割界；③ 禁令换位更均衡却更慢 ⇒ 不推荐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932688"/>
            <a:ext cx="11643055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932688"/>
            <a:ext cx="11643055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0292" cy="274320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3" y="960120"/>
            <a:ext cx="113687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① 五层设计空间，硬件同为物理 1 VC，自由参数逐层增加（mk = all-to-all DES makespan, cy）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243584"/>
            <a:ext cx="11155680" cy="237744"/>
          </a:xfrm>
          <a:prstGeom prst="rect">
            <a:avLst/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243584"/>
            <a:ext cx="197510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层次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1243584"/>
            <a:ext cx="149961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自由参数（搜索空间）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936" y="1243584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无故障 ÷割界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243584"/>
            <a:ext cx="65836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992" y="1243584"/>
            <a:ext cx="7132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243584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2洞1断链 ÷割界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3215" y="1243584"/>
            <a:ext cx="74980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mk m=1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5" y="124358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有洞可用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1243584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20" b="1">
                <a:solidFill>
                  <a:srgbClr val="1F2933"/>
                </a:solidFill>
                <a:latin typeface="Microsoft YaHei"/>
              </a:rPr>
              <a:t>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1481328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1481328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L0  方位型 turn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96312" y="1481328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无：禁令写死在方向上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1481328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8616" y="1481328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0136" y="1481328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2179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不可路由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1481328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1481328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0/44（neg-first 10）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481328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最均衡也最快，但残图上要牺牲好节点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2336" y="1481328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2336" y="1696212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8056" y="1696212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L1  M3 Up*/Down*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96312" y="1696212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 = 度最大点（1 个）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1696212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2.33×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8616" y="1696212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0136" y="1696212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5303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1696212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2.43×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1696212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1696212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1696212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容错满分，最不均衡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2336" y="1696212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02336" y="1911095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056" y="1911095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L2  M3′ best-root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1911095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根（48 个候选）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80" y="1911095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1911095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0136" y="1911095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4579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1911095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1.93×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52360" y="1911095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1911095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1911095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现方案，容错满分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2336" y="1911095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02336" y="2125979"/>
            <a:ext cx="11155680" cy="214884"/>
          </a:xfrm>
          <a:prstGeom prst="rect">
            <a:avLst/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02336" y="2125979"/>
            <a:ext cx="32004" cy="214884"/>
          </a:xfrm>
          <a:prstGeom prst="rect">
            <a:avLst/>
          </a:prstGeom>
          <a:solidFill>
            <a:srgbClr val="0B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056" y="2125979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L3  L2 + min-max 选路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2125979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路径：∏(s,d) 合法路径数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2125979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1.16×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2125979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0136" y="2125979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4561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2125979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1.45×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2360" y="2125979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293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2125979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41/44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2125979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✔ 免费，证明一字不改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02336" y="2125979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402336" y="2340863"/>
            <a:ext cx="11155680" cy="2148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8056" y="2340863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L4  L3 + 禁令换位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96312" y="2340863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禁令位置（70 条）：极大无环集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2340863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1.05×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28616" y="2340863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245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0136" y="2340863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6392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46520" y="2340863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1.45×（无改进）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52360" y="2340863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320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2340863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41/44（兜底）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2340863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✘ 峰值更低，端到端反而更慢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02336" y="2340863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02336" y="2555747"/>
            <a:ext cx="11155680" cy="2148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2555747"/>
            <a:ext cx="195681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1">
                <a:solidFill>
                  <a:srgbClr val="1F2933"/>
                </a:solidFill>
                <a:latin typeface="Microsoft YaHei"/>
              </a:rPr>
              <a:t>割界（任何路由的下界）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96312" y="2555747"/>
            <a:ext cx="1481328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69080" y="2555747"/>
            <a:ext cx="76809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28616" y="2555747"/>
            <a:ext cx="64008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0136" y="2555747"/>
            <a:ext cx="694944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555747"/>
            <a:ext cx="91440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1.00×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2555747"/>
            <a:ext cx="73152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555747"/>
            <a:ext cx="822960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555747"/>
            <a:ext cx="2322576" cy="2148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40" b="0">
                <a:solidFill>
                  <a:srgbClr val="5A6673"/>
                </a:solidFill>
                <a:latin typeface="Microsoft YaHei"/>
              </a:rPr>
              <a:t>XY 达到，但不容错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02336" y="2555747"/>
            <a:ext cx="11155680" cy="0"/>
          </a:xfrm>
          <a:prstGeom prst="line">
            <a:avLst/>
          </a:prstGeom>
          <a:ln w="5080">
            <a:solidFill>
              <a:srgbClr val="D9DE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402336" y="1243584"/>
            <a:ext cx="11155680" cy="1527047"/>
          </a:xfrm>
          <a:prstGeom prst="rect">
            <a:avLst/>
          </a:prstGeom>
          <a:noFill/>
          <a:ln w="762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274320" y="3255264"/>
            <a:ext cx="5760720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274320" y="3255264"/>
            <a:ext cx="5760720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74320" y="3255264"/>
            <a:ext cx="50292" cy="274320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420623" y="328269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② L3 min-max 选路：算法步骤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2336" y="3584448"/>
            <a:ext cx="5504688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1">
                <a:solidFill>
                  <a:srgbClr val="1E7F4F"/>
                </a:solidFill>
                <a:latin typeface="Microsoft YaHei"/>
              </a:rPr>
              <a:t>输入：M3′ 的转向许可表 T（禁 down→up）+ M3′ 原路由表。输出：同一个 T 内的另一组路径 —— 禁令、VC 数、表规模都不动。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① 统计负载　对每条有向链路 e 记 load(e) = 当前经过它的 (s,d) 对数。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② 拆（rip-up）　按固定顺序取一对 (s,d)，把它现有路径上每条链路的 load 减 1，相当于先把这条流从网络里抽走。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③ 重路由（re-route）　在 T 内跑 Dijkstra 重新给它选路，链路代价 c(e) = (load(e)+1)³；只允许 T 许可的衔接，因此绝不会产生 down→up。选出的新路径再把 load 加回去。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④ 为什么用三次方　凸代价让「再往热链路塞一条流」的边际成本远高于绕到冷链路，于是流自动摊开 —— 这就是 min-max 的来源。若指数取 1，只会最小化总跳数，起不到均衡作用。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⑤ 迭代到收敛　全部 2256 对流过一遍算一轮，共 6 轮；峰值不再下降即停，离线约 1 s。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760" b="0">
                <a:solidFill>
                  <a:srgbClr val="5A6673"/>
                </a:solidFill>
                <a:latin typeface="Microsoft YaHei"/>
              </a:rPr>
              <a:t>⑥ 复验后才交付　全对可达 + CDG 无环 + 每对唯一路径（保序）+ 牺牲仍为 0；任一项不过就整体回退到 M3′ 原表（兜底）。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60" b="1">
                <a:solidFill>
                  <a:srgbClr val="1E7F4F"/>
                </a:solidFill>
                <a:latin typeface="Microsoft YaHei"/>
              </a:rPr>
              <a:t>收益：峰值 135→111（无故障）、204→154（残图）；残图轻载 makespan 370→293 cy。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63055" y="3255264"/>
            <a:ext cx="5754319" cy="2212848"/>
          </a:xfrm>
          <a:prstGeom prst="roundRect">
            <a:avLst>
              <a:gd name="adj" fmla="val 1652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6163055" y="3255264"/>
            <a:ext cx="5754319" cy="274320"/>
          </a:xfrm>
          <a:prstGeom prst="roundRect">
            <a:avLst>
              <a:gd name="adj" fmla="val 13333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63055" y="3255264"/>
            <a:ext cx="50292" cy="27432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309359" y="3282696"/>
            <a:ext cx="547999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③ L4「禁令换位」：做法、结果、为什么不推荐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91071" y="3584448"/>
            <a:ext cx="5498287" cy="18105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1F2933"/>
                </a:solidFill>
                <a:latin typeface="Microsoft YaHei"/>
              </a:rPr>
              <a:t>禁令换位是什么　禁令总数不变，只把它们挪个位置：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① 找出当前最热的那条链路；② 在与它相关的被禁转向里挑一条放开；③ 放开必然成环（第 4 页 ②），就在这个环上挑一条「被路径用得最少」的转向改判为禁令，把环重新打断；④ 重验全对可达 + CDG 无环，峰值下降就保留、否则回退。如此反复若干轮。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7000B"/>
                </a:solidFill>
                <a:latin typeface="Microsoft YaHei"/>
              </a:rPr>
              <a:t>结果：更均衡，但更慢。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无故障峰值 111→101（1.05× 割界，几乎贴住理论下界），可是 all-to-all 重载 makespan 从 4561 涨到 6392 cy（+40%）；残图上峰值一点没降（154→154）。</a:t>
            </a:r>
          </a:p>
          <a:p>
            <a:pPr algn="l">
              <a:lnSpc>
                <a:spcPct val="118000"/>
              </a:lnSpc>
              <a:spcAft>
                <a:spcPts val="160"/>
              </a:spcAft>
            </a:pPr>
            <a:r>
              <a:rPr sz="770" b="0">
                <a:solidFill>
                  <a:srgbClr val="5A6673"/>
                </a:solidFill>
                <a:latin typeface="Microsoft YaHei"/>
              </a:rPr>
              <a:t>原因（一句话）　1 个 VC 意味着每个输入口只有一个共享队列：转向越自由，不同流在同一个队列里交织越多，队头阻塞（HOL）比链路负载更决定速度。west-first 峰值 98（1.02× 割界）却要 5858 cy，是同一现象。</a:t>
            </a:r>
          </a:p>
          <a:p>
            <a:pPr algn="l">
              <a:lnSpc>
                <a:spcPct val="118000"/>
              </a:lnSpc>
              <a:spcAft>
                <a:spcPts val="140"/>
              </a:spcAft>
            </a:pPr>
            <a:r>
              <a:rPr sz="800" b="1">
                <a:solidFill>
                  <a:srgbClr val="C87209"/>
                </a:solidFill>
                <a:latin typeface="Microsoft YaHei"/>
              </a:rPr>
              <a:t>所以真正该看的是这两个指标：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770" b="0">
                <a:solidFill>
                  <a:srgbClr val="1F2933"/>
                </a:solidFill>
                <a:latin typeface="Microsoft YaHei"/>
              </a:rPr>
              <a:t>① 牺牲了几个计算节点 —— 少牺牲就是多算力，每节点分到的活更少，端到端任务完成更快；② 实测 makespan。峰值只能当诊断量：最均衡的 XY 型放法恰恰在残图上不可路由、必须牺牲好节点。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4320" y="5577840"/>
            <a:ext cx="6729984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274320" y="5577840"/>
            <a:ext cx="6729984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274320" y="5577840"/>
            <a:ext cx="50292" cy="256032"/>
          </a:xfrm>
          <a:prstGeom prst="rect">
            <a:avLst/>
          </a:prstGeom>
          <a:solidFill>
            <a:srgbClr val="1E7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20623" y="5605272"/>
            <a:ext cx="645566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⑤ 结论与落地建议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2336" y="5870448"/>
            <a:ext cx="6492240" cy="3109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 dirty="0">
                <a:solidFill>
                  <a:srgbClr val="1F2933"/>
                </a:solidFill>
                <a:latin typeface="Microsoft YaHei"/>
              </a:rPr>
              <a:t>① 上 L3（M3′ + min-max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选路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）：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零硬件改动、峰值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−18%、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故障场景轻载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−21%。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19" b="0" dirty="0">
                <a:solidFill>
                  <a:srgbClr val="1F2933"/>
                </a:solidFill>
                <a:latin typeface="Microsoft YaHei"/>
              </a:rPr>
              <a:t>②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不上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L4：峰值虽再降 9% 到 1.05×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割界（已接近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XY），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但重载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makespan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反而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 +40%，</a:t>
            </a:r>
            <a:r>
              <a:rPr sz="819" b="0" dirty="0" err="1">
                <a:solidFill>
                  <a:srgbClr val="1F2933"/>
                </a:solidFill>
                <a:latin typeface="Microsoft YaHei"/>
              </a:rPr>
              <a:t>收益为负</a:t>
            </a:r>
            <a:r>
              <a:rPr sz="819" b="0" dirty="0">
                <a:solidFill>
                  <a:srgbClr val="1F2933"/>
                </a:solidFill>
                <a:latin typeface="Microsoft YaHei"/>
              </a:rPr>
              <a:t>。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32320" y="5577840"/>
            <a:ext cx="4785055" cy="1060704"/>
          </a:xfrm>
          <a:prstGeom prst="roundRect">
            <a:avLst>
              <a:gd name="adj" fmla="val 3448"/>
            </a:avLst>
          </a:prstGeom>
          <a:solidFill>
            <a:srgbClr val="F7F8FA"/>
          </a:solidFill>
          <a:ln w="952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7132320" y="5577840"/>
            <a:ext cx="4785055" cy="256032"/>
          </a:xfrm>
          <a:prstGeom prst="roundRect">
            <a:avLst>
              <a:gd name="adj" fmla="val 14285"/>
            </a:avLst>
          </a:prstGeom>
          <a:solidFill>
            <a:srgbClr val="E8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132320" y="5577840"/>
            <a:ext cx="50292" cy="256032"/>
          </a:xfrm>
          <a:prstGeom prst="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7278624" y="5605272"/>
            <a:ext cx="451073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1F2933"/>
                </a:solidFill>
                <a:latin typeface="Microsoft YaHei"/>
              </a:rPr>
              <a:t>⑥ 出处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60336" y="5870448"/>
            <a:ext cx="4529023" cy="713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00" b="0" dirty="0">
                <a:solidFill>
                  <a:srgbClr val="5A6673"/>
                </a:solidFill>
                <a:latin typeface="Microsoft YaHei"/>
              </a:rPr>
              <a:t>Up*/Down*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原始出处：Schroeder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等，Autonet，IEEE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JSAC 9(8), 1991。无环 CDG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判据：Dally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&amp;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Seitz，IEEE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TC C-36(5), 1987。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00" b="0" dirty="0">
                <a:solidFill>
                  <a:srgbClr val="5A6673"/>
                </a:solidFill>
                <a:latin typeface="Microsoft YaHei"/>
              </a:rPr>
              <a:t>「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禁令放哪」的系统性方法：Mejía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等，Segment-based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Routing，IPDPS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2006；Starobinski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等，Turn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Prohibition，IEEE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/ACM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ToN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11(3), 2003；DFS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建树的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up*/down*：Sancho </a:t>
            </a:r>
            <a:r>
              <a:rPr sz="800" b="0" dirty="0" err="1">
                <a:solidFill>
                  <a:srgbClr val="5A6673"/>
                </a:solidFill>
                <a:latin typeface="Microsoft YaHei"/>
              </a:rPr>
              <a:t>等，Euro-Par</a:t>
            </a:r>
            <a:r>
              <a:rPr sz="800" b="0" dirty="0">
                <a:solidFill>
                  <a:srgbClr val="5A6673"/>
                </a:solidFill>
                <a:latin typeface="Microsoft YaHei"/>
              </a:rPr>
              <a:t> 2000。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3301</Words>
  <Application>Microsoft Office PowerPoint</Application>
  <PresentationFormat>宽屏</PresentationFormat>
  <Paragraphs>376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等线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Luke Liu</cp:lastModifiedBy>
  <cp:revision>6</cp:revision>
  <dcterms:created xsi:type="dcterms:W3CDTF">2013-01-27T09:14:16Z</dcterms:created>
  <dcterms:modified xsi:type="dcterms:W3CDTF">2026-08-13T08:03:36Z</dcterms:modified>
  <cp:category/>
</cp:coreProperties>
</file>