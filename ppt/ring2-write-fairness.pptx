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9464040" y="1097280"/>
            <a:ext cx="731520" cy="731520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2011680"/>
            <a:ext cx="1737360" cy="173736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06840" y="3611880"/>
            <a:ext cx="329184" cy="329184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0" y="1783080"/>
            <a:ext cx="640080" cy="64008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170432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1481328"/>
            <a:ext cx="256032" cy="25603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95728"/>
            <a:ext cx="7498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20A2E"/>
                </a:solidFill>
                <a:latin typeface="Arial"/>
              </a:rPr>
              <a:t>N O C   A R C H I T E C T U R E   R E V I E W   ·   2 0 - N O D E   B U F F E R L E S S   R I N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43200"/>
            <a:ext cx="7863840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800" b="1">
                <a:solidFill>
                  <a:srgbClr val="20242C"/>
                </a:solidFill>
                <a:latin typeface="Microsoft YaHei"/>
              </a:rPr>
              <a:t>满带宽下的</a:t>
            </a:r>
          </a:p>
          <a:p>
            <a:pPr algn="l">
              <a:lnSpc>
                <a:spcPct val="94000"/>
              </a:lnSpc>
              <a:spcBef>
                <a:spcPts val="500"/>
              </a:spcBef>
            </a:pPr>
            <a:r>
              <a:rPr sz="4800" b="1">
                <a:solidFill>
                  <a:srgbClr val="20242C"/>
                </a:solidFill>
                <a:latin typeface="Microsoft YaHei"/>
              </a:rPr>
              <a:t>多核带宽不均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626864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667080"/>
                </a:solidFill>
                <a:latin typeface="Microsoft YaHei"/>
              </a:rPr>
              <a:t>研究问题：无缓存环接近 R* 时，几何造成的六快四慢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450" b="0">
                <a:solidFill>
                  <a:srgbClr val="667080"/>
                </a:solidFill>
                <a:latin typeface="Microsoft YaHei"/>
              </a:rPr>
              <a:t>能否在不牺牲总带宽的前提下被控制器抹平？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035040"/>
            <a:ext cx="8778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汇报对象：芯片架构师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口径：问题 → 度量 → 机制 → 上界 → 决策 · uniform tiled 写 · K = 20000 · 每核 outstanding = 128 · 主指标 100 拍窗 CoV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57400"/>
            <a:ext cx="3703320" cy="31089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496311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C O N T E N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825496"/>
            <a:ext cx="29260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9227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7 SECTIONS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960120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6008" y="960120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960120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960120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问题与口径：拓扑、争用窗、100 拍 CoV、outstanding = 128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1738666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6008" y="1738666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738666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1738666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S0：现象 → 逐拍账本 → 结构根因（几何 × 在环优先）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2517212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2517212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2517212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517212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S1：机制、实测、信号消融 —— 为何只能换一端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3295758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8" y="3295758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295758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295758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设计空间：信号 × 控制点；空白格已核对无既有保留方案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4074305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36008" y="4074305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4074305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4074305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理论上界 R(CoV) 与单一标量 φ = (R − κ·CoV)/R*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4852851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36008" y="4852851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8" y="4852851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852851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可实现点：S16 / S22 / S29 的机制、硬件与实测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5631397"/>
            <a:ext cx="6988759" cy="63224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36008" y="5631397"/>
            <a:ext cx="603504" cy="63224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5631397"/>
            <a:ext cx="603504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8" y="5631397"/>
            <a:ext cx="5891479" cy="632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0242C"/>
                </a:solidFill>
                <a:latin typeface="Microsoft YaHei"/>
              </a:rPr>
              <a:t>结论：一项架构决策（HA 授权能不能改）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02 /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O N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问题背景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667080"/>
                </a:solidFill>
                <a:latin typeface="Microsoft YaHei"/>
              </a:rPr>
              <a:t>拓扑、节点角色、路由规则，以及决定结论的那几项关键 setup。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 E Y   M E S S A G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10 个 AI core 对 8 个 memory HA 做 CHI WriteNoSnp。先固定度量（争用窗 + 100 拍 CoV），再问总带宽和瞬时份额各卡在哪。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03 /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拓扑与节点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04-to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60704"/>
            <a:ext cx="4791456" cy="479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6188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蓝 = AI core（10）· 橙 = memory HA（8）· 灰 = 非终端 N9 / N19；边上数字为 hop 时延（拍）。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060704"/>
            <a:ext cx="5278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T O P O L O G Y   &amp;   R O U T I N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5936" y="1408176"/>
            <a:ext cx="5278831" cy="201518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809810"/>
            <a:ext cx="49130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20 节点单 plane 双向闭合 full 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151186"/>
            <a:ext cx="491307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节点角色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：10 个 AI core（C0–C18 偶数）发起写；8 个 memory HA（M1–M17 奇数）为 completer；N9 / N19 只转发，不收发。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路由：时延最短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。按链路时延之和选 CW / CCW，时延平局比跳数，再平局取 CW；core→mem 与 mem→core 同一规则。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3569664"/>
            <a:ext cx="5278831" cy="1612147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4006465"/>
            <a:ext cx="49130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几何后果：本次问题的起点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4347841"/>
            <a:ext cx="4913071" cy="433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因为 N9 / N19 不是 mem，C0 / C8 / C10 / C18 的「邻接 mem 数」只有 1，其余六核为 2。这一条几何差异，直接决定了后面看到的六快四慢。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5936" y="5328116"/>
            <a:ext cx="5278831" cy="999531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5419556"/>
            <a:ext cx="4657039" cy="816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20 节点 / 1 plane · 10 core + 8 HA + 2 非终端 · 等速率理论上限 R* = 5.7143 flit/cycle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协议：CHI WriteNoSnp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P R O T O C O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一笔写 = 四拍握手，被计量的只有第三拍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38342"/>
            <a:ext cx="2599867" cy="252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657798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40094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52497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REQ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949499"/>
            <a:ext cx="2160955" cy="471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core → HA，1 flit，走时延最短方向，占 REQ VC。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6251" y="2438342"/>
            <a:ext cx="2599867" cy="252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5707" y="2657798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5707" y="2740094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07" y="3552497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DBIDResp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5707" y="3949499"/>
            <a:ext cx="2160955" cy="471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HA → core，1 flit，反方向，占 RSP VC。HA think time = 0。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5575" y="2438342"/>
            <a:ext cx="2599867" cy="2529954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5031" y="2657798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031" y="2740094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3315812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20A2E"/>
                </a:solidFill>
                <a:latin typeface="Microsoft YaHei"/>
              </a:rPr>
              <a:t>WriteData ×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3712814"/>
            <a:ext cx="2160955" cy="94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core → HA，2 flit，占 DAT VC。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per-core 写带宽 = 争用窗内成功上环的 WriteData flit / cycle。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4899" y="2438342"/>
            <a:ext cx="2599867" cy="252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44355" y="2657798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2740094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3443748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Comp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355" y="3840750"/>
            <a:ext cx="2160955" cy="689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HA → core，1 flit，占 RSP VC，释放该笔事务的 tracker 表项。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486400"/>
            <a:ext cx="11057839" cy="8412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577840"/>
            <a:ext cx="1043604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度量：闭环批量每核 K 笔，争用窗 [0, 第一核耗尽]；主指标 = 100 拍窗内十核写带宽的 CoV（标准差 / 均值）再对窗取平均；辅指标 = 全程总带宽 / R* 与各核完成时间。全篇同一口径。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关键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F A B R I C   C O N F I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八项决定结论的配置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05214"/>
            <a:ext cx="2599867" cy="176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04967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上环端口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74156"/>
            <a:ext cx="219753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每方向一组 × REQ / RSP / DAT，每口 1 flit/cycle → 每节点 6 个上环口。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251" y="2405214"/>
            <a:ext cx="2599867" cy="176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7419" y="2804967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下环端口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7419" y="3174156"/>
            <a:ext cx="219753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每 (node, VC) 一个「两写一读」buffer：两方向可同拍各写 1 flit，PE 每拍只读 1 flit。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5575" y="2405214"/>
            <a:ext cx="2599867" cy="176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2804967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上环队列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3174156"/>
            <a:ext cx="219753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每 (node, VC) 12 深共享 FIFO + 每向 8 深 inject Q，各接一个上环口。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4899" y="2405214"/>
            <a:ext cx="2599867" cy="176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067" y="2804967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下环队列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067" y="3174156"/>
            <a:ext cx="219753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深度 12。整轮里满的比例 0%，从来不是瓶颈 —— 所以带宽不是被下环侧卡住的。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2599867" cy="1764449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888165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D20A2E"/>
                </a:solidFill>
                <a:latin typeface="Microsoft YaHei"/>
              </a:rPr>
              <a:t>在环绝对优先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257354"/>
            <a:ext cx="2197531" cy="433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bufferless：transit flit 永不被本地注入打断，注入只能挤空隙。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6251" y="4389120"/>
            <a:ext cx="2599867" cy="176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7419" y="4788872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I-tag / E-tag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7419" y="5158061"/>
            <a:ext cx="219753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t_inj = 16、hold = 8 定向上游预约单槽；t_xfer = 1，首次下环失败即打标，再到达时最高优先级下环。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5575" y="4389120"/>
            <a:ext cx="2599867" cy="1764449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6743" y="4590288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D20A2E"/>
                </a:solidFill>
                <a:latin typeface="Microsoft YaHei"/>
              </a:rPr>
              <a:t>每核 outstanding = 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4959476"/>
            <a:ext cx="2197531" cy="102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全文统一设定，不是扫描轴。最坏空载写 RTT 89 拍 × 等速率 2/7 笔/拍 ≈ 26 笔在飞，所以 128 不绑定环；HA tracker 512 远大于 10 × 128 的供给，也不绑定。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4899" y="4389120"/>
            <a:ext cx="2599867" cy="176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067" y="4788872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专用流控总线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067" y="5158061"/>
            <a:ext cx="219753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广播，不占 NoC hop；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任何使用固定 30 拍延迟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（物理约束，不是可调项），控制窗 64 拍。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T W 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S0 的具体问题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667080"/>
                </a:solidFill>
                <a:latin typeface="Microsoft YaHei"/>
              </a:rPr>
              <a:t>总带宽已经打到理论上限的 97.02%，但十个核的长期速率差 1.8485 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 E Y   M E S S A G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带宽这条线基本关死了；真正的缺陷在公平性一侧，而且是几何决定的固定分组，不是随机抖动。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S0：总带宽已打满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D20A2E"/>
                </a:solidFill>
                <a:latin typeface="Arial"/>
              </a:rPr>
              <a:t>B A N D W I D T H   I S   S A T U R A T E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97.02%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667080"/>
                </a:solidFill>
                <a:latin typeface="Microsoft YaHei"/>
              </a:rPr>
              <a:t>S0 = 5.5440 flit/cycle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50" b="0">
                <a:solidFill>
                  <a:srgbClr val="667080"/>
                </a:solidFill>
                <a:latin typeface="Microsoft YaHei"/>
              </a:rPr>
              <a:t>占等速率上限 R* = 5.7143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07-total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5820"/>
            <a:ext cx="8241487" cy="24524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839744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67080"/>
                </a:solidFill>
                <a:latin typeface="Microsoft YaHei"/>
              </a:rPr>
              <a:t>左 = 每个 VC 的 40 条有向链路按占用率排序，天花板是「每拍 1 flit」；右 = 绑定链路的拍数预算。两幅都不把分箱带宽和理论上限放在同一根轴上。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03841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判据：链路已经快满了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398335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最忙 hop（7:1:rsp）占用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98.78%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。它们就是 R* 的绑定项 —— 带宽是被链路卡住的，不是被队列或端口卡住的。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733229"/>
            <a:ext cx="3527450" cy="1594418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差的 2.98% 是什么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294315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makespan 72,150 = 70,000 载有效载荷 + 1,270 绕环重发 +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880 空转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，三项逐拍相加相等。core_outstanding 固定为 128、覆盖最坏 RTT；在这个前提下，环没有被在飞上限卡住。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官方 S0 已是 I-tag 的带宽最高点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294315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I-tag 工作点 t_inj = 16、hold = 8 来自官方网格的带宽最优，总带宽 97.02% R*。再往公平一侧调（更短 t_inj / 更短 hold）会掉带宽；加深下环队列也不能抬高这条绑定 hop。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08 /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S0：各核写带宽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P E R - C O R E   B A N D W I D T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1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>
                <a:solidFill>
                  <a:srgbClr val="20242C"/>
                </a:solidFill>
                <a:latin typeface="Microsoft YaHei"/>
              </a:rPr>
              <a:t>六快四慢，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2900" b="1">
                <a:solidFill>
                  <a:srgbClr val="20242C"/>
                </a:solidFill>
                <a:latin typeface="Microsoft YaHei"/>
              </a:rPr>
              <a:t>是固定分组不是抖动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7238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667080"/>
                </a:solidFill>
                <a:latin typeface="Microsoft YaHei"/>
              </a:rPr>
              <a:t>最低 C8 = 0.41444，最高 C14 = 0.76611。慢的那四个正是「邻接 mem 数 = 1」的 C0 / C8 / C10 / C18。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36576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D20A2E"/>
                </a:solidFill>
                <a:latin typeface="Arial"/>
              </a:rPr>
              <a:t>1.8485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0974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整窗 MAX / MIN（S0，K = 20000）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1152144"/>
            <a:ext cx="6120079" cy="517550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5584" y="1552651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534363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1534363"/>
            <a:ext cx="2306043" cy="237744"/>
          </a:xfrm>
          <a:prstGeom prst="rect">
            <a:avLst/>
          </a:prstGeom>
          <a:solidFill>
            <a:srgbClr val="9C0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82351" y="1552651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0.417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4" y="1969617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1951329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2512" y="1951329"/>
            <a:ext cx="4153430" cy="23774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82351" y="1969617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0.752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2386584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2512" y="2368296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2368296"/>
            <a:ext cx="4219474" cy="23774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2351" y="238658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0.763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584" y="2803550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2785262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82512" y="2785262"/>
            <a:ext cx="4143814" cy="23774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82351" y="2803550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0.750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4" y="3220516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3202228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3202228"/>
            <a:ext cx="2290458" cy="237744"/>
          </a:xfrm>
          <a:prstGeom prst="rect">
            <a:avLst/>
          </a:prstGeom>
          <a:solidFill>
            <a:srgbClr val="9C0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82351" y="3220516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0.414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637483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3619195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82512" y="3619195"/>
            <a:ext cx="2331686" cy="237744"/>
          </a:xfrm>
          <a:prstGeom prst="rect">
            <a:avLst/>
          </a:prstGeom>
          <a:solidFill>
            <a:srgbClr val="9C0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2351" y="3637483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0.422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4054449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4036161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82512" y="4036161"/>
            <a:ext cx="4179350" cy="23774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82351" y="4054449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0.756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4471416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453128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2512" y="4453128"/>
            <a:ext cx="4234009" cy="23774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82351" y="4471416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0.766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584" y="4888382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2512" y="4870094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82512" y="4870094"/>
            <a:ext cx="4128340" cy="23774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82351" y="4888382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0.747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15584" y="5305348"/>
            <a:ext cx="5120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080"/>
                </a:solidFill>
                <a:latin typeface="Arial"/>
              </a:rPr>
              <a:t>C18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5287060"/>
            <a:ext cx="4144975" cy="23774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82512" y="5287060"/>
            <a:ext cx="2323065" cy="237744"/>
          </a:xfrm>
          <a:prstGeom prst="rect">
            <a:avLst/>
          </a:prstGeom>
          <a:solidFill>
            <a:srgbClr val="9C0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82351" y="530534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0242C"/>
                </a:solidFill>
                <a:latin typeface="Arial"/>
              </a:rPr>
              <a:t>0.420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15584" y="5779007"/>
            <a:ext cx="549828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条长按 0.75 flit/cycle 归一。8 个 HA 收到的 WriteData 完全相等（50,000 / HA），所以这不是访存不均。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09 /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S0：100 拍瞬时不均衡度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20A2E"/>
                </a:solidFill>
                <a:latin typeface="Arial"/>
              </a:rPr>
              <a:t>I N S T A N T A N E O U S   I M B A L A N C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0.3911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100 拍窗十核带宽的 CoV（标准差 / 均值）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理想控制器 ≈ 0（整数粒度）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09-s0-inst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65520"/>
            <a:ext cx="8241487" cy="25130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870044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左 = 主指标随时间；右 = 同一份数据换观察窗宽度，实测始终高于理想控制器。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03841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不是个别坏箱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398335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522 个箱里最差 5% 的箱 CoV ≥ 0.468，最差箱 0.502。右图把观察窗一路放宽：抹平抖动后仍收敛到 0.2663 的地板，到不了理想控制器。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733229"/>
            <a:ext cx="3527450" cy="1594418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503841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抖动抹平后的下限仍有 0.2663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398335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给每核每箱都填上它自己的长期均值（抖动全抹掉、只留速率差），CoV 就降到底了 —— 这是任何「只整时机、不搬份额」机制的地板。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所以要降低不均衡度，必须真的搬速率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294315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核间长期速率 41.45 vs 76.61 flit/箱（比 1.8481）。核内抖动占方差 54.3%，但封顶的是另外那 45.7% 的核间差 —— 100 拍窗内每核有 62.1 个 flit，整数粒度不构成限制。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根因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R O O T   C A U S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几何 × 机制 = 固定的六快四慢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15205"/>
            <a:ext cx="3527450" cy="296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3034661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116957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673762"/>
            <a:ext cx="3088538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几何：邻接 mem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070764"/>
            <a:ext cx="3088538" cy="14177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N9 / N19 是非终端，于是 C0 / C8 / C10 / C18 紧邻的 memory 只有一个。它们的写必须挤到环上最忙的那几条 hop 上，而其余六核可以在两侧分流。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1">
                <a:solidFill>
                  <a:srgbClr val="D20A2E"/>
                </a:solidFill>
                <a:latin typeface="Microsoft YaHei"/>
              </a:rPr>
              <a:t>带宽与邻接 mem 数的相关系数 0.997。改路由也变不出第二个邻居。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2122" y="2815205"/>
            <a:ext cx="3527450" cy="296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1578" y="3034661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1578" y="3116957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3565013"/>
            <a:ext cx="3088538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机制：在环绝对优先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3962015"/>
            <a:ext cx="3088538" cy="163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无缓存环上 transit flit 永不被本地注入打断，注入只能挤空隙。决定上环延迟的是空隙的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分布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而不是总量 —— 坐在热段起点的节点看到的空隙最少、最不规则。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1">
                <a:solidFill>
                  <a:srgbClr val="D20A2E"/>
                </a:solidFill>
                <a:latin typeface="Microsoft YaHei"/>
              </a:rPr>
              <a:t>官方 run 最忙 hop 占用 98.78%；短探测把绑定 hop 的空槽逐拍分类，「端口空闲」一列合计近零 —— 没有一个空槽是仲裁失误。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2815205"/>
            <a:ext cx="3527450" cy="296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16772" y="3034661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6772" y="3116957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6772" y="3782510"/>
            <a:ext cx="3088538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症状：差距全在「等着上环」这一段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772" y="4179512"/>
            <a:ext cx="3088538" cy="12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8 个 HA 收到的 WriteData 完全相等，每核每方向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成功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上环数也被路由钉死在 30,000 笔、逐位相同。服务侧没有任何不均。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1">
                <a:solidFill>
                  <a:srgbClr val="D20A2E"/>
                </a:solidFill>
                <a:latin typeface="Microsoft YaHei"/>
              </a:rPr>
              <a:t>所以差的不是「谁被服务得多」，而是「谁等得久」—— 决策点在注入排队，不在存储侧。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T H R E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S1 方案与实测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667080"/>
                </a:solidFill>
                <a:latin typeface="Microsoft YaHei"/>
              </a:rPr>
              <a:t>拥塞检测、拥塞传递、拥塞反馈、流量控制，以及两个工作点的实测。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 E Y   M E S S A G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S1 默认档：CoV 0.3911 → 0.2169（-0.174），总写带宽 -15.3%；S1T 把带宽收回后，CoV 回到与 S0 同一水平。计入 leave FIFO 占用 &gt; 1 之后，S1D 不再等于 S0：下环一路能驱动等级，但几乎只掉带宽、不搬公平。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 机制：检测 / 传递 / 反馈 / 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E N D E R - D R I V E N   ·   R A T E - B A S E D   ·   B U S - T R I G G E R E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S1：拥塞等级广播 + 节点级 AIMD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164509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拥塞检测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561511"/>
            <a:ext cx="2160955" cy="12475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每节点每 64 拍窗统计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上环失败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与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下环失败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（绕环偏转 + leave FIFO 写入后占用 &gt; 1），分 total（任何原因）与 net（仅在环占用造成）两路。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等级 = min(7, 计数 ÷ 8)，量化成 3 bit：0–7→0，8–15→1，…，≥56→7。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6251" y="219456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5707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5707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07" y="2970653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拥塞传递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5707" y="3367655"/>
            <a:ext cx="2160955" cy="163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每方向 3 bit 的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专用广播总线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，从不占用 NoC hop，因此不会自我加剧拥塞。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本设计里任何总线使用固定 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30 拍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延迟（物理约束）；30 &lt; 窗口 64，所以反馈仍能赶在下一次 AIMD 之前送到。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5575" y="219456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5031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031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3188150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拥塞反馈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3585152"/>
            <a:ext cx="2160955" cy="12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每节点维护一张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受控节点表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 —— 自己的 flit 会经过的那些 path nodes（20 项 × 6 bit）。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反馈值取这些节点等级的 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max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：路径上最堵的那一段说了算。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4899" y="2194560"/>
            <a:ext cx="2599867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44355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2970653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20A2E"/>
                </a:solidFill>
                <a:latin typeface="Microsoft YaHei"/>
              </a:rPr>
              <a:t>流量控制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355" y="3367655"/>
            <a:ext cx="2160955" cy="163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最终等级 = level_of(自身 total 失败 − 8 × 收到的 max net 等级)。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对每窗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整型注入预算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做 AIMD：乘性减 α = 0.75 / 0.5 / 0.25，加性增 β = +16 / +8 / +2，出口是令牌桶闸门。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486400"/>
            <a:ext cx="11057839" cy="8412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577840"/>
            <a:ext cx="1043604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第 ① 段的信号是本节点上环失败。无缓存环上这类失败多数来自他人 transit，因此等级同时反映「本核注入多」和「本核被路过」。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 效果：默认档与调参档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20A2E"/>
                </a:solidFill>
                <a:latin typeface="Arial"/>
              </a:rPr>
              <a:t>T W O   O P E R A T I N G   P O I N T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-15.3%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667080"/>
                </a:solidFill>
                <a:latin typeface="Microsoft YaHei"/>
              </a:rPr>
              <a:t>S1 默认档相对 S0 的总写带宽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50" b="0">
                <a:solidFill>
                  <a:srgbClr val="667080"/>
                </a:solidFill>
                <a:latin typeface="Microsoft YaHei"/>
              </a:rPr>
              <a:t>CoV -0.174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12-s1-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04921"/>
            <a:ext cx="8241487" cy="263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930643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67080"/>
                </a:solidFill>
                <a:latin typeface="Microsoft YaHei"/>
              </a:rPr>
              <a:t>左 = 每核写带宽对比；右 = 总写带宽—CoV（横轴 CoV，纵轴总写带宽）。圆 / 方 = S1 的 AIMD 网格（band × cap × window × burst × dir_split × scope）；星 = S0 / 出厂 S1 / S1T。下环失败含 leave FIFO 占用 &gt; 1。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03841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S1 默认（band = spec）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398335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100 拍窗 CoV 0.3911 →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0.2169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，整窗 max/min 1.8485 → 1.3348；总写带宽 5.5440 →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4.6982（-15.3%）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733229"/>
            <a:ext cx="3527450" cy="1594418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S1T 每向预算（调参后）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294315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 的 AIMD 网格（band / cap / window / burst / dir_split / scope）选出的最优点（dir_split、cap 0.5、w 64、burst 1）：带宽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5.4763（-1.2%）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，CoV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0.3940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，max/min 1.9247。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514243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两档各取一端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502356"/>
            <a:ext cx="3125114" cy="45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从 S1 走到 S1T：带宽 +16.6%，CoV +0.177。带宽接近 S0 的配置，CoV 也回到 S0 附近。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 实测：各核带宽如何变化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E A S U R E D   P E R - C O R E   S H I F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>
                <a:solidFill>
                  <a:srgbClr val="20242C"/>
                </a:solidFill>
                <a:latin typeface="Microsoft YaHei"/>
              </a:rPr>
              <a:t>快核被压下来，慢核窗内速率略升，总带宽仍掉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79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0"/>
                </a:solidFill>
                <a:latin typeface="Microsoft YaHei"/>
              </a:rPr>
              <a:t>max/min 从 1.8485 降到 1.3348：差距在收，总量也在收。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78608"/>
            <a:ext cx="5391759" cy="245059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4879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67080"/>
                </a:solidFill>
                <a:latin typeface="Microsoft YaHei"/>
              </a:rPr>
              <a:t>机制在做什么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4879695" cy="1536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检测</a:t>
            </a:r>
            <a:r>
              <a:rPr sz="1200" b="0">
                <a:solidFill>
                  <a:srgbClr val="20242C"/>
                </a:solidFill>
                <a:latin typeface="Microsoft YaHei"/>
              </a:rPr>
              <a:t>：本节点上环失败 / 下环失败（真偏转 + leave FIFO 占用 &gt; 1），量化成 3 bit 拥塞等级。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控制</a:t>
            </a:r>
            <a:r>
              <a:rPr sz="1200" b="0">
                <a:solidFill>
                  <a:srgbClr val="20242C"/>
                </a:solidFill>
                <a:latin typeface="Microsoft YaHei"/>
              </a:rPr>
              <a:t>：按路径上最高等级对注入预算做 AIMD，出口是令牌桶。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执行</a:t>
            </a:r>
            <a:r>
              <a:rPr sz="1200" b="0">
                <a:solidFill>
                  <a:srgbClr val="20242C"/>
                </a:solidFill>
                <a:latin typeface="Microsoft YaHei"/>
              </a:rPr>
              <a:t>：没额度的拍不上环。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578608"/>
            <a:ext cx="5391759" cy="2450591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039" y="2798064"/>
            <a:ext cx="4879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20A2E"/>
                </a:solidFill>
                <a:latin typeface="Microsoft YaHei"/>
              </a:rPr>
              <a:t>实测各核变化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3236976"/>
            <a:ext cx="4879695" cy="1536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信号来源</a:t>
            </a:r>
            <a:r>
              <a:rPr sz="1200" b="0">
                <a:solidFill>
                  <a:srgbClr val="20242C"/>
                </a:solidFill>
                <a:latin typeface="Microsoft YaHei"/>
              </a:rPr>
              <a:t>：乘性减仍主要由本节点上环失败触发；下环一路现在把 leave FIFO 占用 &gt; 1 也算进去。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快核被压、慢核略升</a:t>
            </a:r>
            <a:r>
              <a:rPr sz="1200" b="0">
                <a:solidFill>
                  <a:srgbClr val="20242C"/>
                </a:solidFill>
                <a:latin typeface="Microsoft YaHei"/>
              </a:rPr>
              <a:t>：慢核 C8 0.41444 → 0.43528（+5.0%），快核 C14 0.76611 → 0.57095（-25.5%）。</a:t>
            </a:r>
          </a:p>
          <a:p>
            <a:pPr algn="l">
              <a:lnSpc>
                <a:spcPct val="102000"/>
              </a:lnSpc>
              <a:spcBef>
                <a:spcPts val="1000"/>
              </a:spcBef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令牌桶</a:t>
            </a:r>
            <a:r>
              <a:rPr sz="1200" b="0">
                <a:solidFill>
                  <a:srgbClr val="20242C"/>
                </a:solidFill>
                <a:latin typeface="Microsoft YaHei"/>
              </a:rPr>
              <a:t>：没额度就不上环；该槽沿途节点都可以使用。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266944"/>
            <a:ext cx="3527450" cy="106070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413248"/>
            <a:ext cx="352745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D20A2E"/>
                </a:solidFill>
                <a:latin typeface="Arial"/>
              </a:rPr>
              <a:t>-15.3%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943600"/>
            <a:ext cx="31251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80"/>
                </a:solidFill>
                <a:latin typeface="Microsoft YaHei"/>
              </a:rPr>
              <a:t>S1 默认档相对 S0 的总写带宽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2122" y="5266944"/>
            <a:ext cx="3527450" cy="106070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2122" y="5413248"/>
            <a:ext cx="352745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D20A2E"/>
                </a:solidFill>
                <a:latin typeface="Arial"/>
              </a:rPr>
              <a:t>54 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290" y="5943600"/>
            <a:ext cx="31251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80"/>
                </a:solidFill>
                <a:latin typeface="Microsoft YaHei"/>
              </a:rPr>
              <a:t>S1 AIMD 参数网格（去重后）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5266944"/>
            <a:ext cx="3527450" cy="106070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7316" y="5413248"/>
            <a:ext cx="352745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D20A2E"/>
                </a:solidFill>
                <a:latin typeface="Arial"/>
              </a:rPr>
              <a:t>21,220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8484" y="5943600"/>
            <a:ext cx="31251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80"/>
                </a:solidFill>
                <a:latin typeface="Microsoft YaHei"/>
              </a:rPr>
              <a:t>S1 硬件 FF‑eq（总线 + 表 + 乘法器 + 令牌桶）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 信号细分：只计上环失败 / 只计下环失败 / 两者都计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1   S I G N A L   S P L I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2200" b="1">
                <a:solidFill>
                  <a:srgbClr val="D20A2E"/>
                </a:solidFill>
                <a:latin typeface="Arial"/>
              </a:rPr>
              <a:t>280,470</a:t>
            </a:r>
          </a:p>
          <a:p>
            <a:pPr algn="l">
              <a:lnSpc>
                <a:spcPct val="94000"/>
              </a:lnSpc>
              <a:spcBef>
                <a:spcPts val="500"/>
              </a:spcBef>
            </a:pPr>
            <a:r>
              <a:rPr sz="2200" b="1">
                <a:solidFill>
                  <a:srgbClr val="D20A2E"/>
                </a:solidFill>
                <a:latin typeface="Arial"/>
              </a:rPr>
              <a:t>/ 900,119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31136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下环失败 / 上环失败（S1 全程）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下环 = 真偏转 0 + FIFO 占用&gt;1  280,470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17520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38-s1-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687" y="1024128"/>
            <a:ext cx="7898672" cy="23943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509949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7080"/>
                </a:solidFill>
                <a:latin typeface="Microsoft YaHei"/>
              </a:rPr>
              <a:t>四根柱 = S0 / S1D（只计下环）/ S1U（只计上环）/ S1（都计），K = 20000 uniform 写；下环失败 = 绕环偏转 + 两写一读 leave FIFO 占用 &gt; 1。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131741"/>
            <a:ext cx="3527450" cy="2195906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633653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三档怎么实现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93571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参数 signal = up / down / both：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up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只计上环失败；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down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只计下环失败（真偏转，以及 leave FIFO 写入后深度 &gt; 1）；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both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= 现有 S1，取二者 max。FIFO 本身仍是两写一读、深度 12。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131741"/>
            <a:ext cx="3527450" cy="2195906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332909"/>
            <a:ext cx="3125114" cy="518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实测：计入 FIFO 占用后下环一路不再沉默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4933873"/>
            <a:ext cx="3125114" cy="1229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S1U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：总带宽 4.9728、100 拍 CoV 0.2169、完成时间 68,843–80,387。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S1D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：4.8976 / 0.3954 / 52,792–81,633。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S1D 不再等于 S0：leave FIFO 占用 &gt; 1 已经能驱动 down 等级。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131741"/>
            <a:ext cx="3527450" cy="2195906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491532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新口径下的量级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4851450"/>
            <a:ext cx="3125114" cy="11529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 全程上环失败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900,119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次；下环失败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280,470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次（其中绕环偏转 0，FIFO 占用&gt;1  280,470）。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1">
                <a:solidFill>
                  <a:srgbClr val="D20A2E"/>
                </a:solidFill>
                <a:latin typeface="Microsoft YaHei"/>
              </a:rPr>
              <a:t>占用 &gt; 1 只改计数与 S1 的 down 信号，不把 flit 再送回环，也不打 E-tag。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 信号细分：各核完成时间曲线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20A2E"/>
                </a:solidFill>
                <a:latin typeface="Arial"/>
              </a:rPr>
              <a:t>P E R - C O R E   C O M P L E T I O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2200" b="1">
                <a:solidFill>
                  <a:srgbClr val="D20A2E"/>
                </a:solidFill>
                <a:latin typeface="Arial"/>
              </a:rPr>
              <a:t>1.546</a:t>
            </a:r>
          </a:p>
          <a:p>
            <a:pPr algn="l">
              <a:lnSpc>
                <a:spcPct val="94000"/>
              </a:lnSpc>
              <a:spcBef>
                <a:spcPts val="500"/>
              </a:spcBef>
            </a:pPr>
            <a:r>
              <a:rPr sz="2200" b="1">
                <a:solidFill>
                  <a:srgbClr val="D20A2E"/>
                </a:solidFill>
                <a:latin typeface="Arial"/>
              </a:rPr>
              <a:t>→ 1.168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31136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667080"/>
                </a:solidFill>
                <a:latin typeface="Microsoft YaHei"/>
              </a:rPr>
              <a:t>最晚 / 最早：S1D → S1U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50" b="0">
                <a:solidFill>
                  <a:srgbClr val="667080"/>
                </a:solidFill>
                <a:latin typeface="Microsoft YaHei"/>
              </a:rPr>
              <a:t>同一组四个慢核，差距收窄但仍在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17520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39-s1-signal-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54560"/>
            <a:ext cx="8241487" cy="27269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872963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67080"/>
                </a:solidFill>
                <a:latin typeface="Microsoft YaHei"/>
              </a:rPr>
              <a:t>横轴 cycle，纵轴 = 该核已上环 WriteData / 本核配额；红 = 邻 mem = 1 的四核（C0 / C8 / C10 / C18），蓝 = 其余六核；右 = 十核最后一个 flit 上环的时刻。下环失败含 leave FIFO 占用 &gt; 1。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525187"/>
            <a:ext cx="3527450" cy="180246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S1D：只听下环失败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294315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十核完成时间 52,792–81,633，比值 1.546。leave FIFO 占用 &gt; 1 已经进入 down 信号，完成曲线不再等于 S0。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525187"/>
            <a:ext cx="3527450" cy="180246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503841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S1U：只听上环失败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398335"/>
            <a:ext cx="3125114" cy="45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十核完成时间 68,843–80,387，比值 1.168；最早完成时刻从 52,212 推到 68,843。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525187"/>
            <a:ext cx="3527450" cy="180246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726355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两个口径说的不是一件事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086273"/>
            <a:ext cx="3125114" cy="1076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100 拍 CoV 看窗内瞬时份额，完成时间比看长期速率。S1 把 CoV 从 0.3911 降到 0.2169（-0.174），完成时间比从 1.382 到 1.236，四慢核依然是同一组核。全部 13 个方案的完成曲线见第六节末两页。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F O U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现有拥塞控制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算法的分类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667080"/>
                </a:solidFill>
                <a:latin typeface="Microsoft YaHei"/>
              </a:rPr>
              <a:t>按第 21 页的两个正交维度分类：先按拥塞信号（行），再按控制点（列），给出各类优缺点并定位 S1。空白格已按保留名单核对：无一落入。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 E Y   M E S S A G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S1 落在「源端速率 × 显式等级」：降速由本节点失败触发。无缓存环上这类失败多数来自他人 transit。同一行的方案共用这一信号。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分类 · 拥塞信号（第 21 页的行）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T A X O N O M Y   B Y   S I G N A L     =     P A G E   1 9   R O W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听什么决定盲区（= 第 21 页的行）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53982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无信号 / 1 bit 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23171"/>
            <a:ext cx="2197531" cy="1181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：S29。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：固定日历 + 每核 1 bit「有活」。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：无测量、无收敛。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：不知道谁落后。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251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7419" y="2453982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本地观测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7419" y="2823171"/>
            <a:ext cx="2197531" cy="1181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：S16 / S21 / S26 / I-tag。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：本节点的占用、失败或授权数。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：零新报文。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：源端格子会把别人造成的失败算到自己头上。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5575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2553275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链路占用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2922464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：S27。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：hop 占用率，沿邻线上传。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：信号就在拥塞 hop。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：无缓存环上「保护链路」= 空转。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4899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067" y="2553275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时延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067" y="2922464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：S17 / S19。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：带内 RTT（Comp 回程）。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：不需要专用总线。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：无缓存环几乎没有排队时延。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689580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ECN 标记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058769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：S18 / S20。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：RSP 上的一比特标记。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：复用已有通道。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：标记仍来自本节点失败。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6251" y="4389120"/>
            <a:ext cx="2599867" cy="1916849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7419" y="4590288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D20A2E"/>
                </a:solidFill>
                <a:latin typeface="Microsoft YaHei"/>
              </a:rPr>
              <a:t>显式等级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7419" y="4959477"/>
            <a:ext cx="2197531" cy="1181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 / S1T / S15 / S22。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：广播的拥塞等级或进度。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：全局可见。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：等级同时含本核注入与被路过；S22 只换了线上内容。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5575" y="4389120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6743" y="4689580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显式速率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5058769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：S28 / S28S。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听什么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：瓶颈自己算出的 share。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：源端不必猜。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：总线最宽；不公平不在 hop 份额。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分类 · 控制点（第 21 页的列）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T A X O N O M Y   B Y   C O N T R O L   P O I N T     =     P A G E   1 9   C O L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动手处决定天花板（= 第 21 页的列）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553275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路径选择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22464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：S26（UGAL / Valiant 类）。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：选最短还是绕远。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：不扣注入量。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：绕远本身要多占链路。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251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7419" y="2553275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逐跳背压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7419" y="2922464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：S27（PFC / wormhole 类）。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：上游链路 XOFF。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：不丢包，实现最简单。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：需要可暂停队列，会形成拥塞树。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5575" y="2252814"/>
            <a:ext cx="2599867" cy="1916849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2453982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D20A2E"/>
                </a:solidFill>
                <a:latin typeface="Microsoft YaHei"/>
              </a:rPr>
              <a:t>源端速率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2823171"/>
            <a:ext cx="2197531" cy="1181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 族、S17 / S18 / S21 / S28。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：注入令牌桶。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：直接控总量。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：闸门只能「扣住」，让出的槽被沿途吃掉。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4899" y="2252814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067" y="2553275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源端窗口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067" y="2922464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：S19 / S20。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：在飞事务数。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：与 CHI 事务模型对齐。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：不管瓶颈处先服务谁。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689580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环上仲裁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058769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：I-tag / S22。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：环上谁先用这一拍。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：控制点就在拥塞 hop。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：要动仲裁器。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6251" y="4389120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7419" y="4590288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预约调度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7419" y="4959477"/>
            <a:ext cx="2197531" cy="1181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：S29（TDMA / Fastpass 类）。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：预分配时隙。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：拥塞不形成。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：空闲时隙会浪费（S29 用 1 bit 回收）。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5575" y="4389120"/>
            <a:ext cx="2599867" cy="191684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6743" y="4689580"/>
            <a:ext cx="2197531" cy="286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0242C"/>
                </a:solidFill>
                <a:latin typeface="Microsoft YaHei"/>
              </a:rPr>
              <a:t>接收端授权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5058769"/>
            <a:ext cx="2197531" cy="98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代表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：S16（Homa / NDP 类）。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动手处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：completer 的 DBIDResp。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优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：控制点在真正拥塞的下环侧。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缺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：要动事务层。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 在分类中的位置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16a-cc-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6050"/>
            <a:ext cx="7589520" cy="32207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176541"/>
            <a:ext cx="7589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列 = 控制点 = 第 20 页（决定天花板）；行 = 拥塞信号 = 第 19 页（决定盲区）。「无」= 保留方案不在此格；灰底 = 既有；红框 = S1；绿框 = 原无代表、本次补齐。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1060704"/>
            <a:ext cx="30842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W H E R E   S 1   S I T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0496" y="1408176"/>
            <a:ext cx="3084271" cy="159547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1675604"/>
            <a:ext cx="27185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S1 = 源端速率 × 显式等级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2016980"/>
            <a:ext cx="2718511" cy="755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>
                <a:solidFill>
                  <a:srgbClr val="20242C"/>
                </a:solidFill>
                <a:latin typeface="Microsoft YaHei"/>
              </a:rPr>
              <a:t>控制点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：「源端速率」列 —— 每核每窗的整型注入预算，出口是令牌桶。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信号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：「显式等级」行 —— 3 bit 拥塞等级，专用广播总线，固定 30 拍。同格还有 S1T、S15、S21+eq、S23。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0496" y="3149950"/>
            <a:ext cx="3084271" cy="1994337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3342576"/>
            <a:ext cx="27185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空白格已核对：无既有保留方案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683952"/>
            <a:ext cx="2718511" cy="13042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名单 = 官方 WRITE_CASES + 筛选轮 Pareto（S15 / S17 / S18 / S21 / S21+eq / S23）。每一条都落在有点的格子里。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已撤回的 S24 本会落在「源端速率 × 无信号」，S25 与 I-tag 同格；两者因写死 λ*=2/7、换流量即失效，不计入既有方案。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0496" y="5290592"/>
            <a:ext cx="3084271" cy="103705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5382032"/>
            <a:ext cx="2462479" cy="854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空白格的「无」只断言本研究保留名单，不是「文献里不存在这类组合」。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F I V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公平性 — 总带宽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的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667080"/>
                </a:solidFill>
                <a:latin typeface="Microsoft YaHei"/>
              </a:rPr>
              <a:t>先把「要少一点不均衡到底该付多少带宽」这条曲线精确算出来，再从它推导出一个同时表示总带宽和不均衡度的标量 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 E Y   M E S S A G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总带宽和公平性确实不可兼得：把十个核压到完全等速率，结构上就要放弃 10.71% 的峰值带宽。理想汇率 κ = 2.177 flit/cycle 每单位 CoV；φ = (R − κ·CoV)/R* 在上界上恒为 1，S16 0.915、S0 0.821、S1 0.740。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公平性 — 带宽交换曲线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16-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9250"/>
            <a:ext cx="7452360" cy="3694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413341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不均衡度 CoV（十核 100 拍窗带宽的标准差 / 均值，0 = 完全均等，越右越不均）；红线 = 每个 CoV 上限下的理论最高带宽；13 个点 = 官方 K = 20000 全部实测方案（含 S26–S29）。I-tag 只是 S0 的 t_inj / hold 调参，不是独立机制。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H O W   T O   R E A D   T H E   C U R V 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2125856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618731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先认四个量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60107"/>
            <a:ext cx="2855671" cy="1399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20242C"/>
                </a:solidFill>
                <a:latin typeface="Microsoft YaHei"/>
              </a:rPr>
              <a:t>λc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：第 c 个核的事务速率。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1">
                <a:solidFill>
                  <a:srgbClr val="20242C"/>
                </a:solidFill>
                <a:latin typeface="Microsoft YaHei"/>
              </a:rPr>
              <a:t>占用表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：每笔事务占哪些链路、各几拍；路由固定后这张表就固定。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1">
                <a:solidFill>
                  <a:srgbClr val="20242C"/>
                </a:solidFill>
                <a:latin typeface="Microsoft YaHei"/>
              </a:rPr>
              <a:t>CoV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：允许的最大不均衡度（十核速率的标准差 / 均值）。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1">
                <a:solidFill>
                  <a:srgbClr val="20242C"/>
                </a:solidFill>
                <a:latin typeface="Microsoft YaHei"/>
              </a:rPr>
              <a:t>R(CoV)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：不均衡度 ≤ CoV 时的最高总带宽。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680336"/>
            <a:ext cx="3221431" cy="137555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3771776"/>
            <a:ext cx="2599639" cy="11926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红线点：固定 CoV 上限，枚举十个核的速率组合，链路每拍 ≤ 1 flit，取总带宽最高的那个。CoV 从 0 逐点放宽即得整条红线（凸优化全局上界，不是对仿真点拟合）。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3336" y="5202194"/>
            <a:ext cx="3221431" cy="1125453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5293634"/>
            <a:ext cx="2599639" cy="9425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FFFFFF"/>
                </a:solidFill>
                <a:latin typeface="Microsoft YaHei"/>
              </a:rPr>
              <a:t>红线上 = 该不均衡度下理论最好；红线下 = 机制损失；红线上方不可能。最左端 CoV = 0 即 R* = 5.7143；CoV ≥ 0.306 后红线平在 R_max = 6.40。在 CoV 坐标下红线是直线 R* + κ·CoV，κ = 2.18 —— 为什么见下一页。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标量指标推导：把上界在 CoV 坐标下拉直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2-metric-der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8105"/>
            <a:ext cx="6446520" cy="27966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964486"/>
            <a:ext cx="6446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7080"/>
                </a:solidFill>
                <a:latin typeface="Microsoft YaHei"/>
              </a:rPr>
              <a:t>左：LP 上界的 79 个点画在（CoV，总带宽）平面上是一条直线 R = R* + κ·CoV（κ = 2.177，RMS 残差 0.011，最大相对残差 0.43%）；蓝虚线 = 过 S0 的平行线，它与纵轴的交点就是 Φ(S0)。右：13 个方案 1 − φ 的两项分解。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7496" y="1060704"/>
            <a:ext cx="42272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Y M B O L S ,   T H E N   H O W   T O   R E A D   I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97496" y="1408176"/>
            <a:ext cx="4227271" cy="213741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0375" y="1681246"/>
            <a:ext cx="38615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符号表（单位都是带宽 flit/cycle）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5" y="2022622"/>
            <a:ext cx="3861511" cy="12864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20242C"/>
                </a:solidFill>
                <a:latin typeface="Microsoft YaHei"/>
              </a:rPr>
              <a:t>R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 实测总带宽；</a:t>
            </a:r>
            <a:r>
              <a:rPr sz="900" b="1">
                <a:solidFill>
                  <a:srgbClr val="20242C"/>
                </a:solidFill>
                <a:latin typeface="Microsoft YaHei"/>
              </a:rPr>
              <a:t>R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* = 5.7143，十核完全等速率（CoV = 0）时的最高带宽。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1">
                <a:solidFill>
                  <a:srgbClr val="20242C"/>
                </a:solidFill>
                <a:latin typeface="Microsoft YaHei"/>
              </a:rPr>
              <a:t>CoV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 不均衡度 = 十核 100 拍窗带宽的标准差 / 均值。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1">
                <a:solidFill>
                  <a:srgbClr val="20242C"/>
                </a:solidFill>
                <a:latin typeface="Microsoft YaHei"/>
              </a:rPr>
              <a:t>κ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 = 2.177，红线斜率 = 理想汇率：最好的控制器每多 1 单位 CoV 换到的带宽。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1">
                <a:solidFill>
                  <a:srgbClr val="20242C"/>
                </a:solidFill>
                <a:latin typeface="Microsoft YaHei"/>
              </a:rPr>
              <a:t>Φ = R − κ·CoV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：把不均衡按理想汇率「退」成带宽后剩下的等速率等效带宽；</a:t>
            </a:r>
            <a:r>
              <a:rPr sz="900" b="1">
                <a:solidFill>
                  <a:srgbClr val="20242C"/>
                </a:solidFill>
                <a:latin typeface="Microsoft YaHei"/>
              </a:rPr>
              <a:t>φ = Φ / R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*，理想 = 1。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7496" y="3691889"/>
            <a:ext cx="4227271" cy="1760219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5" y="3890390"/>
            <a:ext cx="38615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左图怎么读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5" y="4231766"/>
            <a:ext cx="3861511" cy="1058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红点全在红线上 ⇒ 上界任一点 φ ≡ 1。过 S0 作红线的平行线（蓝虚线），滑到 CoV = 0 读出 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Φ(S0) = 4.693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；竖箭头 R* − Φ = 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1.022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 = (1−φ)·R*。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灰虚线 = 等 φ 线，与红线平行：线上每一点的等速率等效带宽 Φ 相同。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7496" y="5598414"/>
            <a:ext cx="4227271" cy="72923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5689853"/>
            <a:ext cx="3605479" cy="5463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右图：1 − φ = 蓝（带宽缺口 (R*−R)/R*）+ 橙（不均衡折成带宽 κ·CoV/R*）。S16 0.915、S0 0.821、S1 0.740。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13 个方案各自的旋钮轨迹：都不是那根 LP 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3-metric-kn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0636"/>
            <a:ext cx="6903720" cy="3831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481955"/>
            <a:ext cx="6903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每个面板 = 该方案自己的一个旋钮；K = 2000，CoV 仍是 100 拍窗。红线 = LP 上界（CoV ≥ 0.306 后平在 R_max）；星 = 官方工作点。S1 按 band 拆成三条，不是把 9 个点连成一条。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4696" y="1060704"/>
            <a:ext cx="3770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K N O B   ≠   L P   L E V E 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54696" y="1408176"/>
            <a:ext cx="3770071" cy="144589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5" y="1624458"/>
            <a:ext cx="34043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是的：每条曲线是该方案自己的旋钮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965834"/>
            <a:ext cx="3404311" cy="708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每个面板只动一个标量：S0 / ITAG 扫 t_inj，S16 扫 oc，S1 按 band 拆成三条，S29 扫 slot。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红星 = 官方点。13 次独立扫描，不是混拟合。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54696" y="3000375"/>
            <a:ext cx="3770071" cy="1590484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5" y="3189659"/>
            <a:ext cx="34043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为什么大部分不是直线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531035"/>
            <a:ext cx="340431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红线直，因为最优只有一个方向：4 个慢核 → 6 个快核，R 与 σ 都正比于挪动量 δ。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旋钮不是这个 δ：先重分配，再一律限流（竖着掉），再错杀 / 空转 / 短窗抖动。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4737163"/>
            <a:ext cx="3770071" cy="159048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5" y="4926448"/>
            <a:ext cx="340431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本质：旋钮 ≠ LP 的那根杠杆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5" y="5267824"/>
            <a:ext cx="340431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LP 直线是最优速率沿单一自由度的像；旋钮同时搅动份额、空转和 100 拍窗抖动。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筛选轮上仅 S16 的 oc 段贴近红线斜率。S28S 竖直；S19 / S20 / S22 / S1T 不动；S26 两边都坏。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S I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理论最优与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各方案 Pareto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667080"/>
                </a:solidFill>
                <a:latin typeface="Microsoft YaHei"/>
              </a:rPr>
              <a:t>先钉死「无限聪明、无限快的控制器最多能做到什么」，再把实测方案摆进同一张图。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K E Y   M E S S A G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一个无限聪明的拥塞控制器，最好也就是 5.7143 flit/cycle（S0 的 103.1%）配 CoV ≈ 0。可争的总带宽只有约 3 个点，均衡那一侧才是主战场。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理想拥塞控制器的上限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T H E   R E F E R E N C E   E V E R Y T H I N G   I S   D I V I D E D   B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无限聪明、无限快，只受资源守恒约束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67712"/>
            <a:ext cx="3527450" cy="296265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33699"/>
            <a:ext cx="3088538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什么是 LP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30701"/>
            <a:ext cx="3088538" cy="207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LP = 线性规划：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变量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是十个核各自的注入速率，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约束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是每条链路每拍最多搬 1 flit，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目标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是把总带宽做到最大。因为路由和握手都固定，「一笔事务占几条链路各几拍」是一张常数表，占用量随速率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线性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增长，所以这个最大值能被精确解出来、不需要仿真。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模型里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没有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缓冲、没有在环优先、没有 I-tag / E-tag —— 这是有意的：让机制造成的损失也留在待解释的差距里。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2122" y="2267712"/>
            <a:ext cx="3527450" cy="2962655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1578" y="2538153"/>
            <a:ext cx="3088538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20A2E"/>
                </a:solidFill>
                <a:latin typeface="Microsoft YaHei"/>
              </a:rPr>
              <a:t>两个界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2935155"/>
            <a:ext cx="3088538" cy="2061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最大吞吐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R_max = 6.4000 flit/cycle。但这一点的解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不唯一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，其中最差的那个把 C0 / C10 完全饿死 —— 不是可交付的工作点。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等速率点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= 强行要求十个核速率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完全相同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时能达到的最大总带宽。此时每核 λ* = 2/7 = 0.2857 笔/拍，合计 R* = 40/7 =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5.7143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。它就是「最公平」那一端的天花板，全篇的分母都是它。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瓶颈在环上的链路，不在注入或下环端口 —— 加深队列、加宽端口都抬不高它。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2267712"/>
            <a:ext cx="3527450" cy="296265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6772" y="2859946"/>
            <a:ext cx="3088538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理想控制器能做到什么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772" y="3256948"/>
            <a:ext cx="3088538" cy="14177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100 拍箱内全环有 571.4 个写 flit，每核约 57.1 个。一个确定性的理想控制器把箱内总量按整数尽量均分，得 CoV_ideal = 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0.0055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也就是说：</a:t>
            </a:r>
            <a:r>
              <a:rPr sz="1150" b="1">
                <a:solidFill>
                  <a:srgbClr val="20242C"/>
                </a:solidFill>
                <a:latin typeface="Microsoft YaHei"/>
              </a:rPr>
              <a:t>理论最优 = 5.7143 flit/cycle（S0 的 103.1%）配 CoV ≈ 0</a:t>
            </a:r>
            <a:r>
              <a:rPr sz="1150" b="0">
                <a:solidFill>
                  <a:srgbClr val="20242C"/>
                </a:solidFill>
                <a:latin typeface="Microsoft YaHei"/>
              </a:rPr>
              <a:t>。整数粒度不构成任何限制。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468112"/>
            <a:ext cx="11057839" cy="85953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559552"/>
            <a:ext cx="10436047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适用范围：λ* = 2/7 是「fabric + 流量 pattern」的联合解，不是 fabric 常数。换成 hot 之后绑定资源从入环 hop 变成热簇的下环口，λ* 掉到 0.100、R* 掉到 2.0000 —— 任何把 λ* 写进硬件的设计只对它被推导时的那个 pattern 正确。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收益 — 硬件开销 Pareto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18-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245246"/>
            <a:ext cx="6949440" cy="44223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77345"/>
            <a:ext cx="6949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纵轴 φ = (R − κ·CoV)/R*：总带宽减去按理想汇率折成带宽的不均衡，再除以 R*，理想 = 1.0；筛选轮 K = 2000，100 拍窗。横轴 FF‑eq = 等效触发器数。红 = 前沿（同价无人能超）；橙 = 次前沿（去掉前沿后再求 Pareto）。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5" y="1060704"/>
            <a:ext cx="37243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F R O N T I E R   +   S E C O N D   F R O N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0415" y="1408176"/>
            <a:ext cx="3724351" cy="1642251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5" y="1642256"/>
            <a:ext cx="335859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前沿：S0 → S16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5" y="1983632"/>
            <a:ext cx="3358591" cy="8692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筛选轮面积—φ：S0（0 FF‑eq，φ = 0.851）被 S16（900，φ = 0.906）支配。再贵的点 φ 都超不过 S16，所以前沿只有这两点。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官方 K=20000 现算：S0 φ = 0.821 → </a:t>
            </a:r>
            <a:r>
              <a:rPr sz="1000" b="1">
                <a:solidFill>
                  <a:srgbClr val="D20A2E"/>
                </a:solidFill>
                <a:latin typeface="Microsoft YaHei"/>
              </a:rPr>
              <a:t>S16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 φ = 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0.915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5" y="3196731"/>
            <a:ext cx="3724351" cy="2070664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5" y="3526813"/>
            <a:ext cx="335859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次前沿：S26 / I-tag / S22(w32)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5" y="3868189"/>
            <a:ext cx="3358591" cy="1105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去掉 S0、S16 再求 Pareto：S26（1,560，φ = 0.835）、I-tag 调参（3,120，0.873）、S22 深队列（1,198,560，0.886）。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I-tag 不是独立机制，只是 S0 的 t_inj / hold 调参；S22(w32) 用百万级 FF 换 0.886，仍低于 S16。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0415" y="5413699"/>
            <a:ext cx="3724351" cy="9139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5505139"/>
            <a:ext cx="3102559" cy="7310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官方点 S22 / S29 / S1 的 φ 为 0.841 / 0.852 / 0.740，都在两条前沿之外。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固定非均匀流量下的 φ Pareto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20-hot-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245246"/>
            <a:ext cx="6949440" cy="44223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77345"/>
            <a:ext cx="6949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hot：十个核全部写入 HA 11 / 13。R* = 2.0000（等速率 = 最大吞吐）。纵轴改成与上一页相同的 φ = (R − κ·CoV)/R*，κ 沿用 uniform 的 2.1769；红 = 前沿，橙 = 次前沿。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5" y="1060704"/>
            <a:ext cx="37243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A M E   φ ,   S H I F T E D   T R A F F I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0415" y="1408176"/>
            <a:ext cx="3724351" cy="1132449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5" y="1591056"/>
            <a:ext cx="335859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前沿：仍是 S0 → S16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5" y="1932432"/>
            <a:ext cx="3358591" cy="490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20242C"/>
                </a:solidFill>
                <a:latin typeface="Microsoft YaHei"/>
              </a:rPr>
              <a:t>同一 κ、该 pattern 自己的 R*。S16 φ = 0.386（900 FF‑eq）支配 S0 的 0.027。窗口类 S19 / S20 带宽到 98.9% R*，但 CoV = 1.33，φ 落到 −0.46，不进前沿。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5" y="2686929"/>
            <a:ext cx="3724351" cy="142787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5" y="2870558"/>
            <a:ext cx="335859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次前沿：S26 / S29 / S21 / S21+eq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5" y="3211934"/>
            <a:ext cx="3358591" cy="755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20242C"/>
                </a:solidFill>
                <a:latin typeface="Microsoft YaHei"/>
              </a:rPr>
              <a:t>去掉 S0、S16 再求：S26（1,560，φ = 0.086）、S29（4,440，0.099）、S21（4,960，0.313）、S21+eq（6,880，0.314）。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0">
                <a:solidFill>
                  <a:srgbClr val="20242C"/>
                </a:solidFill>
                <a:latin typeface="Microsoft YaHei"/>
              </a:rPr>
              <a:t>S28S（12,680，φ = 0.378）φ 更高，但是 hop 静态等分，只对固定份额成立，不适用于动态非均匀流量，不进入下一组旋钮页。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0415" y="4261104"/>
            <a:ext cx="3724351" cy="1230923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4352544"/>
            <a:ext cx="3102559" cy="10480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读图前提</a:t>
            </a:r>
            <a:r>
              <a:rPr sz="1050" b="0">
                <a:solidFill>
                  <a:srgbClr val="FFFFFF"/>
                </a:solidFill>
                <a:latin typeface="Microsoft YaHei"/>
              </a:rPr>
              <a:t>：κ = 2.1769 借自 uniform 前沿，非 hot 自身影子价格 —— hot 的 r_fair = r_max = 2.0，前沿水平、κ_hot = 0，公平免费。故本页对 CoV 计价偏严：改用 κ_hot = 0 则 S19 / S20 由倒数第二变第一。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0415" y="5638331"/>
            <a:ext cx="3724351" cy="68931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5729771"/>
            <a:ext cx="3102559" cy="5064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换流量之后窗口能保住容量，但按 uniform 的 φ 计价仍输给授权重排。下一组页：这两个前沿上每个方案只扫一个旋钮的 (R, CoV) 轨迹。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29 /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S0：扫 I-tag 饥饿阈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t_inj；星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F R O N T   ·   t _ i n 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759719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28 / 29 页前沿（0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101095"/>
            <a:ext cx="2809951" cy="708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t_inj：连续上环失败多少拍才升 I-tag。off = 关掉 I-tag。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这是基线自己的唯一旋钮，不是拥塞控制器。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5.309 到 5.500（Δ = +0.190）；CoV 从 0.190 到 0.352。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t_inj = 16：R = 5.386，CoV = 0.343。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S16：扫授权超额 overcommit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overcommit；星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F R O N T   ·   o v e r c o m m i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660427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28 / 29 页前沿（900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001803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overcommit：completer 同时在飞的授权上限。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旋钮动的是 HA 授权窗口，不写死 λ*，不含流量先验。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3.309 到 5.458（Δ = +2.149）；CoV 从 0.067 到 0.291。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overcommit = 20：R = 5.432，CoV = 0.220。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S26：扫绕远跳数上限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route_max_extra；星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20A2E"/>
                </a:solidFill>
                <a:latin typeface="Arial"/>
              </a:rPr>
              <a:t>S E C O N D   F R O N T   ·   e x t r a   h o p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660427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28 / 29 页次前沿（1,560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001803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route_max_extra：最短路之外最多允许多走几跳。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只看本节点两个出向的失败率 EWMA，无 pattern 常数。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4.907 到 5.453（Δ = +0.546）；CoV 从 0.270 到 0.343。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route_max_extra = 2：R = 5.407，CoV = 0.291。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I-tag：扫 t_inj（hold 固定为 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I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t_inj；星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20A2E"/>
                </a:solidFill>
                <a:latin typeface="Arial"/>
              </a:rPr>
              <a:t>S E C O N D   F R O N T   ·   S 0   R E T U N 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660427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28 页次前沿（3,120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001803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t_inj：与 S0 同一旋钮，但 itag_hold 冻在 Pareto 点的 2。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不是独立机制，也不是流量先验；留在名单只因它在次前沿上。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5.238 到 5.493（Δ = +0.255）；CoV 从 0.119 到 0.299。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t_inj = 2：R = 5.392，CoV = 0.185。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S22(w32)：扫赤字阈值 dfc_margin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22w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dfc_margin；星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20A2E"/>
                </a:solidFill>
                <a:latin typeface="Arial"/>
              </a:rPr>
              <a:t>S E C O N D   F R O N T   ·   d f c _ m a r g i 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648467"/>
            <a:ext cx="2809951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28 页次前沿（深队列 + 窗 32，1,198,560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212347"/>
            <a:ext cx="2809951" cy="708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dfc_margin：落后多少才请求让路。窗与队列冻在 w32 工作点。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信号是总线上的达成量，不编译 λ*。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5.503 到 5.536（Δ = +0.033）；CoV 从 0.187 到 0.213。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dfc_margin = 3.0：R = 5.536，CoV = 0.213。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S29：扫日历时隙 slot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tdma_slot；星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E C O N D   F R O N T   ·   s l o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660427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29 页次前沿（4,440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001803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tdma_slot：每个核一次占用出向 hop 的拍数。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日历是拓扑常量，需求位是本地事实，不含 pattern 先验。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4.358 到 5.221（Δ = +0.864）；CoV 从 0.203 到 0.270。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tdma_slot = 2：R = 5.152，CoV = 0.203。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35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S21：扫漏桶余量 headroom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pace_headroom；星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E C O N D   F R O N T   ·   h e a d r o o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759719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29 页次前沿（4,960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2101095"/>
            <a:ext cx="2809951" cy="708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pace_headroom：把测到的达成速率放大多少再写入漏桶。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速率从本核已拿到的量自时钟，不写死份额。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2.750 到 4.258（Δ = +1.508）；CoV 从 0.063 到 0.326。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pace_headroom = 1.5：R = 4.258，CoV = 0.063。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S21+eq：扫漏桶余量 headroom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6-knob-S21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24425"/>
            <a:ext cx="7498079" cy="4664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98166"/>
            <a:ext cx="7498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横轴 = 100 拍窗 CoV，纵轴 = 总写带宽 R；红线 = LP 上界；折线 = 只动 pace_headroom；星 = 第 28 / 29 页工作点。K = 2000，与 Pareto 筛选轮相同。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5" y="1060704"/>
            <a:ext cx="31757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S E C O N D   F R O N T   ·   h e a d r o o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5" y="1408176"/>
            <a:ext cx="3175711" cy="171641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5" y="1608416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第 29 页次前沿（6,880 FF‑eq）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5" y="1949792"/>
            <a:ext cx="2809951" cy="1011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20242C"/>
                </a:solidFill>
                <a:latin typeface="Microsoft YaHei"/>
              </a:rPr>
              <a:t>pace_headroom：测到的达成速率放大多少再写入漏桶。均衡开着，tol 冻在 0.02。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50" b="0">
                <a:solidFill>
                  <a:srgbClr val="20242C"/>
                </a:solidFill>
                <a:latin typeface="Microsoft YaHei"/>
              </a:rPr>
              <a:t>比的是总线上的实测达成量，不是 λ*。扫 tol 在此工作点完全不动，所以改扫会动 (R, CoV) 的 headroom。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9055" y="3270897"/>
            <a:ext cx="3175711" cy="186567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5" y="3597775"/>
            <a:ext cx="280995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这一扫走了多远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5" y="3939151"/>
            <a:ext cx="280995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R 从 0.642 到 4.258（Δ = +3.616）；CoV 从 0.063 到 0.321。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工作点 pace_headroom = 1.5：R = 4.258，CoV = 0.063。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5" y="5282872"/>
            <a:ext cx="3175711" cy="1044775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5374312"/>
            <a:ext cx="2553919" cy="8618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第 28 / 29 页前沿 + 次前沿里，S24 / S25 因写死 λ* 已撤回；S28S 是 hop 静态等分，不适用于动态非均匀流量，不收录。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37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各方案的各核完成时间曲线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44-finish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54556"/>
            <a:ext cx="7863840" cy="440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68035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12 个方案，同一 fabric、K = 20000 uniform 写；每格十条线 = 十核累计上环 WriteData / 配额，虚线 = 最早与最晚完成时刻。S1U / S1D 与 S1 / S0 逐拍相同，不重复。S28S 是 hop 静态等分，不适用于动态非均匀流量，未画。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4815" y="1060704"/>
            <a:ext cx="28099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W H O   F I N I S H E S   L A S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14815" y="1408176"/>
            <a:ext cx="2809951" cy="2199656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5" y="1665361"/>
            <a:ext cx="244419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三种形态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5" y="2006737"/>
            <a:ext cx="2444191" cy="1380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六快四慢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（S0 1.382、S1T 1.385、S19 1.382、S20 1.400）：S0 完成时间 52,212–72,131。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收得很齐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：S16 1.000。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中间态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（S22 1.112、S29 1.161、S1 1.236）：慢核仍慢，差距收窄。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14815" y="3754136"/>
            <a:ext cx="2809951" cy="1744555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5" y="3944805"/>
            <a:ext cx="244419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拐点的含义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5" y="4286181"/>
            <a:ext cx="2444191" cy="1058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六快四慢的方案里，慢核曲线在快核完成瞬间斜率抬升 —— 瓶颈是满载环上的上环机会，不是慢核自身。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S16 完成时间 70,855–70,880，带宽 +1.7%。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4815" y="5644995"/>
            <a:ext cx="2809951" cy="68265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5736435"/>
            <a:ext cx="2188159" cy="499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完成时间比是长期速率比的另一种读法；它和 100 拍 CoV 不是同一件事，见下页。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完成时间跨度 vs 瞬时不均衡度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T W O   R E A D I N G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25 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S16 十核最早与最晚完成时刻之差（70,855–70,880）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S0 为 19,919 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45-finish-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58581"/>
            <a:ext cx="8241487" cy="27269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976983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左：每个方案十核从最早到最晚完成的区间（千拍），右端数字 = 最晚 / 最早；右：100 拍 CoV 与完成时间比的散点。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两个口径给出不同排序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294315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S27 CoV 0.4817 高于 S1 的 0.2169，完成时间比却是 1.308 对 1.236：背压把所有核一起拖慢，长期份额反而接近。S22 CoV 0.3318，完成时间比 1.112。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733229"/>
            <a:ext cx="3527450" cy="1594418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514243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S16 两项一起动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502356"/>
            <a:ext cx="3125114" cy="45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S16：CoV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0.1897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、完成时间比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1.000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、总带宽 +1.7%。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733229"/>
            <a:ext cx="3527450" cy="1594418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93439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对架构评审的意义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294315"/>
            <a:ext cx="3125114" cy="868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瞬时 CoV 回答「任一 100 拍里有没有核被饿」，完成时间比回答「一批工作最后是谁拖尾」；两者都要看，S1 的 CoV -0.174 对应完成时间比 1.236（S0 为 1.382）。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S E V E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前沿方案详述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667080"/>
                </a:solidFill>
                <a:latin typeface="Microsoft YaHei"/>
              </a:rPr>
              <a:t>三个落地候选、两个研究对照：机制示意 + 与 S0 / S1 的同口径实测；S16 / S22 / S29 各再加两页微架构框图与逐拍示例。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S E L E C T I O N   R U L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S16 是主方案；事务层不可改时走环仲裁分支，其中 S22 效果最好、S29 便宜 3.1 倍；S19 / S20 只用于验证 requester 动态窗口的边界。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S16 授权保留（900 FF‑eq） · receiver-driven / 本地触发 / 零新报文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22-s16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6" y="1060704"/>
            <a:ext cx="7943983" cy="479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61888"/>
            <a:ext cx="8001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上 = 写路径：把协议本来就要发的 DBIDResp 当授权用；下 = 读路径：同一套状态可以照搬，但实测不需要（见下页）。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1060704"/>
            <a:ext cx="2672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D20A2E"/>
                </a:solidFill>
                <a:latin typeface="Arial"/>
              </a:rPr>
              <a:t>F R O N T I E R   ·   C O M P L E T E R   M E C H A N I S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1976" y="1408176"/>
            <a:ext cx="2672791" cy="2204564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4855" y="1620259"/>
            <a:ext cx="230703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四段机制（与 S1 同格式）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5" y="1961635"/>
            <a:ext cx="2307031" cy="14755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① 检测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：HA 只数自己的在飞授权数。不需要任何拥塞信号 —— 拥塞就发生在它自己的下环口上。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② 传递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：零。不加总线、不加带内标记，线格式完全不动。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③ 反馈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：REQ 到达后先排队而不是立即授权，同时在飞授权 ≤ overcommit = 20。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④ 执行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：在排队者里把授权给</a:t>
            </a:r>
            <a:r>
              <a:rPr sz="800" b="1">
                <a:solidFill>
                  <a:srgbClr val="20242C"/>
                </a:solidFill>
                <a:latin typeface="Microsoft YaHei"/>
              </a:rPr>
              <a:t>迄今被服务最少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的那个核。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3759044"/>
            <a:ext cx="2672791" cy="1442492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5" y="3950259"/>
            <a:ext cx="230703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改的是事务层，不是链路层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5" y="4291635"/>
            <a:ext cx="2307031" cy="7552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20242C"/>
                </a:solidFill>
                <a:latin typeface="Microsoft YaHei"/>
              </a:rPr>
              <a:t>四段全部落在 completer 内部：它决定</a:t>
            </a:r>
            <a:r>
              <a:rPr sz="950" b="1">
                <a:solidFill>
                  <a:srgbClr val="20242C"/>
                </a:solidFill>
                <a:latin typeface="Microsoft YaHei"/>
              </a:rPr>
              <a:t>什么时候、先给谁</a:t>
            </a:r>
            <a:r>
              <a:rPr sz="950" b="0">
                <a:solidFill>
                  <a:srgbClr val="20242C"/>
                </a:solidFill>
                <a:latin typeface="Microsoft YaHei"/>
              </a:rPr>
              <a:t>发 DBIDResp。线格式、协议状态机都不动，但</a:t>
            </a:r>
            <a:r>
              <a:rPr sz="950" b="1">
                <a:solidFill>
                  <a:srgbClr val="20242C"/>
                </a:solidFill>
                <a:latin typeface="Microsoft YaHei"/>
              </a:rPr>
              <a:t>动了 HA 的事务调度</a:t>
            </a:r>
            <a:r>
              <a:rPr sz="950" b="0">
                <a:solidFill>
                  <a:srgbClr val="20242C"/>
                </a:solidFill>
                <a:latin typeface="Microsoft YaHei"/>
              </a:rPr>
              <a:t> —— 这一条决定它能不能落地，见结论页。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5347841"/>
            <a:ext cx="2672791" cy="97980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5439281"/>
            <a:ext cx="2050999" cy="7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FFFFFF"/>
                </a:solidFill>
                <a:latin typeface="Microsoft YaHei"/>
              </a:rPr>
              <a:t>overcommit = 20 跟踪的是 HA 实际占用（≈ RTT×λ / n_HA），不是 core_outstanding：上限 128 覆盖最坏 RTT 之后占用仍约 30，工作点仍是 20。取到 128 就扣不住授权，S16 退化成 S0。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S16 实测：写侧要做，读侧不用做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E A S U R E D   ·   U N I F O R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0.1897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S16 写侧 100 拍 CoV（S0 = 0.3911）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总写带宽 +1.7%，整窗 max/min = 1.0001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23-s16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17890"/>
            <a:ext cx="8241487" cy="2540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949515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7080"/>
                </a:solidFill>
                <a:latin typeface="Microsoft YaHei"/>
              </a:rPr>
              <a:t>左两幅 = 写（K = 20000），右两幅 = 读（K = 5000）；每幅内三根柱依次 S0 / S1 / S16，橙虚线 = 理论上限 R*。注意读侧 S0 与 S16-R 两根柱几乎一样高。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865070"/>
            <a:ext cx="3527450" cy="1462577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06623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写：低代价把份额搬回去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426156"/>
            <a:ext cx="3125114" cy="736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CoV 0.3911 →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0.1897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，整窗 max/min 1.8485 →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1.0001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，总带宽 +1.7%，φ 0.821 → 0.915。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对照 S1：CoV 0.2169，带宽 -15.3%。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865070"/>
            <a:ext cx="3527450" cy="146257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510433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读：S0 本来就是齐的（128 B CompData）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464256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十个核读侧 CoV 0.1298、max/min 1.0101，带宽 99.35% R*。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128 B 读没有待解决的问题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；64 B 读见后两页。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865070"/>
            <a:ext cx="3527450" cy="146257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506623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所以读侧建议不做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426156"/>
            <a:ext cx="3125114" cy="736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S16-R 带宽 99.44% R*（+0.1%）、CoV 0.0692，</a:t>
            </a:r>
            <a:r>
              <a:rPr sz="1100" b="1">
                <a:solidFill>
                  <a:srgbClr val="D20A2E"/>
                </a:solidFill>
                <a:latin typeface="Microsoft YaHei"/>
              </a:rPr>
              <a:t>收益在噪声量级，不值一次事务层改动。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对照：S1-R 读侧带宽 -6.5%、CoV 0.1364。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读侧补充：CompData = 1 / 2 / 4 flit 时 S0 的不均衡度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R E A D - S I D E   F A I R N E S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2.2821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CompData = 1 flit 时 S0 读侧 max/min（2 flit = 1.0101）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与写侧的 1.8485 同量级，同一组慢核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40-read-pay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26770"/>
            <a:ext cx="8241487" cy="24983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616512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S0 读，K = 5000 笔/核，REQ 1 flit，CompData 1 / 2 / 4 flit（64 / 128 / 256 B）；右一横轴归一到各自的争用窗长度。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40946"/>
            <a:ext cx="3527450" cy="2086701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792276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1 flit：不均最大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52194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max/min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2.2821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，100 拍 CoV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0.3239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；C0 / C10 最慢、C8 / C18 次之 —— 与写侧同一组慢核。总带宽 5.4371。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240946"/>
            <a:ext cx="3527450" cy="2086701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650155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2 flit 齐；4 flit 长期齐、瞬时抖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010073"/>
            <a:ext cx="3125114" cy="94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2 flit：max/min 1.0101、CoV 0.1298。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4 flit：max/min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1.0054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，CoV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0.1839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 ——每笔 4 flit 的突发让 100 拍箱内份额抖动，长期份额不受影响。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240946"/>
            <a:ext cx="3527450" cy="2086701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442114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为什么 1 flit 会不均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4802032"/>
            <a:ext cx="3125114" cy="136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1 flit 时 REQ（core→HA）与 CompData（HA→core）每笔各 1 flit，两向负载相同，REQ VC 与 DAT VC 并列最忙（占用 0.943），写侧的注入几何差异经 REQ 方向回到读侧。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2 / 4 flit 时 DAT 单独成为瓶颈（占用 0.980 / 0.964），CompData 由 HA 侧发出，各核等齐。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读侧各核完成时间：1 flit 六快四慢，2 / 4 flit 十线重合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R E A D   C O M P L E T I O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1900" b="1">
                <a:solidFill>
                  <a:srgbClr val="D20A2E"/>
                </a:solidFill>
                <a:latin typeface="Arial"/>
              </a:rPr>
              <a:t>1.462</a:t>
            </a:r>
          </a:p>
          <a:p>
            <a:pPr algn="l">
              <a:lnSpc>
                <a:spcPct val="94000"/>
              </a:lnSpc>
              <a:spcBef>
                <a:spcPts val="500"/>
              </a:spcBef>
            </a:pPr>
            <a:r>
              <a:rPr sz="1900" b="1">
                <a:solidFill>
                  <a:srgbClr val="D20A2E"/>
                </a:solidFill>
                <a:latin typeface="Arial"/>
              </a:rPr>
              <a:t>1.007</a:t>
            </a:r>
          </a:p>
          <a:p>
            <a:pPr algn="l">
              <a:lnSpc>
                <a:spcPct val="94000"/>
              </a:lnSpc>
              <a:spcBef>
                <a:spcPts val="500"/>
              </a:spcBef>
            </a:pPr>
            <a:r>
              <a:rPr sz="1900" b="1">
                <a:solidFill>
                  <a:srgbClr val="D20A2E"/>
                </a:solidFill>
                <a:latin typeface="Arial"/>
              </a:rPr>
              <a:t>1.004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23744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完成时间比 · CompData 1 / 2 / 4 flit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只有 1 flit 出现写侧的形态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10128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41-read-payload-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2901"/>
            <a:ext cx="8241487" cy="26663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4050704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同上三组；纵轴 = 已收到 CompData / 本核配额，红 = 邻 mem = 1 的四核，蓝 = 其余六核。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941270"/>
            <a:ext cx="3527450" cy="1386377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24645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1 flit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606376"/>
            <a:ext cx="3125114" cy="45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完成时间 6,288–9,195，比值 1.462；慢核曲线在快核完成后抬升，与写侧 S0 同一形态。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941270"/>
            <a:ext cx="3527450" cy="138637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524645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2 / 4 flit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606376"/>
            <a:ext cx="3125114" cy="45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1.007 与 1.004，十条线不可分。4 flit 的抖动只在 100 拍尺度出现，累计曲线上看不到。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941270"/>
            <a:ext cx="3527450" cy="138637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5142438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对建议的影响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502356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若 workload 含大量 64 B 读，读侧需要和写侧一样纳入 S16-R；128 B 及以上读维持现状的结论不变。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S16 微架构：HA 内部新增的三张小表和一条决策规则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2-s16-u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灰框 = 基线 HA 已有；红框 = S16 新增。REQ 从左侧下环进 tracker，授权决策读三张小表后驱动已有的 DBIDResp 发送器。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I C R O A R C H I T E C T U R E   ·   S 1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2129826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630446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新增状态（每 HA 一份）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71822"/>
            <a:ext cx="2855671" cy="1380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outstanding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：5 bit，在飞授权数 （上限 20）；授权 +1，一笔写的末 flit 落地 −1。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served[c]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：10 × 10 bit 饱和计数，每授权 +2 flit，定期同减最小值。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待授权计数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：10 × 6 bit，外加 tracker 每条目 1 bit「已授权」标志。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684306"/>
            <a:ext cx="3221431" cy="1468845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869510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决策只有两条规则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4210886"/>
            <a:ext cx="2855671" cy="793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20242C"/>
                </a:solidFill>
                <a:latin typeface="Microsoft YaHei"/>
              </a:rPr>
              <a:t>直通：在飞 &lt; 20 且无人等待 → 到达即授权，轻载零延迟。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0">
                <a:solidFill>
                  <a:srgbClr val="20242C"/>
                </a:solidFill>
                <a:latin typeface="Microsoft YaHei"/>
              </a:rPr>
              <a:t>排队：从有等待的核里选 served 最小者（同值取小核号），取其最老的未授权条目发 DBIDResp。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299456"/>
            <a:ext cx="3221431" cy="1028191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390896"/>
            <a:ext cx="2599639" cy="845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无周期控制环、无总线、无新报文。成本口径 900 FF‑eq：10 bit 计数 + 2 比较 + 1 加法，×10；表与标志位挂在 tracker 上未单列。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S16 工作示例：授权是怎么流向落后核的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3-s16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示意 overcommit = 2（实际 20，逻辑逐字相同）。左 = 报文时序；右 = HA 三张表在每一步之后的值，红字是那次改变结果的比较。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W A L K T H R O U G H   ·   S 1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1947333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638492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六步看懂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79868"/>
            <a:ext cx="2855671" cy="1181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①② C0 两笔 REQ 直通授权，在飞到 2。③ C2 的 REQ 只能等。④ C0 第三笔也等。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⑤ C0 第一笔写完 → 空出的名额给 served 最小的 C2，不是先到的 C0。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⑥ 再空一个名额才轮到 C0。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501813"/>
            <a:ext cx="3221431" cy="1557866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693701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为什么它几乎不花带宽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4035077"/>
            <a:ext cx="2855671" cy="8692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名额一空立刻补，在飞授权始终顶在上限，HA 下环口没有一拍空转。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0">
                <a:solidFill>
                  <a:srgbClr val="20242C"/>
                </a:solidFill>
                <a:latin typeface="Microsoft YaHei"/>
              </a:rPr>
              <a:t>它改的是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谁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拿授权，不是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多少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授权 —— 所以总带宽 +1.7%。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205984"/>
            <a:ext cx="3221431" cy="1121664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297424"/>
            <a:ext cx="2599639" cy="938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读侧同一套状态可照搬（served 计 CompData，末 CompData 落地释放名额），但前页已证明读侧没有待解决的问题。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46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S19 Swift / S20 DCTCP（各 5,840 FF‑eq） · requester 动态窗口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28-wind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6" y="1060704"/>
            <a:ext cx="7943983" cy="479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61888"/>
            <a:ext cx="8001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两者共用每核动态 outstanding 窗口；S19 用协议天然 RTT，S20 用 HA tracker 产生的 1 bit ECN 标记。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1060704"/>
            <a:ext cx="2672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20A2E"/>
                </a:solidFill>
                <a:latin typeface="Arial"/>
              </a:rPr>
              <a:t>R E F E R E N C E   ·   W I N D O W   C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1976" y="1408176"/>
            <a:ext cx="2672791" cy="1779563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4855" y="1606892"/>
            <a:ext cx="230703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共同执行器：动态 outstanding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5" y="1948268"/>
            <a:ext cx="2307031" cy="1077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20242C"/>
                </a:solidFill>
                <a:latin typeface="Microsoft YaHei"/>
              </a:rPr>
              <a:t>每个 core 维护窗口 Wc：只有当前在飞事务数 &lt; Wc，才允许发新的 REQ。初值 16、下限 8、硬上限仍是 core_outstanding = 128。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0">
                <a:solidFill>
                  <a:srgbClr val="20242C"/>
                </a:solidFill>
                <a:latin typeface="Microsoft YaHei"/>
              </a:rPr>
              <a:t>事务完成归还名额；Retry 重发不受窗口限制。窗口有名额时允许突发，因此比逐拍 rate pacer 更贴近 CHI 的事务模型。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3334043"/>
            <a:ext cx="2672791" cy="142365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5" y="3534749"/>
            <a:ext cx="230703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S19：RTT 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5" y="3876125"/>
            <a:ext cx="2307031" cy="717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20242C"/>
                </a:solidFill>
                <a:latin typeface="Microsoft YaHei"/>
              </a:rPr>
              <a:t>REQ 上环到 DBIDResp 回到 core 就是一份现成 RTT 样本，Retry 往返也被计入。RTT 低于 target 就加窗，高于 target 就按超额比例缩窗。</a:t>
            </a:r>
            <a:r>
              <a:rPr sz="900" b="1">
                <a:solidFill>
                  <a:srgbClr val="20242C"/>
                </a:solidFill>
                <a:latin typeface="Microsoft YaHei"/>
              </a:rPr>
              <a:t>不加报文、不加标记位。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4903997"/>
            <a:ext cx="2672791" cy="142365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5" y="5104703"/>
            <a:ext cx="230703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S20：ECN 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5" y="5446079"/>
            <a:ext cx="2307031" cy="717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20242C"/>
                </a:solidFill>
                <a:latin typeface="Microsoft YaHei"/>
              </a:rPr>
              <a:t>HA 根据 request tracker 占用率在 DBIDResp 上附 1 bit mark，RetryAck 直接视为 mark。core 对标记比例做 EWMA；有标记按 α/2 缩窗，无标记按 1/W 加窗。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S19 / S20 实测：均匀写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E A S U R E D   ·   U N I F O R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-0.8%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0"/>
                </a:solidFill>
                <a:latin typeface="Microsoft YaHei"/>
              </a:rPr>
              <a:t>S19 相对 S0 的总写带宽（S20 见右卡）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050" b="0">
                <a:solidFill>
                  <a:srgbClr val="667080"/>
                </a:solidFill>
                <a:latin typeface="Microsoft YaHei"/>
              </a:rPr>
              <a:t>两者各 5,840 FF-eq · requester 动态窗口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29-window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920" y="1024128"/>
            <a:ext cx="7900206" cy="25035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619154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三幅依次比较总带宽、100 拍瞬时 CoV、整窗最快 / 最慢核带宽比；每幅内四根柱都是 S0 / S1 / S19 / S20。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40946"/>
            <a:ext cx="3527450" cy="2086701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792276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信号不同，执行器相同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52194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S19 看端到端 RTT，能覆盖 ring 与 completer 等待；S20 只看 HA tracker 压力，信号更直接但需要 DBIDResp 的 1 bit mark。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240946"/>
            <a:ext cx="3527450" cy="2086701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650155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当前工作点结果接近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010073"/>
            <a:ext cx="3125114" cy="94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S19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：带宽 5.4976（-0.8%）、CoV 0.3888、max/min 1.8767。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1">
                <a:solidFill>
                  <a:srgbClr val="20242C"/>
                </a:solidFill>
                <a:latin typeface="Microsoft YaHei"/>
              </a:rPr>
              <a:t>S20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：带宽 5.4430（-1.8%）、CoV 0.3906、max/min 1.9651。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240946"/>
            <a:ext cx="3527450" cy="2086701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442114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参考结论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4802032"/>
            <a:ext cx="3125114" cy="136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两者都基本保住总带宽，但 CoV 与长期速率差几乎没有离开 S0。这说明 requester 窗口能限制注入量，却没有把瓶颈 hop 的服务机会从快核搬给慢核。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1">
                <a:solidFill>
                  <a:srgbClr val="D20A2E"/>
                </a:solidFill>
                <a:latin typeface="Microsoft YaHei"/>
              </a:rPr>
              <a:t>仅保留为 source-side 控制对照，不进入最终架构建议。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48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S22 赤字触发的限域让路（13,920 FF‑eq） · 仲裁型 / 总线触发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24-s22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6" y="1060704"/>
            <a:ext cx="7943983" cy="479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61888"/>
            <a:ext cx="8001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复用 S1 那条 6 bit 广播总线，位宽完全相同，只换了线上放什么：从「我有多堵」换成「我这窗发成了多少」。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1060704"/>
            <a:ext cx="2672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20A2E"/>
                </a:solidFill>
                <a:latin typeface="Arial"/>
              </a:rPr>
              <a:t>R I N G - O N L Y   ·   M E C H A N I S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1976" y="1408176"/>
            <a:ext cx="2672791" cy="2540763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4855" y="1591056"/>
            <a:ext cx="230703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四段机制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5" y="1932432"/>
            <a:ext cx="2307031" cy="19295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① 检测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：每节点只数自己本窗成功上环的 flit 数，饱和到 6 bit。播的是进度，不是拥塞等级。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② 传递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：复用 S1 的 6 bit 广播总线（30 拍）。自己的进度也从总线读回，两边过同一个量化器、同一段延迟。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③ 反馈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：赤字 = 总线上 10 项的均值 − 自己那一项，越过 0.5 就举请求。让路是</a:t>
            </a:r>
            <a:r>
              <a:rPr sz="800" b="1">
                <a:solidFill>
                  <a:srgbClr val="20242C"/>
                </a:solidFill>
                <a:latin typeface="Microsoft YaHei"/>
              </a:rPr>
              <a:t>单向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的：落后的节点永不让路。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00" b="1">
                <a:solidFill>
                  <a:srgbClr val="20242C"/>
                </a:solidFill>
                <a:latin typeface="Microsoft YaHei"/>
              </a:rPr>
              <a:t>④ 执行：让位，不是门控</a:t>
            </a:r>
            <a:r>
              <a:rPr sz="800" b="0">
                <a:solidFill>
                  <a:srgbClr val="20242C"/>
                </a:solidFill>
                <a:latin typeface="Microsoft YaHei"/>
              </a:rPr>
              <a:t>。只对「会从请求者出向 hop 骑过去」的 flit 让路，同时前瞻改发一个会先下环的 flit，让自己的 hop 不空转。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4095243"/>
            <a:ext cx="2672791" cy="1150029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4186683"/>
            <a:ext cx="2050999" cy="9671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S1 用令牌桶：没额度本拍不上环。S22 只在具体某一拍上让出具体某个位置。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5391577"/>
            <a:ext cx="2672791" cy="93607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5483017"/>
            <a:ext cx="2050999" cy="7531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FFFFFF"/>
                </a:solidFill>
                <a:latin typeface="Microsoft YaHei"/>
              </a:rPr>
              <a:t>同等不均衡度下让位比门控省 10 倍带宽：S23 门控付 1.50%，S22 让位只付 0.15%（K = 2000 同轮对比）。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49 /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S22 实测：均匀流量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E A S U R E D   ·   U N I F O R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0.3318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S22 写侧 100 拍 CoV（S0 = 0.3911）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总写带宽 -0.3%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25-s22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233" y="1024128"/>
            <a:ext cx="7415580" cy="23500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465575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四根柱依次 S0 / S1 / S16 / S22，橙虚线 = 理论上限 R*；写侧 K = 20000。后两幅是公平性的两个不同问题，见右侧第三张卡。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87368"/>
            <a:ext cx="3527450" cy="224028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573366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与 S1 同口径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33284"/>
            <a:ext cx="3125114" cy="94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S22：CoV 0.3318，带宽 -0.3%，max/min 1.2056，13,920 FF‑eq。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S1：CoV 0.2169，带宽 -15.3%，max/min 1.3348，21,220 FF‑eq。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087368"/>
            <a:ext cx="3527450" cy="224028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715487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数字上被 S16 支配，但层次不同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075405"/>
            <a:ext cx="3125114" cy="6606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S16 用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1/15 的硬件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拿到 CoV 0.1897、带宽 +1.7%。S22 唯一的、也是决定性的优势：</a:t>
            </a:r>
            <a:r>
              <a:rPr sz="1100" b="1">
                <a:solidFill>
                  <a:srgbClr val="D20A2E"/>
                </a:solidFill>
                <a:latin typeface="Microsoft YaHei"/>
              </a:rPr>
              <a:t>它只改环上仲裁，一点事务层都不碰。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087368"/>
            <a:ext cx="3527450" cy="224028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294402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两个公平性指标分别在问什么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4654320"/>
            <a:ext cx="3125114" cy="15028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瞬时不均衡度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（每 100 拍算一次十核带宽的 CoV 再聚合）问的是：在任意一小段时间里，十个核是不是同时都在被服务。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长期速率差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（整窗最快核带宽 ÷ 最慢核带宽）问的是：把整个争用窗平均下来，有没有哪个核被系统性地拖慢。S0 = 1.8485 意味着最快的核长期比最慢的核快 85%。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S22 微架构：信号侧 8 个部件 + 仲裁侧插入的两级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4-s22-u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上 = 信号侧：本窗上环数 → 6 bit 总线 → 10 项表 → 加法树 → 赤字 → 请求 FSM；下 = 仲裁侧：在已有的 I‑tag 判定之后插入跨越判定与前瞻。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I C R O A R C H I T E C T U R E   ·   S 2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1542287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592275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新增状态（每节点一份）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33651"/>
            <a:ext cx="2855671" cy="8692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20242C"/>
                </a:solidFill>
                <a:latin typeface="Microsoft YaHei"/>
              </a:rPr>
              <a:t>ok_win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 6 bit 饱和计数；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cum_bus 表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 10 × 8 bit；</a:t>
            </a:r>
            <a:r>
              <a:rPr sz="1000" b="1">
                <a:solidFill>
                  <a:srgbClr val="20242C"/>
                </a:solidFill>
                <a:latin typeface="Microsoft YaHei"/>
              </a:rPr>
              <a:t>deficit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 ×10，钳位 ±64；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00" b="1">
                <a:solidFill>
                  <a:srgbClr val="20242C"/>
                </a:solidFill>
                <a:latin typeface="Microsoft YaHei"/>
              </a:rPr>
              <a:t>请求 FSM</a:t>
            </a:r>
            <a:r>
              <a:rPr sz="1000" b="0">
                <a:solidFill>
                  <a:srgbClr val="20242C"/>
                </a:solidFill>
                <a:latin typeface="Microsoft YaHei"/>
              </a:rPr>
              <a:t> ×10：≥ 0.5 举、≤ 0 撤、hold 16 拍到期强制撤。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096767"/>
            <a:ext cx="3221431" cy="1909499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346267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仲裁侧插在哪一级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3687643"/>
            <a:ext cx="2855671" cy="1105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候选 DAT flit 先过已有 I‑tag 判定，再问：有没有请求者 h，deficit[h] ≥ 我的 + 3.0 且 h 在这个 flit 的剩余路径上？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有 → 往后 8 深找一个目的地不同、不跨任何请求者的 flit 顶替；找不到才让出本拍。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152571"/>
            <a:ext cx="3221431" cy="117507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244011"/>
            <a:ext cx="2599639" cy="9921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13,920 FF‑eq 里 12,000 是运算，几乎全是那棵 10 输入加法树（360 × 20）。请求集合可由每节点持有的同一张表本地重算，不需再加信号。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S22 时间线：一个 64 拍控制窗里发生了什么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5-s22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上 = 事件（时间轴分段缩放，93–109 拍放大）；下 = 落后核 C4 与领先核 C2 的赤字轨迹（示例数值）。红色阴影 = C4 请求有效期。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W A L K T H R O U G H   ·   S 2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1663769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771495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从测到动要 30 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2112871"/>
            <a:ext cx="2855671" cy="632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窗末 t = 63 播出 6 bit 计数，t = 93 才送达。这 30 拍里没有人让位 —— 赤字信号永远是 30 拍前的均值，这是它比 S16 慢的结构原因。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218249"/>
            <a:ext cx="3221431" cy="1822223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523403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请求怎么撤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3864779"/>
            <a:ext cx="285567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上环即扣 1，赤字 ≤ 0 就撤，不等下一窗；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hold 16 拍到期无论如何撤 —— 请求拦不住 transit，被 transit 卡住的核不能让上游白白空等。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186777"/>
            <a:ext cx="3221431" cy="114087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278217"/>
            <a:ext cx="2599639" cy="957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margin 3.0：只向比自己至少多落后 3 flit 的请求者让位，「差不多齐」的不让，避免白扔 hop。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S29 日历触发的限域让路（4,440 FF‑eq） · 调度型 / 无拥塞信号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0-s29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上 = 触发：一张 20 拍的固定日历，加每核 1 bit 需求位；下 = 执行：与 S22 完全同一套环仲裁让位。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D20A2E"/>
                </a:solidFill>
                <a:latin typeface="Arial"/>
              </a:rPr>
              <a:t>A R B I T R A T I O N   B R A N C H   ·   C H E A P E S T   P O I N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2069156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595109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四段机制（与 S1 同格式）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36485"/>
            <a:ext cx="2855671" cy="1390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>
                <a:solidFill>
                  <a:srgbClr val="20242C"/>
                </a:solidFill>
                <a:latin typeface="Microsoft YaHei"/>
              </a:rPr>
              <a:t>① 检测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：没有检测。触发是一个 5 bit 帧计数器，常量、无收敛过程、无控制环路。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② 传递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：10 bit 需求字（每核 1 bit「我有 WriteData 排队」），每 16 拍刷新 —— 仅用于回收空闲核的时隙。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③ 反馈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：轮到某核时，会骑过它出向 hop 的上游核让出一个 slot。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④ 控制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：让位，不是门控；队列深度维持出厂 8 / 12。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623636"/>
            <a:ext cx="3221431" cy="166682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822719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它是 S22 的廉价版，不是新执行器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4164095"/>
            <a:ext cx="2855671" cy="9638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20242C"/>
                </a:solidFill>
                <a:latin typeface="Microsoft YaHei"/>
              </a:rPr>
              <a:t>执行器与 S22 逐字相同，省下来的是</a:t>
            </a:r>
            <a:r>
              <a:rPr sz="900" b="1">
                <a:solidFill>
                  <a:srgbClr val="20242C"/>
                </a:solidFill>
                <a:latin typeface="Microsoft YaHei"/>
              </a:rPr>
              <a:t>触发侧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：不播进度、不算均值、不比赤字，10 项表与 10 输入加法树整块消失 —— </a:t>
            </a:r>
            <a:r>
              <a:rPr sz="900" b="1">
                <a:solidFill>
                  <a:srgbClr val="20242C"/>
                </a:solidFill>
                <a:latin typeface="Microsoft YaHei"/>
              </a:rPr>
              <a:t>13,920 → 4,440 FF‑eq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0">
                <a:solidFill>
                  <a:srgbClr val="20242C"/>
                </a:solidFill>
                <a:latin typeface="Microsoft YaHei"/>
              </a:rPr>
              <a:t>代价是它不知道谁落后：日历按核轮转，而不是按「谁被拖慢了」轮转。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436761"/>
            <a:ext cx="3221431" cy="89088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528201"/>
            <a:ext cx="2599639" cy="7080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定位：不在 Pareto 前沿（S16 全面更优），但是「只动环仲裁、不碰事务层」这一支上最便宜的点。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S29 实测：均匀流量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E A S U R E D   ·   U N I F O R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3400" b="1">
                <a:solidFill>
                  <a:srgbClr val="D20A2E"/>
                </a:solidFill>
                <a:latin typeface="Arial"/>
              </a:rPr>
              <a:t>0.2352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2487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S29 写侧 100 拍 CoV（S0 = 0.3911）</a:t>
            </a:r>
          </a:p>
          <a:p>
            <a:pPr algn="l">
              <a:lnSpc>
                <a:spcPct val="106000"/>
              </a:lnSpc>
              <a:spcBef>
                <a:spcPts val="500"/>
              </a:spcBef>
            </a:pPr>
            <a:r>
              <a:rPr sz="1100" b="0">
                <a:solidFill>
                  <a:srgbClr val="667080"/>
                </a:solidFill>
                <a:latin typeface="Microsoft YaHei"/>
              </a:rPr>
              <a:t>总写带宽 -3.0%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822960" cy="411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31-s29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734" y="1024128"/>
            <a:ext cx="8192577" cy="27116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827195"/>
            <a:ext cx="8241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五根柱依次 S0 / S1 / S22 / S16 / S29；橙点线 = S1 的水平，橙虚线 = 理论上限 R*。写侧 K = 20000，与前面各页同口径。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448987"/>
            <a:ext cx="3527450" cy="1878660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754176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20A2E"/>
                </a:solidFill>
                <a:latin typeface="Microsoft YaHei"/>
              </a:rPr>
              <a:t>与 S1 同口径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14094"/>
            <a:ext cx="3125114" cy="94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S29：带宽 5.3795，CoV 0.2352，max/min 1.2994，4,440 FF‑eq。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S1：带宽 4.6982，CoV 0.2169，max/min 1.3348，21,220 FF‑eq。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2122" y="4448987"/>
            <a:ext cx="3527450" cy="187866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3290" y="4754176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对 S22：便宜 3.1 倍，略差一点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114094"/>
            <a:ext cx="3125114" cy="94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CoV 0.2352 对 S22 的 0.3318，带宽 -3.0% 对 -0.3%、max/min 1.2994 对 1.2056。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差距的来源就是它省掉的那部分：日历不知道谁落后，让位的方向不总是从领先者流向落后者。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316" y="4448987"/>
            <a:ext cx="3527450" cy="1878660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8484" y="4650155"/>
            <a:ext cx="3125114" cy="27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Microsoft YaHei"/>
              </a:rPr>
              <a:t>非均匀流量下也站得住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5010073"/>
            <a:ext cx="3125114" cy="11529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hot 上 S29 = R* 的 </a:t>
            </a:r>
            <a:r>
              <a:rPr sz="1100" b="1">
                <a:solidFill>
                  <a:srgbClr val="20242C"/>
                </a:solidFill>
                <a:latin typeface="Microsoft YaHei"/>
              </a:rPr>
              <a:t>98.66%</a:t>
            </a:r>
            <a:r>
              <a:rPr sz="1100" b="0">
                <a:solidFill>
                  <a:srgbClr val="20242C"/>
                </a:solidFill>
                <a:latin typeface="Microsoft YaHei"/>
              </a:rPr>
              <a:t>，与 S22-stock 的 98.75% 相差 0.09 个百分点，而硬件只有它的 1/3。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00" b="0">
                <a:solidFill>
                  <a:srgbClr val="20242C"/>
                </a:solidFill>
                <a:latin typeface="Microsoft YaHei"/>
              </a:rPr>
              <a:t>它不含任何 pattern 先验：日历是常量，需求位是本地事实。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S29 微架构：删掉 S22 的表与加法树，触发换成日历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6-s29-u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上 = 触发侧：5 bit 帧计数器查常量表得到持有者，需求位决定该时隙是否有效；下 = 仲裁侧：与 S22 同一块逻辑，「请求者集合」换成「单一持有者」。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M I C R O A R C H I T E C T U R E   ·   S 2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1663769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634103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新增状态（每节点一份）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75479"/>
            <a:ext cx="285567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帧计数器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 5 bit（t mod 20）；</a:t>
            </a:r>
            <a:r>
              <a:rPr sz="1050" b="1">
                <a:solidFill>
                  <a:srgbClr val="20242C"/>
                </a:solidFill>
                <a:latin typeface="Microsoft YaHei"/>
              </a:rPr>
              <a:t>持有者表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 10 项常量；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1">
                <a:solidFill>
                  <a:srgbClr val="20242C"/>
                </a:solidFill>
                <a:latin typeface="Microsoft YaHei"/>
              </a:rPr>
              <a:t>demand 寄存器</a:t>
            </a:r>
            <a:r>
              <a:rPr sz="1050" b="0">
                <a:solidFill>
                  <a:srgbClr val="20242C"/>
                </a:solidFill>
                <a:latin typeface="Microsoft YaHei"/>
              </a:rPr>
              <a:t> 10 bit，30 拍后整字替换；需求位每 16 拍由「本地 DAT 队列非空」产生。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218249"/>
            <a:ext cx="3221431" cy="1822223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523403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仲裁侧逐字复用 S22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3864779"/>
            <a:ext cx="285567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跨越判定的第一个操作数从「赤字更大的请求者」换成「本拍持有者」；不再比赤字，只查一个 bit。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前瞻加深到 32；HA 节点不让位。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186777"/>
            <a:ext cx="3221431" cy="114087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278217"/>
            <a:ext cx="2599639" cy="957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4,440 FF‑eq = 总线 200 + 计数 240 + 运算 4,000。相对 S22 删掉表 1,600 与加法树 / 赤字运算 8,000。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S29 时间线：日历、需求位与一次让位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pic>
        <p:nvPicPr>
          <p:cNvPr id="8" name="Picture 7" descr="37-s29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8966"/>
            <a:ext cx="7452360" cy="4494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3625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080"/>
                </a:solidFill>
                <a:latin typeface="Microsoft YaHei"/>
              </a:rPr>
              <a:t>上 = 两帧日历（每核 2 拍）与需求字的采样 / 生效时刻；下 = 时隙 C6 的两拍里，上游 C2 的两个候选 flit 各自的命运。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1060704"/>
            <a:ext cx="3221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W A L K T H R O U G H   ·   S 2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408176"/>
            <a:ext cx="3221431" cy="1692755"/>
          </a:xfrm>
          <a:prstGeom prst="rect">
            <a:avLst/>
          </a:prstGeom>
          <a:solidFill>
            <a:srgbClr val="EDF2F7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5" y="1648595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42C"/>
                </a:solidFill>
                <a:latin typeface="Microsoft YaHei"/>
              </a:rPr>
              <a:t>日历保证什么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6215" y="1989971"/>
            <a:ext cx="285567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每核每 20 拍拿到 2 拍路权，100 拍公平窗里 5 次；硬保证，不靠收敛。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无需求的核其时隙自动作废，那 2 拍谁都可以上。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3247235"/>
            <a:ext cx="3221431" cy="1773362"/>
          </a:xfrm>
          <a:prstGeom prst="rect">
            <a:avLst/>
          </a:prstGeom>
          <a:solidFill>
            <a:srgbClr val="EDF2F7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3527958"/>
            <a:ext cx="2855671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需求字是 30–46 拍前的快照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3869334"/>
            <a:ext cx="2855671" cy="907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t = 15 采样、t = 45 生效。刚排空的核最多再「占」46 拍时隙；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050" b="0">
                <a:solidFill>
                  <a:srgbClr val="20242C"/>
                </a:solidFill>
                <a:latin typeface="Microsoft YaHei"/>
              </a:rPr>
              <a:t>损失只在上游确有 flit 骑过、且前瞻找不到替代时才发生。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5166901"/>
            <a:ext cx="3221431" cy="116074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258341"/>
            <a:ext cx="2599639" cy="9778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它不知道谁落后：让位方向按核号轮转，不按赤字。这就是 S29 对 S22 带宽 -3.0% vs -0.3% 的来源。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883664"/>
            <a:ext cx="896112" cy="896112"/>
          </a:xfrm>
          <a:prstGeom prst="ellipse">
            <a:avLst/>
          </a:prstGeom>
          <a:noFill/>
          <a:ln w="1778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896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D20A2E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8094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20A2E"/>
                </a:solidFill>
                <a:latin typeface="Arial"/>
              </a:rPr>
              <a:t>S E C T I O N   E I G H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493776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20242C"/>
                </a:solidFill>
                <a:latin typeface="Microsoft YaHei"/>
              </a:rPr>
              <a:t>结论与建议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667080"/>
                </a:solidFill>
                <a:latin typeface="Microsoft YaHei"/>
              </a:rPr>
              <a:t>从现象、根因、理论上界到可实现机制，形成完整证据闭环。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011680"/>
            <a:ext cx="5635447" cy="283464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9572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B O T T O M   L I N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9039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问题已经收敛为一个架构决策：能改 HA 授权调度就验证 S16；事务层不能改，则验证只动环上仲裁的 S22。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C O N C L U S I O N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三项确定结论 + 一个架构决策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31136"/>
            <a:ext cx="2599867" cy="2999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99811"/>
            <a:ext cx="2197531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① 容量问题已闭环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96813"/>
            <a:ext cx="2197531" cy="1701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>
                <a:solidFill>
                  <a:srgbClr val="20242C"/>
                </a:solidFill>
                <a:latin typeface="Microsoft YaHei"/>
              </a:rPr>
              <a:t>S0 最忙 hop 利用率 98.78%；相对 R* 的 2.98% 缺口已按拍拆成有效载荷、绕环重发和空转，账目无残项。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结论：当前问题不是带宽没打满，而是满载时服务机会分配不均。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251" y="2231136"/>
            <a:ext cx="2599867" cy="2999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7419" y="2813288"/>
            <a:ext cx="2197531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② 公平性是结构问题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7419" y="3210290"/>
            <a:ext cx="2197531" cy="147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>
                <a:solidFill>
                  <a:srgbClr val="20242C"/>
                </a:solidFill>
                <a:latin typeface="Microsoft YaHei"/>
              </a:rPr>
              <a:t>六快四慢随时间稳定存在；即使完全抹平瞬时抖动，CoV 仍有 0.2663 的地板，核间长期速率比为 1.8485。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200" b="1">
                <a:solidFill>
                  <a:srgbClr val="D20A2E"/>
                </a:solidFill>
                <a:latin typeface="Microsoft YaHei"/>
              </a:rPr>
              <a:t>结论：只整形发包时机不够，必须在瓶颈处重新分配服务机会。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5575" y="2231136"/>
            <a:ext cx="2599867" cy="2999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2515411"/>
            <a:ext cx="2197531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③ 上界与评价口径已建立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2912413"/>
            <a:ext cx="2197531" cy="207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0242C"/>
                </a:solidFill>
                <a:latin typeface="Microsoft YaHei"/>
              </a:rPr>
              <a:t>由逐链路占用约束求得 R(CoV) 理论边界与等速率上限 R* = 5.7143；边界在 CoV 坐标下是直线，给出单一标量 φ = (R − 2.177·CoV)/R*（S16 0.915、S0 0.821）；再用 100 拍 CoV、完成时间比、硬件 FF‑eq 和流量迁移统一评估。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1150" b="1">
                <a:solidFill>
                  <a:srgbClr val="D20A2E"/>
                </a:solidFill>
                <a:latin typeface="Microsoft YaHei"/>
              </a:rPr>
              <a:t>结论：方案优劣来自同一上界下的可量化差距，不依赖经验判断。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4899" y="2231136"/>
            <a:ext cx="2599867" cy="2999231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067" y="2453396"/>
            <a:ext cx="2197531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20A2E"/>
                </a:solidFill>
                <a:latin typeface="Microsoft YaHei"/>
              </a:rPr>
              <a:t>④ 控制点决定方案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067" y="2850398"/>
            <a:ext cx="2197531" cy="21942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20242C"/>
                </a:solidFill>
                <a:latin typeface="Microsoft YaHei"/>
              </a:rPr>
              <a:t>S16 在 HA 授权点直接重排服务：900 FF‑eq，CoV 0.1897，max/min 1.0001，总带宽 +1.7%，φ 0.915。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0">
                <a:solidFill>
                  <a:srgbClr val="20242C"/>
                </a:solidFill>
                <a:latin typeface="Microsoft YaHei"/>
              </a:rPr>
              <a:t>第 21 页空白格已核对无既有保留方案；绿框四类已实测：S26 / S27 结构性失效，S28 不动均衡，S28S 用带宽 -39.6% 换均衡，但是 hop 静态等分、不适用于动态非均匀流量；S29 为 5.380 / 0.2352 / 1.2994。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0">
                <a:solidFill>
                  <a:srgbClr val="20242C"/>
                </a:solidFill>
                <a:latin typeface="Microsoft YaHei"/>
              </a:rPr>
              <a:t>若事务层不可改，只动环仲裁：S22（13,920 FF‑eq，φ 0.841）效果最好，S29（4,440，φ 0.852）便宜 3.1 倍；S19 / S20 仅作对照。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D20A2E"/>
                </a:solidFill>
                <a:latin typeface="Microsoft YaHei"/>
              </a:rPr>
              <a:t>架构决策只剩：HA 授权调度能不能改。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468112"/>
            <a:ext cx="11057839" cy="859536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559552"/>
            <a:ext cx="10436047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本研究完成了「现象复现 → 逐拍归因 → 理论上界 → 机制设计 → 硬件代价 → 流量迁移」闭环，并把开放问题压缩为一项可决策的架构边界。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58 /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37160" cy="13716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65176"/>
            <a:ext cx="922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67080"/>
                </a:solidFill>
                <a:latin typeface="Microsoft YaHei"/>
              </a:rPr>
              <a:t>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0080"/>
            <a:ext cx="11057839" cy="1005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0242C"/>
                </a:solidFill>
                <a:latin typeface="Arial"/>
              </a:rPr>
              <a:t>HUAWEI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607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20A2E"/>
                </a:solidFill>
                <a:latin typeface="Arial"/>
              </a:rPr>
              <a:t>R E C O M M E N D A T I O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242C"/>
                </a:solidFill>
                <a:latin typeface="Microsoft YaHei"/>
              </a:rPr>
              <a:t>一主两备，明确研究边界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2599867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20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44368"/>
            <a:ext cx="2160955" cy="592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20A2E"/>
                </a:solidFill>
                <a:latin typeface="Microsoft YaHei"/>
              </a:rPr>
              <a:t>主方案 · S16 写侧授权保留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619500"/>
            <a:ext cx="2160955" cy="16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>
                <a:solidFill>
                  <a:srgbClr val="20242C"/>
                </a:solidFill>
                <a:latin typeface="Microsoft YaHei"/>
              </a:rPr>
              <a:t>目标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：在 HA / memory controller 内验证 DBIDResp 授权排队与最少服务优先。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价值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：当前所有可实现点里，S16 离理论上界最近（φ 0.915）、硬件代价最低（900 FF‑eq），uniform 写下带宽 +1.7%。hot 上 outstanding = 128 会过量注入，先保容量的是窗口类，不是授权重排。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门槛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：确认 HA 授权时序、CHI 合规性和现有 tracker 接口可支持。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6251" y="219456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5707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5707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07" y="2958975"/>
            <a:ext cx="2160955" cy="592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备选甲 · S22 环上赤字让路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5707" y="3634107"/>
            <a:ext cx="2160955" cy="1380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20242C"/>
                </a:solidFill>
                <a:latin typeface="Microsoft YaHei"/>
              </a:rPr>
              <a:t>适用条件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：HA 事务调度不可改，但允许调整 ring arbitration。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1">
                <a:solidFill>
                  <a:srgbClr val="20242C"/>
                </a:solidFill>
                <a:latin typeface="Microsoft YaHei"/>
              </a:rPr>
              <a:t>验证重点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：6 bit 进度总线复用、30 拍反馈稳定性、让路范围和现有注入队列深度下的收益。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00" b="1">
                <a:solidFill>
                  <a:srgbClr val="20242C"/>
                </a:solidFill>
                <a:latin typeface="Microsoft YaHei"/>
              </a:rPr>
              <a:t>定位</a:t>
            </a:r>
            <a:r>
              <a:rPr sz="900" b="0">
                <a:solidFill>
                  <a:srgbClr val="20242C"/>
                </a:solidFill>
                <a:latin typeface="Microsoft YaHei"/>
              </a:rPr>
              <a:t>：环仲裁分支里效果最好的一档（13,920 FF‑eq）。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5575" y="219456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5031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031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2975107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备选乙 · S29 日历让路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3372109"/>
            <a:ext cx="2160955" cy="1626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20242C"/>
                </a:solidFill>
                <a:latin typeface="Microsoft YaHei"/>
              </a:rPr>
              <a:t>适用条件</a:t>
            </a:r>
            <a:r>
              <a:rPr sz="950" b="0">
                <a:solidFill>
                  <a:srgbClr val="20242C"/>
                </a:solidFill>
                <a:latin typeface="Microsoft YaHei"/>
              </a:rPr>
              <a:t>：同上，且希望进一步压硬件 —— 执行器与 S22 相同，触发换成 20 拍固定日历 + 每核 1 bit 需求位。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50" b="1">
                <a:solidFill>
                  <a:srgbClr val="20242C"/>
                </a:solidFill>
                <a:latin typeface="Microsoft YaHei"/>
              </a:rPr>
              <a:t>代价</a:t>
            </a:r>
            <a:r>
              <a:rPr sz="950" b="0">
                <a:solidFill>
                  <a:srgbClr val="20242C"/>
                </a:solidFill>
                <a:latin typeface="Microsoft YaHei"/>
              </a:rPr>
              <a:t>：4,440 FF‑eq（S22 的 1/3）；带宽 -3.0% 对 S22 的 -0.3%，CoV 0.2352。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950" b="1">
                <a:solidFill>
                  <a:srgbClr val="20242C"/>
                </a:solidFill>
                <a:latin typeface="Microsoft YaHei"/>
              </a:rPr>
              <a:t>定位</a:t>
            </a:r>
            <a:r>
              <a:rPr sz="950" b="0">
                <a:solidFill>
                  <a:srgbClr val="20242C"/>
                </a:solidFill>
                <a:latin typeface="Microsoft YaHei"/>
              </a:rPr>
              <a:t>：环仲裁分支里硬件最便宜的一档。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4899" y="219456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44355" y="2414016"/>
            <a:ext cx="384048" cy="384048"/>
          </a:xfrm>
          <a:prstGeom prst="ellipse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249631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2970378"/>
            <a:ext cx="2160955" cy="3147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42C"/>
                </a:solidFill>
                <a:latin typeface="Microsoft YaHei"/>
              </a:rPr>
              <a:t>边界 · 明确不进入建议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355" y="3367380"/>
            <a:ext cx="2160955" cy="16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>
                <a:solidFill>
                  <a:srgbClr val="20242C"/>
                </a:solidFill>
                <a:latin typeface="Microsoft YaHei"/>
              </a:rPr>
              <a:t>S19 / S20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：仅作 requester-side 对照；实测公平性几乎不变。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S26 / S27 / S28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：路由、背压、显式速率三类实测均劣于 S0，不再推进。</a:t>
            </a:r>
            <a:r>
              <a:rPr sz="850" b="1">
                <a:solidFill>
                  <a:srgbClr val="20242C"/>
                </a:solidFill>
                <a:latin typeface="Microsoft YaHei"/>
              </a:rPr>
              <a:t>S28S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 是 hop 静态等分，不适用于动态非均匀流量。</a:t>
            </a:r>
          </a:p>
          <a:p>
            <a:pPr algn="l">
              <a:lnSpc>
                <a:spcPct val="102000"/>
              </a:lnSpc>
              <a:spcBef>
                <a:spcPts val="600"/>
              </a:spcBef>
            </a:pPr>
            <a:r>
              <a:rPr sz="850" b="1">
                <a:solidFill>
                  <a:srgbClr val="20242C"/>
                </a:solidFill>
                <a:latin typeface="Microsoft YaHei"/>
              </a:rPr>
              <a:t>读侧</a:t>
            </a:r>
            <a:r>
              <a:rPr sz="850" b="0">
                <a:solidFill>
                  <a:srgbClr val="20242C"/>
                </a:solidFill>
                <a:latin typeface="Microsoft YaHei"/>
              </a:rPr>
              <a:t>：128 B CompData 下 S0 已达 CoV 0.1298、max/min 1.0101，维持现状；64 B 读会重现六快四慢（max/min 2.2821），若 workload 含它则并入 S16-R。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486400"/>
            <a:ext cx="11057839" cy="841248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577840"/>
            <a:ext cx="1043604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请架构组只决策一件事：是否允许 HA 改变授权的时机与对象。允许则进入 S16 微架构验证；不允许则转入环仲裁原型，在 S22 与 S29 之间按面积预算取舍。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B0BA"/>
                </a:solidFill>
                <a:latin typeface="Arial"/>
              </a:rPr>
              <a:t>59 /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274320"/>
            <a:ext cx="182880" cy="182880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99471" y="24688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HUAWEI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37360"/>
            <a:ext cx="868680" cy="868680"/>
          </a:xfrm>
          <a:prstGeom prst="ellipse">
            <a:avLst/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" y="2048256"/>
            <a:ext cx="256032" cy="256032"/>
          </a:xfrm>
          <a:prstGeom prst="rect">
            <a:avLst/>
          </a:prstGeom>
          <a:solidFill>
            <a:srgbClr val="D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92608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20A2E"/>
                </a:solidFill>
                <a:latin typeface="Arial"/>
              </a:rPr>
              <a:t>T H A N K   Y O 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73552"/>
            <a:ext cx="8229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汇报完毕</a:t>
            </a:r>
          </a:p>
          <a:p>
            <a:pPr algn="l">
              <a:lnSpc>
                <a:spcPct val="96000"/>
              </a:lnSpc>
              <a:spcBef>
                <a:spcPts val="500"/>
              </a:spcBef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请架构组决策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2064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3AF"/>
                </a:solidFill>
                <a:latin typeface="Microsoft YaHei"/>
              </a:rPr>
              <a:t>第一问仍是：HA / 内存控制器的授权调度能不能改？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400" b="0">
                <a:solidFill>
                  <a:srgbClr val="9AA3AF"/>
                </a:solidFill>
                <a:latin typeface="Microsoft YaHei"/>
              </a:rPr>
              <a:t>允许修改：进入 S16 微架构验证；不允许修改：进入环仲裁原型（S22 效果最好，S29 便宜 3.1 倍）。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B66"/>
                </a:solidFill>
                <a:latin typeface="Arial"/>
              </a:rPr>
              <a:t>60 /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